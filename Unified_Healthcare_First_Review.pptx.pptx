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Arimo Bold" charset="1" panose="020B0704020202020204"/>
      <p:regular r:id="rId33"/>
    </p:embeddedFont>
    <p:embeddedFont>
      <p:font typeface="Cambria Bold" charset="1" panose="02040803050406030204"/>
      <p:regular r:id="rId34"/>
    </p:embeddedFont>
    <p:embeddedFont>
      <p:font typeface="Arimo" charset="1" panose="020B0604020202020204"/>
      <p:regular r:id="rId35"/>
    </p:embeddedFont>
    <p:embeddedFont>
      <p:font typeface="Arimo Italics" charset="1" panose="020B0604020202090204"/>
      <p:regular r:id="rId40"/>
    </p:embeddedFont>
    <p:embeddedFont>
      <p:font typeface="Courier New" charset="1" panose="02070309020205020404"/>
      <p:regular r:id="rId48"/>
    </p:embeddedFont>
    <p:embeddedFont>
      <p:font typeface="Cambria" charset="1" panose="02040503050406030204"/>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6.xml" Type="http://schemas.openxmlformats.org/officeDocument/2006/relationships/notesSlide"/><Relationship Id="rId42" Target="notesSlides/notesSlide7.xml" Type="http://schemas.openxmlformats.org/officeDocument/2006/relationships/notesSlide"/><Relationship Id="rId43" Target="notesSlides/notesSlide8.xml" Type="http://schemas.openxmlformats.org/officeDocument/2006/relationships/notesSlide"/><Relationship Id="rId44" Target="notesSlides/notesSlide9.xml" Type="http://schemas.openxmlformats.org/officeDocument/2006/relationships/notesSlide"/><Relationship Id="rId45" Target="notesSlides/notesSlide10.xml" Type="http://schemas.openxmlformats.org/officeDocument/2006/relationships/notesSlide"/><Relationship Id="rId46" Target="notesSlides/notesSlide11.xml" Type="http://schemas.openxmlformats.org/officeDocument/2006/relationships/notesSlide"/><Relationship Id="rId47" Target="notesSlides/notesSlide12.xml" Type="http://schemas.openxmlformats.org/officeDocument/2006/relationships/notesSlide"/><Relationship Id="rId48" Target="fonts/font48.fntdata" Type="http://schemas.openxmlformats.org/officeDocument/2006/relationships/font"/><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fonts/font51.fntdata" Type="http://schemas.openxmlformats.org/officeDocument/2006/relationships/font"/><Relationship Id="rId52" Target="notesSlides/notesSlide15.xml" Type="http://schemas.openxmlformats.org/officeDocument/2006/relationships/notesSlide"/><Relationship Id="rId53" Target="notesSlides/notesSlide16.xml" Type="http://schemas.openxmlformats.org/officeDocument/2006/relationships/notesSlide"/><Relationship Id="rId54" Target="notesSlides/notesSlide17.xml" Type="http://schemas.openxmlformats.org/officeDocument/2006/relationships/notesSlide"/><Relationship Id="rId55" Target="notesSlides/notesSlide18.xml" Type="http://schemas.openxmlformats.org/officeDocument/2006/relationships/notesSlide"/><Relationship Id="rId56" Target="notesSlides/notesSlide19.xml" Type="http://schemas.openxmlformats.org/officeDocument/2006/relationships/notesSlide"/><Relationship Id="rId57" Target="notesSlides/notesSlide20.xml" Type="http://schemas.openxmlformats.org/officeDocument/2006/relationships/notesSlide"/><Relationship Id="rId58" Target="notesSlides/notesSlide21.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png" Type="http://schemas.openxmlformats.org/officeDocument/2006/relationships/image"/><Relationship Id="rId4"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5.png" Type="http://schemas.openxmlformats.org/officeDocument/2006/relationships/image"/><Relationship Id="rId4"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7.png" Type="http://schemas.openxmlformats.org/officeDocument/2006/relationships/image"/><Relationship Id="rId4"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8.png" Type="http://schemas.openxmlformats.org/officeDocument/2006/relationships/image"/><Relationship Id="rId4"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 Id="rId4" Target="https://drive.google.com/file/d/1v5wCf9h858aARdiyNHQZ5LxbKdeelLou/view?usp=sharing"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VAHTxkcfpMM.mp4" Type="http://schemas.openxmlformats.org/officeDocument/2006/relationships/video"/><Relationship Id="rId4" Target="../media/VAHTxkcfpMM.mp4" Type="http://schemas.microsoft.com/office/2007/relationships/media"/></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566160" y="-219456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61C4D"/>
            </a:solidFill>
          </p:spPr>
        </p:sp>
      </p:grpSp>
      <p:grpSp>
        <p:nvGrpSpPr>
          <p:cNvPr name="Group 4" id="4"/>
          <p:cNvGrpSpPr/>
          <p:nvPr/>
        </p:nvGrpSpPr>
        <p:grpSpPr>
          <a:xfrm rot="0">
            <a:off x="-1920240" y="6583680"/>
            <a:ext cx="5212080" cy="5212080"/>
            <a:chOff x="0" y="0"/>
            <a:chExt cx="6949440" cy="6949440"/>
          </a:xfrm>
        </p:grpSpPr>
        <p:sp>
          <p:nvSpPr>
            <p:cNvPr name="Freeform 5" id="5"/>
            <p:cNvSpPr/>
            <p:nvPr/>
          </p:nvSpPr>
          <p:spPr>
            <a:xfrm flipH="false" flipV="false" rot="0">
              <a:off x="0" y="0"/>
              <a:ext cx="6949440" cy="6949440"/>
            </a:xfrm>
            <a:custGeom>
              <a:avLst/>
              <a:gdLst/>
              <a:ahLst/>
              <a:cxnLst/>
              <a:rect r="r" b="b" t="t" l="l"/>
              <a:pathLst>
                <a:path h="6949440" w="6949440">
                  <a:moveTo>
                    <a:pt x="0" y="3474720"/>
                  </a:moveTo>
                  <a:cubicBezTo>
                    <a:pt x="0" y="1555623"/>
                    <a:pt x="1555623" y="0"/>
                    <a:pt x="3474720" y="0"/>
                  </a:cubicBezTo>
                  <a:cubicBezTo>
                    <a:pt x="5393817" y="0"/>
                    <a:pt x="6949440" y="1555623"/>
                    <a:pt x="6949440" y="3474720"/>
                  </a:cubicBezTo>
                  <a:cubicBezTo>
                    <a:pt x="6949440" y="5393817"/>
                    <a:pt x="5393817" y="6949440"/>
                    <a:pt x="3474720" y="6949440"/>
                  </a:cubicBezTo>
                  <a:cubicBezTo>
                    <a:pt x="1555623" y="6949440"/>
                    <a:pt x="0" y="5393817"/>
                    <a:pt x="0" y="3474720"/>
                  </a:cubicBezTo>
                  <a:close/>
                </a:path>
              </a:pathLst>
            </a:custGeom>
            <a:solidFill>
              <a:srgbClr val="161C4D"/>
            </a:solidFill>
          </p:spPr>
        </p:sp>
      </p:grpSp>
      <p:grpSp>
        <p:nvGrpSpPr>
          <p:cNvPr name="Group 6" id="6"/>
          <p:cNvGrpSpPr/>
          <p:nvPr/>
        </p:nvGrpSpPr>
        <p:grpSpPr>
          <a:xfrm rot="0">
            <a:off x="1272209" y="1430937"/>
            <a:ext cx="8043731" cy="498943"/>
            <a:chOff x="0" y="0"/>
            <a:chExt cx="10724974" cy="665257"/>
          </a:xfrm>
        </p:grpSpPr>
        <p:sp>
          <p:nvSpPr>
            <p:cNvPr name="Freeform 7" id="7"/>
            <p:cNvSpPr/>
            <p:nvPr/>
          </p:nvSpPr>
          <p:spPr>
            <a:xfrm flipH="false" flipV="false" rot="0">
              <a:off x="0" y="0"/>
              <a:ext cx="10724974" cy="665257"/>
            </a:xfrm>
            <a:custGeom>
              <a:avLst/>
              <a:gdLst/>
              <a:ahLst/>
              <a:cxnLst/>
              <a:rect r="r" b="b" t="t" l="l"/>
              <a:pathLst>
                <a:path h="665257" w="10724974">
                  <a:moveTo>
                    <a:pt x="0" y="0"/>
                  </a:moveTo>
                  <a:lnTo>
                    <a:pt x="10724974" y="0"/>
                  </a:lnTo>
                  <a:lnTo>
                    <a:pt x="10724974" y="665257"/>
                  </a:lnTo>
                  <a:lnTo>
                    <a:pt x="0" y="665257"/>
                  </a:lnTo>
                  <a:close/>
                </a:path>
              </a:pathLst>
            </a:custGeom>
            <a:blipFill>
              <a:blip r:embed="rId3">
                <a:alphaModFix amt="0"/>
              </a:blip>
              <a:stretch>
                <a:fillRect l="0" t="-433974" r="-53466" b="-430189"/>
              </a:stretch>
            </a:blipFill>
          </p:spPr>
        </p:sp>
        <p:sp>
          <p:nvSpPr>
            <p:cNvPr name="TextBox 8" id="8"/>
            <p:cNvSpPr txBox="true"/>
            <p:nvPr/>
          </p:nvSpPr>
          <p:spPr>
            <a:xfrm>
              <a:off x="0" y="-9525"/>
              <a:ext cx="10724974" cy="674782"/>
            </a:xfrm>
            <a:prstGeom prst="rect">
              <a:avLst/>
            </a:prstGeom>
          </p:spPr>
          <p:txBody>
            <a:bodyPr anchor="ctr" rtlCol="false" tIns="0" lIns="0" bIns="0" rIns="0"/>
            <a:lstStyle/>
            <a:p>
              <a:pPr algn="l">
                <a:lnSpc>
                  <a:spcPts val="2939"/>
                </a:lnSpc>
              </a:pPr>
              <a:r>
                <a:rPr lang="en-US" b="true" sz="2449" spc="282">
                  <a:solidFill>
                    <a:srgbClr val="CADCFC"/>
                  </a:solidFill>
                  <a:latin typeface="Arimo Bold"/>
                  <a:ea typeface="Arimo Bold"/>
                  <a:cs typeface="Arimo Bold"/>
                  <a:sym typeface="Arimo Bold"/>
                </a:rPr>
                <a:t>MCA MINI PROJECT — FIRST REVIEW</a:t>
              </a:r>
            </a:p>
          </p:txBody>
        </p:sp>
      </p:grpSp>
      <p:grpSp>
        <p:nvGrpSpPr>
          <p:cNvPr name="Group 9" id="9"/>
          <p:cNvGrpSpPr/>
          <p:nvPr/>
        </p:nvGrpSpPr>
        <p:grpSpPr>
          <a:xfrm rot="0">
            <a:off x="1065180" y="536072"/>
            <a:ext cx="14877479" cy="5003705"/>
            <a:chOff x="0" y="0"/>
            <a:chExt cx="19836639" cy="6671607"/>
          </a:xfrm>
        </p:grpSpPr>
        <p:sp>
          <p:nvSpPr>
            <p:cNvPr name="Freeform 10" id="10"/>
            <p:cNvSpPr/>
            <p:nvPr/>
          </p:nvSpPr>
          <p:spPr>
            <a:xfrm flipH="false" flipV="false" rot="0">
              <a:off x="0" y="0"/>
              <a:ext cx="19836639" cy="6671608"/>
            </a:xfrm>
            <a:custGeom>
              <a:avLst/>
              <a:gdLst/>
              <a:ahLst/>
              <a:cxnLst/>
              <a:rect r="r" b="b" t="t" l="l"/>
              <a:pathLst>
                <a:path h="6671608" w="19836639">
                  <a:moveTo>
                    <a:pt x="0" y="0"/>
                  </a:moveTo>
                  <a:lnTo>
                    <a:pt x="19836639" y="0"/>
                  </a:lnTo>
                  <a:lnTo>
                    <a:pt x="19836639" y="6671608"/>
                  </a:lnTo>
                  <a:lnTo>
                    <a:pt x="0" y="6671608"/>
                  </a:lnTo>
                  <a:close/>
                </a:path>
              </a:pathLst>
            </a:custGeom>
            <a:blipFill>
              <a:blip r:embed="rId3">
                <a:alphaModFix amt="0"/>
              </a:blip>
              <a:stretch>
                <a:fillRect l="0" t="-37125" r="431" b="21756"/>
              </a:stretch>
            </a:blipFill>
          </p:spPr>
        </p:sp>
        <p:sp>
          <p:nvSpPr>
            <p:cNvPr name="TextBox 11" id="11"/>
            <p:cNvSpPr txBox="true"/>
            <p:nvPr/>
          </p:nvSpPr>
          <p:spPr>
            <a:xfrm>
              <a:off x="0" y="19050"/>
              <a:ext cx="19836639" cy="6652557"/>
            </a:xfrm>
            <a:prstGeom prst="rect">
              <a:avLst/>
            </a:prstGeom>
          </p:spPr>
          <p:txBody>
            <a:bodyPr anchor="ctr" rtlCol="false" tIns="0" lIns="0" bIns="0" rIns="0"/>
            <a:lstStyle/>
            <a:p>
              <a:pPr algn="l">
                <a:lnSpc>
                  <a:spcPts val="6599"/>
                </a:lnSpc>
              </a:pPr>
              <a:r>
                <a:rPr lang="en-US" sz="5700" b="true">
                  <a:solidFill>
                    <a:srgbClr val="FFFFFF"/>
                  </a:solidFill>
                  <a:latin typeface="Cambria Bold"/>
                  <a:ea typeface="Cambria Bold"/>
                  <a:cs typeface="Cambria Bold"/>
                  <a:sym typeface="Cambria Bold"/>
                </a:rPr>
                <a:t>Unified Healthcare Appointment</a:t>
              </a:r>
            </a:p>
            <a:p>
              <a:pPr algn="l">
                <a:lnSpc>
                  <a:spcPts val="6599"/>
                </a:lnSpc>
              </a:pPr>
              <a:r>
                <a:rPr lang="en-US" sz="5700" b="true">
                  <a:solidFill>
                    <a:srgbClr val="FFFFFF"/>
                  </a:solidFill>
                  <a:latin typeface="Cambria Bold"/>
                  <a:ea typeface="Cambria Bold"/>
                  <a:cs typeface="Cambria Bold"/>
                  <a:sym typeface="Cambria Bold"/>
                </a:rPr>
                <a:t>and Immunization Tracking System</a:t>
              </a:r>
            </a:p>
          </p:txBody>
        </p:sp>
      </p:grpSp>
      <p:grpSp>
        <p:nvGrpSpPr>
          <p:cNvPr name="Group 12" id="12"/>
          <p:cNvGrpSpPr/>
          <p:nvPr/>
        </p:nvGrpSpPr>
        <p:grpSpPr>
          <a:xfrm rot="0">
            <a:off x="1165860" y="4194890"/>
            <a:ext cx="5486400" cy="3206502"/>
            <a:chOff x="0" y="0"/>
            <a:chExt cx="7315200" cy="4275336"/>
          </a:xfrm>
        </p:grpSpPr>
        <p:sp>
          <p:nvSpPr>
            <p:cNvPr name="Freeform 13" id="13"/>
            <p:cNvSpPr/>
            <p:nvPr/>
          </p:nvSpPr>
          <p:spPr>
            <a:xfrm flipH="false" flipV="false" rot="0">
              <a:off x="0" y="0"/>
              <a:ext cx="7315200" cy="4275336"/>
            </a:xfrm>
            <a:custGeom>
              <a:avLst/>
              <a:gdLst/>
              <a:ahLst/>
              <a:cxnLst/>
              <a:rect r="r" b="b" t="t" l="l"/>
              <a:pathLst>
                <a:path h="4275336" w="7315200">
                  <a:moveTo>
                    <a:pt x="0" y="0"/>
                  </a:moveTo>
                  <a:lnTo>
                    <a:pt x="7315200" y="0"/>
                  </a:lnTo>
                  <a:lnTo>
                    <a:pt x="7315200" y="4275336"/>
                  </a:lnTo>
                  <a:lnTo>
                    <a:pt x="0" y="4275336"/>
                  </a:lnTo>
                  <a:close/>
                </a:path>
              </a:pathLst>
            </a:custGeom>
            <a:blipFill>
              <a:blip r:embed="rId3">
                <a:alphaModFix amt="0"/>
              </a:blip>
              <a:stretch>
                <a:fillRect l="0" t="-20506" r="0" b="53827"/>
              </a:stretch>
            </a:blipFill>
          </p:spPr>
        </p:sp>
        <p:sp>
          <p:nvSpPr>
            <p:cNvPr name="TextBox 14" id="14"/>
            <p:cNvSpPr txBox="true"/>
            <p:nvPr/>
          </p:nvSpPr>
          <p:spPr>
            <a:xfrm>
              <a:off x="0" y="-142875"/>
              <a:ext cx="7315200" cy="4418211"/>
            </a:xfrm>
            <a:prstGeom prst="rect">
              <a:avLst/>
            </a:prstGeom>
          </p:spPr>
          <p:txBody>
            <a:bodyPr anchor="ctr" rtlCol="false" tIns="0" lIns="0" bIns="0" rIns="0"/>
            <a:lstStyle/>
            <a:p>
              <a:pPr algn="l">
                <a:lnSpc>
                  <a:spcPts val="5027"/>
                </a:lnSpc>
              </a:pPr>
              <a:r>
                <a:rPr lang="en-US" sz="3199">
                  <a:solidFill>
                    <a:srgbClr val="FFFFFF"/>
                  </a:solidFill>
                  <a:latin typeface="Arimo"/>
                  <a:ea typeface="Arimo"/>
                  <a:cs typeface="Arimo"/>
                  <a:sym typeface="Arimo"/>
                </a:rPr>
                <a:t>Team:</a:t>
              </a:r>
            </a:p>
            <a:p>
              <a:pPr algn="l">
                <a:lnSpc>
                  <a:spcPts val="5028"/>
                </a:lnSpc>
              </a:pPr>
              <a:r>
                <a:rPr lang="en-US" sz="3199">
                  <a:solidFill>
                    <a:srgbClr val="FFFFFF"/>
                  </a:solidFill>
                  <a:latin typeface="Arimo"/>
                  <a:ea typeface="Arimo"/>
                  <a:cs typeface="Arimo"/>
                  <a:sym typeface="Arimo"/>
                </a:rPr>
                <a:t>Induja E (25MX315)</a:t>
              </a:r>
            </a:p>
            <a:p>
              <a:pPr algn="l">
                <a:lnSpc>
                  <a:spcPts val="5027"/>
                </a:lnSpc>
              </a:pPr>
              <a:r>
                <a:rPr lang="en-US" sz="3199">
                  <a:solidFill>
                    <a:srgbClr val="FFFFFF"/>
                  </a:solidFill>
                  <a:latin typeface="Arimo"/>
                  <a:ea typeface="Arimo"/>
                  <a:cs typeface="Arimo"/>
                  <a:sym typeface="Arimo"/>
                </a:rPr>
                <a:t>Vaishali S (25MX355)</a:t>
              </a:r>
            </a:p>
            <a:p>
              <a:pPr algn="l">
                <a:lnSpc>
                  <a:spcPts val="5027"/>
                </a:lnSpc>
              </a:pPr>
              <a:r>
                <a:rPr lang="en-US" sz="3199">
                  <a:solidFill>
                    <a:srgbClr val="FFFFFF"/>
                  </a:solidFill>
                  <a:latin typeface="Arimo"/>
                  <a:ea typeface="Arimo"/>
                  <a:cs typeface="Arimo"/>
                  <a:sym typeface="Arimo"/>
                </a:rPr>
                <a:t>Guide:</a:t>
              </a:r>
            </a:p>
            <a:p>
              <a:pPr algn="l">
                <a:lnSpc>
                  <a:spcPts val="5028"/>
                </a:lnSpc>
              </a:pPr>
              <a:r>
                <a:rPr lang="en-US" sz="3199">
                  <a:solidFill>
                    <a:srgbClr val="FFFFFF"/>
                  </a:solidFill>
                  <a:latin typeface="Arimo"/>
                  <a:ea typeface="Arimo"/>
                  <a:cs typeface="Arimo"/>
                  <a:sym typeface="Arimo"/>
                </a:rPr>
                <a:t>Ms. A. Kalyani</a:t>
              </a:r>
            </a:p>
          </p:txBody>
        </p:sp>
      </p:grpSp>
      <p:grpSp>
        <p:nvGrpSpPr>
          <p:cNvPr name="Group 15" id="15"/>
          <p:cNvGrpSpPr/>
          <p:nvPr/>
        </p:nvGrpSpPr>
        <p:grpSpPr>
          <a:xfrm rot="0">
            <a:off x="1165860" y="8973737"/>
            <a:ext cx="10972800" cy="576903"/>
            <a:chOff x="0" y="0"/>
            <a:chExt cx="14630400" cy="769204"/>
          </a:xfrm>
        </p:grpSpPr>
        <p:sp>
          <p:nvSpPr>
            <p:cNvPr name="Freeform 16" id="16"/>
            <p:cNvSpPr/>
            <p:nvPr/>
          </p:nvSpPr>
          <p:spPr>
            <a:xfrm flipH="false" flipV="false" rot="0">
              <a:off x="0" y="0"/>
              <a:ext cx="14630400" cy="769204"/>
            </a:xfrm>
            <a:custGeom>
              <a:avLst/>
              <a:gdLst/>
              <a:ahLst/>
              <a:cxnLst/>
              <a:rect r="r" b="b" t="t" l="l"/>
              <a:pathLst>
                <a:path h="769204" w="14630400">
                  <a:moveTo>
                    <a:pt x="0" y="0"/>
                  </a:moveTo>
                  <a:lnTo>
                    <a:pt x="14630400" y="0"/>
                  </a:lnTo>
                  <a:lnTo>
                    <a:pt x="14630400" y="769204"/>
                  </a:lnTo>
                  <a:lnTo>
                    <a:pt x="0" y="769204"/>
                  </a:lnTo>
                  <a:close/>
                </a:path>
              </a:pathLst>
            </a:custGeom>
            <a:blipFill>
              <a:blip r:embed="rId3">
                <a:alphaModFix amt="0"/>
              </a:blip>
              <a:stretch>
                <a:fillRect l="0" t="-334946" r="0" b="-306271"/>
              </a:stretch>
            </a:blipFill>
          </p:spPr>
        </p:sp>
        <p:sp>
          <p:nvSpPr>
            <p:cNvPr name="TextBox 17" id="17"/>
            <p:cNvSpPr txBox="true"/>
            <p:nvPr/>
          </p:nvSpPr>
          <p:spPr>
            <a:xfrm>
              <a:off x="0" y="-19050"/>
              <a:ext cx="14630400" cy="788254"/>
            </a:xfrm>
            <a:prstGeom prst="rect">
              <a:avLst/>
            </a:prstGeom>
          </p:spPr>
          <p:txBody>
            <a:bodyPr anchor="ctr" rtlCol="false" tIns="0" lIns="0" bIns="0" rIns="0"/>
            <a:lstStyle/>
            <a:p>
              <a:pPr algn="l">
                <a:lnSpc>
                  <a:spcPts val="3419"/>
                </a:lnSpc>
              </a:pPr>
              <a:r>
                <a:rPr lang="en-US" sz="2849">
                  <a:solidFill>
                    <a:srgbClr val="CADCFC"/>
                  </a:solidFill>
                  <a:latin typeface="Arimo"/>
                  <a:ea typeface="Arimo"/>
                  <a:cs typeface="Arimo"/>
                  <a:sym typeface="Arimo"/>
                </a:rPr>
                <a:t>MCA — Semester 3, PSG College of Technology</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INTRODUCTION</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Acknowledgement</a:t>
              </a:r>
            </a:p>
          </p:txBody>
        </p:sp>
      </p:grpSp>
      <p:grpSp>
        <p:nvGrpSpPr>
          <p:cNvPr name="Group 8" id="8"/>
          <p:cNvGrpSpPr/>
          <p:nvPr/>
        </p:nvGrpSpPr>
        <p:grpSpPr>
          <a:xfrm rot="0">
            <a:off x="822960" y="2606040"/>
            <a:ext cx="15910560" cy="1234440"/>
            <a:chOff x="0" y="0"/>
            <a:chExt cx="21214080" cy="1645920"/>
          </a:xfrm>
        </p:grpSpPr>
        <p:sp>
          <p:nvSpPr>
            <p:cNvPr name="Freeform 9" id="9"/>
            <p:cNvSpPr/>
            <p:nvPr/>
          </p:nvSpPr>
          <p:spPr>
            <a:xfrm flipH="false" flipV="false" rot="0">
              <a:off x="0" y="0"/>
              <a:ext cx="21214080" cy="1645920"/>
            </a:xfrm>
            <a:custGeom>
              <a:avLst/>
              <a:gdLst/>
              <a:ahLst/>
              <a:cxnLst/>
              <a:rect r="r" b="b" t="t" l="l"/>
              <a:pathLst>
                <a:path h="1645920" w="21214080">
                  <a:moveTo>
                    <a:pt x="0" y="0"/>
                  </a:moveTo>
                  <a:lnTo>
                    <a:pt x="21214080" y="0"/>
                  </a:lnTo>
                  <a:lnTo>
                    <a:pt x="21214080" y="1645920"/>
                  </a:lnTo>
                  <a:lnTo>
                    <a:pt x="0" y="1645920"/>
                  </a:lnTo>
                  <a:close/>
                </a:path>
              </a:pathLst>
            </a:custGeom>
            <a:blipFill>
              <a:blip r:embed="rId3">
                <a:alphaModFix amt="0"/>
              </a:blip>
              <a:stretch>
                <a:fillRect l="0" t="-201140" r="0" b="-201140"/>
              </a:stretch>
            </a:blipFill>
          </p:spPr>
        </p:sp>
        <p:sp>
          <p:nvSpPr>
            <p:cNvPr name="TextBox 10" id="10"/>
            <p:cNvSpPr txBox="true"/>
            <p:nvPr/>
          </p:nvSpPr>
          <p:spPr>
            <a:xfrm>
              <a:off x="0" y="-123825"/>
              <a:ext cx="21214080" cy="1769745"/>
            </a:xfrm>
            <a:prstGeom prst="rect">
              <a:avLst/>
            </a:prstGeom>
          </p:spPr>
          <p:txBody>
            <a:bodyPr anchor="ctr" rtlCol="false" tIns="0" lIns="0" bIns="0" rIns="0"/>
            <a:lstStyle/>
            <a:p>
              <a:pPr algn="l">
                <a:lnSpc>
                  <a:spcPts val="4239"/>
                </a:lnSpc>
              </a:pPr>
              <a:r>
                <a:rPr lang="en-US" sz="2649">
                  <a:solidFill>
                    <a:srgbClr val="1B1B2F"/>
                  </a:solidFill>
                  <a:latin typeface="Arimo"/>
                  <a:ea typeface="Arimo"/>
                  <a:cs typeface="Arimo"/>
                  <a:sym typeface="Arimo"/>
                </a:rPr>
                <a:t>We express our sincere gratitude to the respected Review Panel for their valuable time, guidance, and insightful suggestions in evaluating our project. We would like to extend our heartfelt thanks to:</a:t>
              </a:r>
            </a:p>
          </p:txBody>
        </p:sp>
      </p:grpSp>
      <p:grpSp>
        <p:nvGrpSpPr>
          <p:cNvPr name="Group 11" id="11"/>
          <p:cNvGrpSpPr/>
          <p:nvPr/>
        </p:nvGrpSpPr>
        <p:grpSpPr>
          <a:xfrm rot="0">
            <a:off x="822960" y="4594860"/>
            <a:ext cx="3703320" cy="1028700"/>
            <a:chOff x="0" y="0"/>
            <a:chExt cx="4937760" cy="1371600"/>
          </a:xfrm>
        </p:grpSpPr>
        <p:sp>
          <p:nvSpPr>
            <p:cNvPr name="Freeform 12" id="12"/>
            <p:cNvSpPr/>
            <p:nvPr/>
          </p:nvSpPr>
          <p:spPr>
            <a:xfrm flipH="false" flipV="false" rot="0">
              <a:off x="0" y="0"/>
              <a:ext cx="4937760" cy="1371600"/>
            </a:xfrm>
            <a:custGeom>
              <a:avLst/>
              <a:gdLst/>
              <a:ahLst/>
              <a:cxnLst/>
              <a:rect r="r" b="b" t="t" l="l"/>
              <a:pathLst>
                <a:path h="1371600" w="4937760">
                  <a:moveTo>
                    <a:pt x="0" y="146304"/>
                  </a:moveTo>
                  <a:cubicBezTo>
                    <a:pt x="0" y="65532"/>
                    <a:pt x="65532" y="0"/>
                    <a:pt x="146304" y="0"/>
                  </a:cubicBezTo>
                  <a:lnTo>
                    <a:pt x="4791456" y="0"/>
                  </a:lnTo>
                  <a:cubicBezTo>
                    <a:pt x="4872228" y="0"/>
                    <a:pt x="4937760" y="65532"/>
                    <a:pt x="4937760" y="146304"/>
                  </a:cubicBezTo>
                  <a:lnTo>
                    <a:pt x="4937760" y="1225296"/>
                  </a:lnTo>
                  <a:cubicBezTo>
                    <a:pt x="4937760" y="1306068"/>
                    <a:pt x="4872228" y="1371600"/>
                    <a:pt x="4791456" y="1371600"/>
                  </a:cubicBezTo>
                  <a:lnTo>
                    <a:pt x="146304" y="1371600"/>
                  </a:lnTo>
                  <a:cubicBezTo>
                    <a:pt x="65532" y="1371600"/>
                    <a:pt x="0" y="1306068"/>
                    <a:pt x="0" y="1225296"/>
                  </a:cubicBezTo>
                  <a:close/>
                </a:path>
              </a:pathLst>
            </a:custGeom>
            <a:solidFill>
              <a:srgbClr val="F3F6FD"/>
            </a:solidFill>
          </p:spPr>
        </p:sp>
      </p:grpSp>
      <p:grpSp>
        <p:nvGrpSpPr>
          <p:cNvPr name="Group 13" id="13"/>
          <p:cNvGrpSpPr/>
          <p:nvPr/>
        </p:nvGrpSpPr>
        <p:grpSpPr>
          <a:xfrm rot="0">
            <a:off x="822960" y="4594860"/>
            <a:ext cx="3703320" cy="1028700"/>
            <a:chOff x="0" y="0"/>
            <a:chExt cx="4937760" cy="1371600"/>
          </a:xfrm>
        </p:grpSpPr>
        <p:sp>
          <p:nvSpPr>
            <p:cNvPr name="Freeform 14" id="14"/>
            <p:cNvSpPr/>
            <p:nvPr/>
          </p:nvSpPr>
          <p:spPr>
            <a:xfrm flipH="false" flipV="false" rot="0">
              <a:off x="0" y="0"/>
              <a:ext cx="4937760" cy="1371600"/>
            </a:xfrm>
            <a:custGeom>
              <a:avLst/>
              <a:gdLst/>
              <a:ahLst/>
              <a:cxnLst/>
              <a:rect r="r" b="b" t="t" l="l"/>
              <a:pathLst>
                <a:path h="1371600" w="4937760">
                  <a:moveTo>
                    <a:pt x="0" y="0"/>
                  </a:moveTo>
                  <a:lnTo>
                    <a:pt x="4937760" y="0"/>
                  </a:lnTo>
                  <a:lnTo>
                    <a:pt x="4937760" y="1371600"/>
                  </a:lnTo>
                  <a:lnTo>
                    <a:pt x="0" y="1371600"/>
                  </a:lnTo>
                  <a:close/>
                </a:path>
              </a:pathLst>
            </a:custGeom>
            <a:blipFill>
              <a:blip r:embed="rId3">
                <a:alphaModFix amt="0"/>
              </a:blip>
              <a:stretch>
                <a:fillRect l="0" t="-20146" r="0" b="-20146"/>
              </a:stretch>
            </a:blipFill>
          </p:spPr>
        </p:sp>
        <p:sp>
          <p:nvSpPr>
            <p:cNvPr name="TextBox 15" id="15"/>
            <p:cNvSpPr txBox="true"/>
            <p:nvPr/>
          </p:nvSpPr>
          <p:spPr>
            <a:xfrm>
              <a:off x="0" y="-19050"/>
              <a:ext cx="4937760" cy="1390650"/>
            </a:xfrm>
            <a:prstGeom prst="rect">
              <a:avLst/>
            </a:prstGeom>
          </p:spPr>
          <p:txBody>
            <a:bodyPr anchor="ctr" rtlCol="false" tIns="0" lIns="0" bIns="0" rIns="0"/>
            <a:lstStyle/>
            <a:p>
              <a:pPr algn="ctr">
                <a:lnSpc>
                  <a:spcPts val="3299"/>
                </a:lnSpc>
              </a:pPr>
              <a:r>
                <a:rPr lang="en-US" sz="2749" b="true">
                  <a:solidFill>
                    <a:srgbClr val="1E2761"/>
                  </a:solidFill>
                  <a:latin typeface="Arimo Bold"/>
                  <a:ea typeface="Arimo Bold"/>
                  <a:cs typeface="Arimo Bold"/>
                  <a:sym typeface="Arimo Bold"/>
                </a:rPr>
                <a:t>Dr. N. Ilayaraja</a:t>
              </a:r>
            </a:p>
          </p:txBody>
        </p:sp>
      </p:grpSp>
      <p:grpSp>
        <p:nvGrpSpPr>
          <p:cNvPr name="Group 16" id="16"/>
          <p:cNvGrpSpPr/>
          <p:nvPr/>
        </p:nvGrpSpPr>
        <p:grpSpPr>
          <a:xfrm rot="0">
            <a:off x="4869180" y="4594860"/>
            <a:ext cx="3703320" cy="1028700"/>
            <a:chOff x="0" y="0"/>
            <a:chExt cx="4937760" cy="1371600"/>
          </a:xfrm>
        </p:grpSpPr>
        <p:sp>
          <p:nvSpPr>
            <p:cNvPr name="Freeform 17" id="17"/>
            <p:cNvSpPr/>
            <p:nvPr/>
          </p:nvSpPr>
          <p:spPr>
            <a:xfrm flipH="false" flipV="false" rot="0">
              <a:off x="0" y="0"/>
              <a:ext cx="4937760" cy="1371600"/>
            </a:xfrm>
            <a:custGeom>
              <a:avLst/>
              <a:gdLst/>
              <a:ahLst/>
              <a:cxnLst/>
              <a:rect r="r" b="b" t="t" l="l"/>
              <a:pathLst>
                <a:path h="1371600" w="4937760">
                  <a:moveTo>
                    <a:pt x="0" y="146304"/>
                  </a:moveTo>
                  <a:cubicBezTo>
                    <a:pt x="0" y="65532"/>
                    <a:pt x="65532" y="0"/>
                    <a:pt x="146304" y="0"/>
                  </a:cubicBezTo>
                  <a:lnTo>
                    <a:pt x="4791456" y="0"/>
                  </a:lnTo>
                  <a:cubicBezTo>
                    <a:pt x="4872228" y="0"/>
                    <a:pt x="4937760" y="65532"/>
                    <a:pt x="4937760" y="146304"/>
                  </a:cubicBezTo>
                  <a:lnTo>
                    <a:pt x="4937760" y="1225296"/>
                  </a:lnTo>
                  <a:cubicBezTo>
                    <a:pt x="4937760" y="1306068"/>
                    <a:pt x="4872228" y="1371600"/>
                    <a:pt x="4791456" y="1371600"/>
                  </a:cubicBezTo>
                  <a:lnTo>
                    <a:pt x="146304" y="1371600"/>
                  </a:lnTo>
                  <a:cubicBezTo>
                    <a:pt x="65532" y="1371600"/>
                    <a:pt x="0" y="1306068"/>
                    <a:pt x="0" y="1225296"/>
                  </a:cubicBezTo>
                  <a:close/>
                </a:path>
              </a:pathLst>
            </a:custGeom>
            <a:solidFill>
              <a:srgbClr val="F3F6FD"/>
            </a:solidFill>
          </p:spPr>
        </p:sp>
      </p:grpSp>
      <p:grpSp>
        <p:nvGrpSpPr>
          <p:cNvPr name="Group 18" id="18"/>
          <p:cNvGrpSpPr/>
          <p:nvPr/>
        </p:nvGrpSpPr>
        <p:grpSpPr>
          <a:xfrm rot="0">
            <a:off x="4869180" y="4594860"/>
            <a:ext cx="3703320" cy="1028700"/>
            <a:chOff x="0" y="0"/>
            <a:chExt cx="4937760" cy="1371600"/>
          </a:xfrm>
        </p:grpSpPr>
        <p:sp>
          <p:nvSpPr>
            <p:cNvPr name="Freeform 19" id="19"/>
            <p:cNvSpPr/>
            <p:nvPr/>
          </p:nvSpPr>
          <p:spPr>
            <a:xfrm flipH="false" flipV="false" rot="0">
              <a:off x="0" y="0"/>
              <a:ext cx="4937760" cy="1371600"/>
            </a:xfrm>
            <a:custGeom>
              <a:avLst/>
              <a:gdLst/>
              <a:ahLst/>
              <a:cxnLst/>
              <a:rect r="r" b="b" t="t" l="l"/>
              <a:pathLst>
                <a:path h="1371600" w="4937760">
                  <a:moveTo>
                    <a:pt x="0" y="0"/>
                  </a:moveTo>
                  <a:lnTo>
                    <a:pt x="4937760" y="0"/>
                  </a:lnTo>
                  <a:lnTo>
                    <a:pt x="4937760" y="1371600"/>
                  </a:lnTo>
                  <a:lnTo>
                    <a:pt x="0" y="1371600"/>
                  </a:lnTo>
                  <a:close/>
                </a:path>
              </a:pathLst>
            </a:custGeom>
            <a:blipFill>
              <a:blip r:embed="rId3">
                <a:alphaModFix amt="0"/>
              </a:blip>
              <a:stretch>
                <a:fillRect l="0" t="-20146" r="0" b="-20146"/>
              </a:stretch>
            </a:blipFill>
          </p:spPr>
        </p:sp>
        <p:sp>
          <p:nvSpPr>
            <p:cNvPr name="TextBox 20" id="20"/>
            <p:cNvSpPr txBox="true"/>
            <p:nvPr/>
          </p:nvSpPr>
          <p:spPr>
            <a:xfrm>
              <a:off x="0" y="-19050"/>
              <a:ext cx="4937760" cy="1390650"/>
            </a:xfrm>
            <a:prstGeom prst="rect">
              <a:avLst/>
            </a:prstGeom>
          </p:spPr>
          <p:txBody>
            <a:bodyPr anchor="ctr" rtlCol="false" tIns="0" lIns="0" bIns="0" rIns="0"/>
            <a:lstStyle/>
            <a:p>
              <a:pPr algn="ctr">
                <a:lnSpc>
                  <a:spcPts val="3299"/>
                </a:lnSpc>
              </a:pPr>
              <a:r>
                <a:rPr lang="en-US" sz="2749" b="true">
                  <a:solidFill>
                    <a:srgbClr val="1E2761"/>
                  </a:solidFill>
                  <a:latin typeface="Arimo Bold"/>
                  <a:ea typeface="Arimo Bold"/>
                  <a:cs typeface="Arimo Bold"/>
                  <a:sym typeface="Arimo Bold"/>
                </a:rPr>
                <a:t>Ms. A. Kalyani</a:t>
              </a:r>
            </a:p>
          </p:txBody>
        </p:sp>
      </p:grpSp>
      <p:grpSp>
        <p:nvGrpSpPr>
          <p:cNvPr name="Group 21" id="21"/>
          <p:cNvGrpSpPr/>
          <p:nvPr/>
        </p:nvGrpSpPr>
        <p:grpSpPr>
          <a:xfrm rot="0">
            <a:off x="8915400" y="4594860"/>
            <a:ext cx="3703320" cy="1028700"/>
            <a:chOff x="0" y="0"/>
            <a:chExt cx="4937760" cy="1371600"/>
          </a:xfrm>
        </p:grpSpPr>
        <p:sp>
          <p:nvSpPr>
            <p:cNvPr name="Freeform 22" id="22"/>
            <p:cNvSpPr/>
            <p:nvPr/>
          </p:nvSpPr>
          <p:spPr>
            <a:xfrm flipH="false" flipV="false" rot="0">
              <a:off x="0" y="0"/>
              <a:ext cx="4937760" cy="1371600"/>
            </a:xfrm>
            <a:custGeom>
              <a:avLst/>
              <a:gdLst/>
              <a:ahLst/>
              <a:cxnLst/>
              <a:rect r="r" b="b" t="t" l="l"/>
              <a:pathLst>
                <a:path h="1371600" w="4937760">
                  <a:moveTo>
                    <a:pt x="0" y="146304"/>
                  </a:moveTo>
                  <a:cubicBezTo>
                    <a:pt x="0" y="65532"/>
                    <a:pt x="65532" y="0"/>
                    <a:pt x="146304" y="0"/>
                  </a:cubicBezTo>
                  <a:lnTo>
                    <a:pt x="4791456" y="0"/>
                  </a:lnTo>
                  <a:cubicBezTo>
                    <a:pt x="4872228" y="0"/>
                    <a:pt x="4937760" y="65532"/>
                    <a:pt x="4937760" y="146304"/>
                  </a:cubicBezTo>
                  <a:lnTo>
                    <a:pt x="4937760" y="1225296"/>
                  </a:lnTo>
                  <a:cubicBezTo>
                    <a:pt x="4937760" y="1306068"/>
                    <a:pt x="4872228" y="1371600"/>
                    <a:pt x="4791456" y="1371600"/>
                  </a:cubicBezTo>
                  <a:lnTo>
                    <a:pt x="146304" y="1371600"/>
                  </a:lnTo>
                  <a:cubicBezTo>
                    <a:pt x="65532" y="1371600"/>
                    <a:pt x="0" y="1306068"/>
                    <a:pt x="0" y="1225296"/>
                  </a:cubicBezTo>
                  <a:close/>
                </a:path>
              </a:pathLst>
            </a:custGeom>
            <a:solidFill>
              <a:srgbClr val="F3F6FD"/>
            </a:solidFill>
          </p:spPr>
        </p:sp>
      </p:grpSp>
      <p:grpSp>
        <p:nvGrpSpPr>
          <p:cNvPr name="Group 23" id="23"/>
          <p:cNvGrpSpPr/>
          <p:nvPr/>
        </p:nvGrpSpPr>
        <p:grpSpPr>
          <a:xfrm rot="0">
            <a:off x="8915400" y="4594860"/>
            <a:ext cx="3703320" cy="1028700"/>
            <a:chOff x="0" y="0"/>
            <a:chExt cx="4937760" cy="1371600"/>
          </a:xfrm>
        </p:grpSpPr>
        <p:sp>
          <p:nvSpPr>
            <p:cNvPr name="Freeform 24" id="24"/>
            <p:cNvSpPr/>
            <p:nvPr/>
          </p:nvSpPr>
          <p:spPr>
            <a:xfrm flipH="false" flipV="false" rot="0">
              <a:off x="0" y="0"/>
              <a:ext cx="4937760" cy="1371600"/>
            </a:xfrm>
            <a:custGeom>
              <a:avLst/>
              <a:gdLst/>
              <a:ahLst/>
              <a:cxnLst/>
              <a:rect r="r" b="b" t="t" l="l"/>
              <a:pathLst>
                <a:path h="1371600" w="4937760">
                  <a:moveTo>
                    <a:pt x="0" y="0"/>
                  </a:moveTo>
                  <a:lnTo>
                    <a:pt x="4937760" y="0"/>
                  </a:lnTo>
                  <a:lnTo>
                    <a:pt x="4937760" y="1371600"/>
                  </a:lnTo>
                  <a:lnTo>
                    <a:pt x="0" y="1371600"/>
                  </a:lnTo>
                  <a:close/>
                </a:path>
              </a:pathLst>
            </a:custGeom>
            <a:blipFill>
              <a:blip r:embed="rId3">
                <a:alphaModFix amt="0"/>
              </a:blip>
              <a:stretch>
                <a:fillRect l="0" t="-20146" r="0" b="-20146"/>
              </a:stretch>
            </a:blipFill>
          </p:spPr>
        </p:sp>
        <p:sp>
          <p:nvSpPr>
            <p:cNvPr name="TextBox 25" id="25"/>
            <p:cNvSpPr txBox="true"/>
            <p:nvPr/>
          </p:nvSpPr>
          <p:spPr>
            <a:xfrm>
              <a:off x="0" y="-19050"/>
              <a:ext cx="4937760" cy="1390650"/>
            </a:xfrm>
            <a:prstGeom prst="rect">
              <a:avLst/>
            </a:prstGeom>
          </p:spPr>
          <p:txBody>
            <a:bodyPr anchor="ctr" rtlCol="false" tIns="0" lIns="0" bIns="0" rIns="0"/>
            <a:lstStyle/>
            <a:p>
              <a:pPr algn="ctr">
                <a:lnSpc>
                  <a:spcPts val="3299"/>
                </a:lnSpc>
              </a:pPr>
              <a:r>
                <a:rPr lang="en-US" sz="2749" b="true">
                  <a:solidFill>
                    <a:srgbClr val="1E2761"/>
                  </a:solidFill>
                  <a:latin typeface="Arimo Bold"/>
                  <a:ea typeface="Arimo Bold"/>
                  <a:cs typeface="Arimo Bold"/>
                  <a:sym typeface="Arimo Bold"/>
                </a:rPr>
                <a:t>Dr. S. Bhama</a:t>
              </a:r>
            </a:p>
          </p:txBody>
        </p:sp>
      </p:grpSp>
      <p:grpSp>
        <p:nvGrpSpPr>
          <p:cNvPr name="Group 26" id="26"/>
          <p:cNvGrpSpPr/>
          <p:nvPr/>
        </p:nvGrpSpPr>
        <p:grpSpPr>
          <a:xfrm rot="0">
            <a:off x="12961620" y="4594860"/>
            <a:ext cx="3703320" cy="1028700"/>
            <a:chOff x="0" y="0"/>
            <a:chExt cx="4937760" cy="1371600"/>
          </a:xfrm>
        </p:grpSpPr>
        <p:sp>
          <p:nvSpPr>
            <p:cNvPr name="Freeform 27" id="27"/>
            <p:cNvSpPr/>
            <p:nvPr/>
          </p:nvSpPr>
          <p:spPr>
            <a:xfrm flipH="false" flipV="false" rot="0">
              <a:off x="0" y="0"/>
              <a:ext cx="4937760" cy="1371600"/>
            </a:xfrm>
            <a:custGeom>
              <a:avLst/>
              <a:gdLst/>
              <a:ahLst/>
              <a:cxnLst/>
              <a:rect r="r" b="b" t="t" l="l"/>
              <a:pathLst>
                <a:path h="1371600" w="4937760">
                  <a:moveTo>
                    <a:pt x="0" y="146304"/>
                  </a:moveTo>
                  <a:cubicBezTo>
                    <a:pt x="0" y="65532"/>
                    <a:pt x="65532" y="0"/>
                    <a:pt x="146304" y="0"/>
                  </a:cubicBezTo>
                  <a:lnTo>
                    <a:pt x="4791456" y="0"/>
                  </a:lnTo>
                  <a:cubicBezTo>
                    <a:pt x="4872228" y="0"/>
                    <a:pt x="4937760" y="65532"/>
                    <a:pt x="4937760" y="146304"/>
                  </a:cubicBezTo>
                  <a:lnTo>
                    <a:pt x="4937760" y="1225296"/>
                  </a:lnTo>
                  <a:cubicBezTo>
                    <a:pt x="4937760" y="1306068"/>
                    <a:pt x="4872228" y="1371600"/>
                    <a:pt x="4791456" y="1371600"/>
                  </a:cubicBezTo>
                  <a:lnTo>
                    <a:pt x="146304" y="1371600"/>
                  </a:lnTo>
                  <a:cubicBezTo>
                    <a:pt x="65532" y="1371600"/>
                    <a:pt x="0" y="1306068"/>
                    <a:pt x="0" y="1225296"/>
                  </a:cubicBezTo>
                  <a:close/>
                </a:path>
              </a:pathLst>
            </a:custGeom>
            <a:solidFill>
              <a:srgbClr val="F3F6FD"/>
            </a:solidFill>
          </p:spPr>
        </p:sp>
      </p:grpSp>
      <p:grpSp>
        <p:nvGrpSpPr>
          <p:cNvPr name="Group 28" id="28"/>
          <p:cNvGrpSpPr/>
          <p:nvPr/>
        </p:nvGrpSpPr>
        <p:grpSpPr>
          <a:xfrm rot="0">
            <a:off x="12961620" y="4594860"/>
            <a:ext cx="3703320" cy="1028700"/>
            <a:chOff x="0" y="0"/>
            <a:chExt cx="4937760" cy="1371600"/>
          </a:xfrm>
        </p:grpSpPr>
        <p:sp>
          <p:nvSpPr>
            <p:cNvPr name="Freeform 29" id="29"/>
            <p:cNvSpPr/>
            <p:nvPr/>
          </p:nvSpPr>
          <p:spPr>
            <a:xfrm flipH="false" flipV="false" rot="0">
              <a:off x="0" y="0"/>
              <a:ext cx="4937760" cy="1371600"/>
            </a:xfrm>
            <a:custGeom>
              <a:avLst/>
              <a:gdLst/>
              <a:ahLst/>
              <a:cxnLst/>
              <a:rect r="r" b="b" t="t" l="l"/>
              <a:pathLst>
                <a:path h="1371600" w="4937760">
                  <a:moveTo>
                    <a:pt x="0" y="0"/>
                  </a:moveTo>
                  <a:lnTo>
                    <a:pt x="4937760" y="0"/>
                  </a:lnTo>
                  <a:lnTo>
                    <a:pt x="4937760" y="1371600"/>
                  </a:lnTo>
                  <a:lnTo>
                    <a:pt x="0" y="1371600"/>
                  </a:lnTo>
                  <a:close/>
                </a:path>
              </a:pathLst>
            </a:custGeom>
            <a:blipFill>
              <a:blip r:embed="rId3">
                <a:alphaModFix amt="0"/>
              </a:blip>
              <a:stretch>
                <a:fillRect l="0" t="-20146" r="0" b="-20146"/>
              </a:stretch>
            </a:blipFill>
          </p:spPr>
        </p:sp>
        <p:sp>
          <p:nvSpPr>
            <p:cNvPr name="TextBox 30" id="30"/>
            <p:cNvSpPr txBox="true"/>
            <p:nvPr/>
          </p:nvSpPr>
          <p:spPr>
            <a:xfrm>
              <a:off x="0" y="-19050"/>
              <a:ext cx="4937760" cy="1390650"/>
            </a:xfrm>
            <a:prstGeom prst="rect">
              <a:avLst/>
            </a:prstGeom>
          </p:spPr>
          <p:txBody>
            <a:bodyPr anchor="ctr" rtlCol="false" tIns="0" lIns="0" bIns="0" rIns="0"/>
            <a:lstStyle/>
            <a:p>
              <a:pPr algn="ctr">
                <a:lnSpc>
                  <a:spcPts val="3299"/>
                </a:lnSpc>
              </a:pPr>
              <a:r>
                <a:rPr lang="en-US" sz="2749" b="true">
                  <a:solidFill>
                    <a:srgbClr val="1E2761"/>
                  </a:solidFill>
                  <a:latin typeface="Arimo Bold"/>
                  <a:ea typeface="Arimo Bold"/>
                  <a:cs typeface="Arimo Bold"/>
                  <a:sym typeface="Arimo Bold"/>
                </a:rPr>
                <a:t>Ms. R. Aruna</a:t>
              </a:r>
            </a:p>
          </p:txBody>
        </p:sp>
      </p:grpSp>
      <p:grpSp>
        <p:nvGrpSpPr>
          <p:cNvPr name="Group 31" id="31"/>
          <p:cNvGrpSpPr/>
          <p:nvPr/>
        </p:nvGrpSpPr>
        <p:grpSpPr>
          <a:xfrm rot="0">
            <a:off x="822960" y="6172200"/>
            <a:ext cx="15910560" cy="2136854"/>
            <a:chOff x="0" y="0"/>
            <a:chExt cx="21214080" cy="2849138"/>
          </a:xfrm>
        </p:grpSpPr>
        <p:sp>
          <p:nvSpPr>
            <p:cNvPr name="Freeform 32" id="32"/>
            <p:cNvSpPr/>
            <p:nvPr/>
          </p:nvSpPr>
          <p:spPr>
            <a:xfrm flipH="false" flipV="false" rot="0">
              <a:off x="0" y="0"/>
              <a:ext cx="21214080" cy="2849138"/>
            </a:xfrm>
            <a:custGeom>
              <a:avLst/>
              <a:gdLst/>
              <a:ahLst/>
              <a:cxnLst/>
              <a:rect r="r" b="b" t="t" l="l"/>
              <a:pathLst>
                <a:path h="2849138" w="21214080">
                  <a:moveTo>
                    <a:pt x="0" y="0"/>
                  </a:moveTo>
                  <a:lnTo>
                    <a:pt x="21214080" y="0"/>
                  </a:lnTo>
                  <a:lnTo>
                    <a:pt x="21214080" y="2849138"/>
                  </a:lnTo>
                  <a:lnTo>
                    <a:pt x="0" y="2849138"/>
                  </a:lnTo>
                  <a:close/>
                </a:path>
              </a:pathLst>
            </a:custGeom>
            <a:blipFill>
              <a:blip r:embed="rId3">
                <a:alphaModFix amt="0"/>
              </a:blip>
              <a:stretch>
                <a:fillRect l="0" t="-119406" r="0" b="-70756"/>
              </a:stretch>
            </a:blipFill>
          </p:spPr>
        </p:sp>
        <p:sp>
          <p:nvSpPr>
            <p:cNvPr name="TextBox 33" id="33"/>
            <p:cNvSpPr txBox="true"/>
            <p:nvPr/>
          </p:nvSpPr>
          <p:spPr>
            <a:xfrm>
              <a:off x="0" y="-123825"/>
              <a:ext cx="21214080" cy="2972963"/>
            </a:xfrm>
            <a:prstGeom prst="rect">
              <a:avLst/>
            </a:prstGeom>
          </p:spPr>
          <p:txBody>
            <a:bodyPr anchor="ctr" rtlCol="false" tIns="0" lIns="0" bIns="0" rIns="0"/>
            <a:lstStyle/>
            <a:p>
              <a:pPr algn="l">
                <a:lnSpc>
                  <a:spcPts val="4239"/>
                </a:lnSpc>
              </a:pPr>
              <a:r>
                <a:rPr lang="en-US" sz="2649">
                  <a:solidFill>
                    <a:srgbClr val="1B1B2F"/>
                  </a:solidFill>
                  <a:latin typeface="Arimo"/>
                  <a:ea typeface="Arimo"/>
                  <a:cs typeface="Arimo"/>
                  <a:sym typeface="Arimo"/>
                </a:rPr>
                <a:t>for their encouragement, constructive feedback, and expert recommendations, which will help us improve the quality of our project. We also express our sincere thanks to our project guide, the faculty members, and the Department of Computer Applications, PSG College of Technology, for their continuous support and guidance throughout this project.</a:t>
              </a:r>
            </a:p>
          </p:txBody>
        </p:sp>
      </p:grpSp>
      <p:grpSp>
        <p:nvGrpSpPr>
          <p:cNvPr name="Group 34" id="34"/>
          <p:cNvGrpSpPr/>
          <p:nvPr/>
        </p:nvGrpSpPr>
        <p:grpSpPr>
          <a:xfrm rot="0">
            <a:off x="822960" y="7338060"/>
            <a:ext cx="15910560" cy="1234440"/>
            <a:chOff x="0" y="0"/>
            <a:chExt cx="21214080" cy="1645920"/>
          </a:xfrm>
        </p:grpSpPr>
        <p:sp>
          <p:nvSpPr>
            <p:cNvPr name="Freeform 35" id="35"/>
            <p:cNvSpPr/>
            <p:nvPr/>
          </p:nvSpPr>
          <p:spPr>
            <a:xfrm flipH="false" flipV="false" rot="0">
              <a:off x="0" y="0"/>
              <a:ext cx="21214080" cy="1645920"/>
            </a:xfrm>
            <a:custGeom>
              <a:avLst/>
              <a:gdLst/>
              <a:ahLst/>
              <a:cxnLst/>
              <a:rect r="r" b="b" t="t" l="l"/>
              <a:pathLst>
                <a:path h="1645920" w="21214080">
                  <a:moveTo>
                    <a:pt x="0" y="0"/>
                  </a:moveTo>
                  <a:lnTo>
                    <a:pt x="21214080" y="0"/>
                  </a:lnTo>
                  <a:lnTo>
                    <a:pt x="21214080" y="1645920"/>
                  </a:lnTo>
                  <a:lnTo>
                    <a:pt x="0" y="1645920"/>
                  </a:lnTo>
                  <a:close/>
                </a:path>
              </a:pathLst>
            </a:custGeom>
            <a:blipFill>
              <a:blip r:embed="rId3">
                <a:alphaModFix amt="0"/>
              </a:blip>
              <a:stretch>
                <a:fillRect l="0" t="-201140" r="0" b="-201140"/>
              </a:stretch>
            </a:blipFill>
          </p:spPr>
        </p:sp>
        <p:sp>
          <p:nvSpPr>
            <p:cNvPr name="TextBox 36" id="36"/>
            <p:cNvSpPr txBox="true"/>
            <p:nvPr/>
          </p:nvSpPr>
          <p:spPr>
            <a:xfrm>
              <a:off x="0" y="-104775"/>
              <a:ext cx="21214080" cy="1750695"/>
            </a:xfrm>
            <a:prstGeom prst="rect">
              <a:avLst/>
            </a:prstGeom>
          </p:spPr>
          <p:txBody>
            <a:bodyPr anchor="ctr" rtlCol="false" tIns="0" lIns="0" bIns="0" rIns="0"/>
            <a:lstStyle/>
            <a:p>
              <a:pPr algn="l">
                <a:lnSpc>
                  <a:spcPts val="3919"/>
                </a:lnSpc>
              </a:pPr>
            </a:p>
          </p:txBody>
        </p:sp>
      </p:grpSp>
      <p:grpSp>
        <p:nvGrpSpPr>
          <p:cNvPr name="Group 37" id="37"/>
          <p:cNvGrpSpPr/>
          <p:nvPr/>
        </p:nvGrpSpPr>
        <p:grpSpPr>
          <a:xfrm rot="0">
            <a:off x="5829300" y="7772712"/>
            <a:ext cx="5486400" cy="2047944"/>
            <a:chOff x="0" y="0"/>
            <a:chExt cx="7315200" cy="2730591"/>
          </a:xfrm>
        </p:grpSpPr>
        <p:sp>
          <p:nvSpPr>
            <p:cNvPr name="Freeform 38" id="38"/>
            <p:cNvSpPr/>
            <p:nvPr/>
          </p:nvSpPr>
          <p:spPr>
            <a:xfrm flipH="false" flipV="false" rot="0">
              <a:off x="0" y="0"/>
              <a:ext cx="7315200" cy="2730591"/>
            </a:xfrm>
            <a:custGeom>
              <a:avLst/>
              <a:gdLst/>
              <a:ahLst/>
              <a:cxnLst/>
              <a:rect r="r" b="b" t="t" l="l"/>
              <a:pathLst>
                <a:path h="2730591" w="7315200">
                  <a:moveTo>
                    <a:pt x="0" y="0"/>
                  </a:moveTo>
                  <a:lnTo>
                    <a:pt x="7315200" y="0"/>
                  </a:lnTo>
                  <a:lnTo>
                    <a:pt x="7315200" y="2730591"/>
                  </a:lnTo>
                  <a:lnTo>
                    <a:pt x="0" y="2730591"/>
                  </a:lnTo>
                  <a:close/>
                </a:path>
              </a:pathLst>
            </a:custGeom>
            <a:blipFill>
              <a:blip r:embed="rId3">
                <a:alphaModFix amt="0"/>
              </a:blip>
              <a:stretch>
                <a:fillRect l="0" t="-38805" r="0" b="34405"/>
              </a:stretch>
            </a:blipFill>
          </p:spPr>
        </p:sp>
        <p:sp>
          <p:nvSpPr>
            <p:cNvPr name="TextBox 39" id="39"/>
            <p:cNvSpPr txBox="true"/>
            <p:nvPr/>
          </p:nvSpPr>
          <p:spPr>
            <a:xfrm>
              <a:off x="0" y="-9525"/>
              <a:ext cx="7315200" cy="2740116"/>
            </a:xfrm>
            <a:prstGeom prst="rect">
              <a:avLst/>
            </a:prstGeom>
          </p:spPr>
          <p:txBody>
            <a:bodyPr anchor="ctr" rtlCol="false" tIns="0" lIns="0" bIns="0" rIns="0"/>
            <a:lstStyle/>
            <a:p>
              <a:pPr algn="ctr">
                <a:lnSpc>
                  <a:spcPts val="3359"/>
                </a:lnSpc>
              </a:pPr>
              <a:r>
                <a:rPr lang="en-US" sz="2799" b="true">
                  <a:solidFill>
                    <a:srgbClr val="1E2761"/>
                  </a:solidFill>
                  <a:latin typeface="Cambria Bold"/>
                  <a:ea typeface="Cambria Bold"/>
                  <a:cs typeface="Cambria Bold"/>
                  <a:sym typeface="Cambria Bold"/>
                </a:rPr>
                <a:t>Thank You.</a:t>
              </a:r>
            </a:p>
          </p:txBody>
        </p:sp>
      </p:grpSp>
      <p:grpSp>
        <p:nvGrpSpPr>
          <p:cNvPr name="Group 40" id="40"/>
          <p:cNvGrpSpPr/>
          <p:nvPr/>
        </p:nvGrpSpPr>
        <p:grpSpPr>
          <a:xfrm rot="0">
            <a:off x="822960" y="9820656"/>
            <a:ext cx="12344400" cy="411480"/>
            <a:chOff x="0" y="0"/>
            <a:chExt cx="16459200" cy="548640"/>
          </a:xfrm>
        </p:grpSpPr>
        <p:sp>
          <p:nvSpPr>
            <p:cNvPr name="Freeform 41" id="41"/>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2" id="42"/>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43" id="43"/>
          <p:cNvGrpSpPr/>
          <p:nvPr/>
        </p:nvGrpSpPr>
        <p:grpSpPr>
          <a:xfrm rot="0">
            <a:off x="16915943" y="9820656"/>
            <a:ext cx="548640" cy="411480"/>
            <a:chOff x="0" y="0"/>
            <a:chExt cx="731520" cy="548640"/>
          </a:xfrm>
        </p:grpSpPr>
        <p:sp>
          <p:nvSpPr>
            <p:cNvPr name="Freeform 44" id="44"/>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45" id="45"/>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RECAP</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Project at a Glance</a:t>
              </a:r>
            </a:p>
          </p:txBody>
        </p:sp>
      </p:grpSp>
      <p:grpSp>
        <p:nvGrpSpPr>
          <p:cNvPr name="Group 8" id="8"/>
          <p:cNvGrpSpPr/>
          <p:nvPr/>
        </p:nvGrpSpPr>
        <p:grpSpPr>
          <a:xfrm rot="0">
            <a:off x="822960" y="2160270"/>
            <a:ext cx="9738360" cy="3291840"/>
            <a:chOff x="0" y="0"/>
            <a:chExt cx="12984480" cy="4389120"/>
          </a:xfrm>
        </p:grpSpPr>
        <p:sp>
          <p:nvSpPr>
            <p:cNvPr name="Freeform 9" id="9"/>
            <p:cNvSpPr/>
            <p:nvPr/>
          </p:nvSpPr>
          <p:spPr>
            <a:xfrm flipH="false" flipV="false" rot="0">
              <a:off x="0" y="0"/>
              <a:ext cx="12984480" cy="4389120"/>
            </a:xfrm>
            <a:custGeom>
              <a:avLst/>
              <a:gdLst/>
              <a:ahLst/>
              <a:cxnLst/>
              <a:rect r="r" b="b" t="t" l="l"/>
              <a:pathLst>
                <a:path h="4389120" w="12984480">
                  <a:moveTo>
                    <a:pt x="0" y="0"/>
                  </a:moveTo>
                  <a:lnTo>
                    <a:pt x="12984480" y="0"/>
                  </a:lnTo>
                  <a:lnTo>
                    <a:pt x="12984480" y="4389120"/>
                  </a:lnTo>
                  <a:lnTo>
                    <a:pt x="0" y="4389120"/>
                  </a:lnTo>
                  <a:close/>
                </a:path>
              </a:pathLst>
            </a:custGeom>
            <a:blipFill>
              <a:blip r:embed="rId3">
                <a:alphaModFix amt="0"/>
              </a:blip>
              <a:stretch>
                <a:fillRect l="0" t="-7643" r="0" b="-7643"/>
              </a:stretch>
            </a:blipFill>
          </p:spPr>
        </p:sp>
        <p:sp>
          <p:nvSpPr>
            <p:cNvPr name="TextBox 10" id="10"/>
            <p:cNvSpPr txBox="true"/>
            <p:nvPr/>
          </p:nvSpPr>
          <p:spPr>
            <a:xfrm>
              <a:off x="0" y="-142875"/>
              <a:ext cx="12984480" cy="4531995"/>
            </a:xfrm>
            <a:prstGeom prst="rect">
              <a:avLst/>
            </a:prstGeom>
          </p:spPr>
          <p:txBody>
            <a:bodyPr anchor="ctr" rtlCol="false" tIns="0" lIns="0" bIns="0" rIns="0"/>
            <a:lstStyle/>
            <a:p>
              <a:pPr algn="l">
                <a:lnSpc>
                  <a:spcPts val="4749"/>
                </a:lnSpc>
              </a:pPr>
              <a:r>
                <a:rPr lang="en-US" sz="2849">
                  <a:solidFill>
                    <a:srgbClr val="1B1B2F"/>
                  </a:solidFill>
                  <a:latin typeface="Arimo"/>
                  <a:ea typeface="Arimo"/>
                  <a:cs typeface="Arimo"/>
                  <a:sym typeface="Arimo"/>
                </a:rPr>
                <a:t>A web application that unifies appointment booking, automated reminders, and a patient's complete medical history across every hospital they visit — while integrating with the government-issued ID used to track a pregnancy through delivery and a child's immunization.</a:t>
              </a:r>
            </a:p>
          </p:txBody>
        </p:sp>
      </p:grpSp>
      <p:grpSp>
        <p:nvGrpSpPr>
          <p:cNvPr name="Group 11" id="11"/>
          <p:cNvGrpSpPr/>
          <p:nvPr/>
        </p:nvGrpSpPr>
        <p:grpSpPr>
          <a:xfrm rot="0">
            <a:off x="822960" y="5596128"/>
            <a:ext cx="8229600" cy="525797"/>
            <a:chOff x="0" y="0"/>
            <a:chExt cx="10972800" cy="701062"/>
          </a:xfrm>
        </p:grpSpPr>
        <p:sp>
          <p:nvSpPr>
            <p:cNvPr name="Freeform 12" id="12"/>
            <p:cNvSpPr/>
            <p:nvPr/>
          </p:nvSpPr>
          <p:spPr>
            <a:xfrm flipH="false" flipV="false" rot="0">
              <a:off x="0" y="0"/>
              <a:ext cx="10972800" cy="701062"/>
            </a:xfrm>
            <a:custGeom>
              <a:avLst/>
              <a:gdLst/>
              <a:ahLst/>
              <a:cxnLst/>
              <a:rect r="r" b="b" t="t" l="l"/>
              <a:pathLst>
                <a:path h="701062" w="10972800">
                  <a:moveTo>
                    <a:pt x="0" y="0"/>
                  </a:moveTo>
                  <a:lnTo>
                    <a:pt x="10972800" y="0"/>
                  </a:lnTo>
                  <a:lnTo>
                    <a:pt x="10972800" y="701062"/>
                  </a:lnTo>
                  <a:lnTo>
                    <a:pt x="0" y="701062"/>
                  </a:lnTo>
                  <a:close/>
                </a:path>
              </a:pathLst>
            </a:custGeom>
            <a:blipFill>
              <a:blip r:embed="rId3">
                <a:alphaModFix amt="0"/>
              </a:blip>
              <a:stretch>
                <a:fillRect l="0" t="-259322" r="0" b="-250624"/>
              </a:stretch>
            </a:blipFill>
          </p:spPr>
        </p:sp>
        <p:sp>
          <p:nvSpPr>
            <p:cNvPr name="TextBox 13" id="13"/>
            <p:cNvSpPr txBox="true"/>
            <p:nvPr/>
          </p:nvSpPr>
          <p:spPr>
            <a:xfrm>
              <a:off x="0" y="-19050"/>
              <a:ext cx="10972800" cy="720112"/>
            </a:xfrm>
            <a:prstGeom prst="rect">
              <a:avLst/>
            </a:prstGeom>
          </p:spPr>
          <p:txBody>
            <a:bodyPr anchor="ctr" rtlCol="false" tIns="0" lIns="0" bIns="0" rIns="0"/>
            <a:lstStyle/>
            <a:p>
              <a:pPr algn="l">
                <a:lnSpc>
                  <a:spcPts val="3119"/>
                </a:lnSpc>
              </a:pPr>
              <a:r>
                <a:rPr lang="en-US" sz="2599" b="true">
                  <a:solidFill>
                    <a:srgbClr val="1E2761"/>
                  </a:solidFill>
                  <a:latin typeface="Arimo Bold"/>
                  <a:ea typeface="Arimo Bold"/>
                  <a:cs typeface="Arimo Bold"/>
                  <a:sym typeface="Arimo Bold"/>
                </a:rPr>
                <a:t>Since the Zeroth Review</a:t>
              </a:r>
            </a:p>
          </p:txBody>
        </p:sp>
      </p:grpSp>
      <p:grpSp>
        <p:nvGrpSpPr>
          <p:cNvPr name="Group 14" id="14"/>
          <p:cNvGrpSpPr/>
          <p:nvPr/>
        </p:nvGrpSpPr>
        <p:grpSpPr>
          <a:xfrm rot="0">
            <a:off x="822960" y="6539103"/>
            <a:ext cx="9052560" cy="2227462"/>
            <a:chOff x="0" y="0"/>
            <a:chExt cx="12070080" cy="2969949"/>
          </a:xfrm>
        </p:grpSpPr>
        <p:sp>
          <p:nvSpPr>
            <p:cNvPr name="Freeform 15" id="15"/>
            <p:cNvSpPr/>
            <p:nvPr/>
          </p:nvSpPr>
          <p:spPr>
            <a:xfrm flipH="false" flipV="false" rot="0">
              <a:off x="0" y="0"/>
              <a:ext cx="12070080" cy="2969949"/>
            </a:xfrm>
            <a:custGeom>
              <a:avLst/>
              <a:gdLst/>
              <a:ahLst/>
              <a:cxnLst/>
              <a:rect r="r" b="b" t="t" l="l"/>
              <a:pathLst>
                <a:path h="2969949" w="12070080">
                  <a:moveTo>
                    <a:pt x="0" y="0"/>
                  </a:moveTo>
                  <a:lnTo>
                    <a:pt x="12070080" y="0"/>
                  </a:lnTo>
                  <a:lnTo>
                    <a:pt x="12070080" y="2969949"/>
                  </a:lnTo>
                  <a:lnTo>
                    <a:pt x="0" y="2969949"/>
                  </a:lnTo>
                  <a:close/>
                </a:path>
              </a:pathLst>
            </a:custGeom>
            <a:blipFill>
              <a:blip r:embed="rId3">
                <a:alphaModFix amt="0"/>
              </a:blip>
              <a:stretch>
                <a:fillRect l="0" t="-29927" r="0" b="-28450"/>
              </a:stretch>
            </a:blipFill>
          </p:spPr>
        </p:sp>
        <p:sp>
          <p:nvSpPr>
            <p:cNvPr name="TextBox 16" id="16"/>
            <p:cNvSpPr txBox="true"/>
            <p:nvPr/>
          </p:nvSpPr>
          <p:spPr>
            <a:xfrm>
              <a:off x="0" y="-114300"/>
              <a:ext cx="12070080" cy="3084249"/>
            </a:xfrm>
            <a:prstGeom prst="rect">
              <a:avLst/>
            </a:prstGeom>
          </p:spPr>
          <p:txBody>
            <a:bodyPr anchor="ctr" rtlCol="false" tIns="0" lIns="0" bIns="0" rIns="0"/>
            <a:lstStyle/>
            <a:p>
              <a:pPr algn="l" marL="506727" indent="-253363" lvl="1">
                <a:lnSpc>
                  <a:spcPts val="4367"/>
                </a:lnSpc>
                <a:buFont typeface="Arial"/>
                <a:buChar char="•"/>
              </a:pPr>
              <a:r>
                <a:rPr lang="en-US" sz="2799">
                  <a:solidFill>
                    <a:srgbClr val="1B1B2F"/>
                  </a:solidFill>
                  <a:latin typeface="Arimo"/>
                  <a:ea typeface="Arimo"/>
                  <a:cs typeface="Arimo"/>
                  <a:sym typeface="Arimo"/>
                </a:rPr>
                <a:t>Finalized the 4 system roles and their access levels</a:t>
              </a:r>
            </a:p>
            <a:p>
              <a:pPr algn="l" marL="506727" indent="-253363" lvl="1">
                <a:lnSpc>
                  <a:spcPts val="4367"/>
                </a:lnSpc>
                <a:buFont typeface="Arial"/>
                <a:buChar char="•"/>
              </a:pPr>
              <a:r>
                <a:rPr lang="en-US" sz="2799">
                  <a:solidFill>
                    <a:srgbClr val="1B1B2F"/>
                  </a:solidFill>
                  <a:latin typeface="Arimo"/>
                  <a:ea typeface="Arimo"/>
                  <a:cs typeface="Arimo"/>
                  <a:sym typeface="Arimo"/>
                </a:rPr>
                <a:t>Began module-wise implementation on the MERN stack</a:t>
              </a:r>
            </a:p>
            <a:p>
              <a:pPr algn="l" marL="506727" indent="-253363" lvl="1">
                <a:lnSpc>
                  <a:spcPts val="4367"/>
                </a:lnSpc>
                <a:buFont typeface="Arial"/>
                <a:buChar char="•"/>
              </a:pPr>
              <a:r>
                <a:rPr lang="en-US" sz="2799">
                  <a:solidFill>
                    <a:srgbClr val="1B1B2F"/>
                  </a:solidFill>
                  <a:latin typeface="Arimo"/>
                  <a:ea typeface="Arimo"/>
                  <a:cs typeface="Arimo"/>
                  <a:sym typeface="Arimo"/>
                </a:rPr>
                <a:t>5 of 8 proposed modules are now functional</a:t>
              </a:r>
            </a:p>
          </p:txBody>
        </p:sp>
      </p:grpSp>
      <p:grpSp>
        <p:nvGrpSpPr>
          <p:cNvPr name="Group 17" id="17"/>
          <p:cNvGrpSpPr/>
          <p:nvPr/>
        </p:nvGrpSpPr>
        <p:grpSpPr>
          <a:xfrm rot="0">
            <a:off x="11429543" y="1604772"/>
            <a:ext cx="6035040" cy="537922"/>
            <a:chOff x="0" y="0"/>
            <a:chExt cx="8046720" cy="717230"/>
          </a:xfrm>
        </p:grpSpPr>
        <p:sp>
          <p:nvSpPr>
            <p:cNvPr name="Freeform 18" id="18"/>
            <p:cNvSpPr/>
            <p:nvPr/>
          </p:nvSpPr>
          <p:spPr>
            <a:xfrm flipH="false" flipV="false" rot="0">
              <a:off x="0" y="0"/>
              <a:ext cx="8046720" cy="717230"/>
            </a:xfrm>
            <a:custGeom>
              <a:avLst/>
              <a:gdLst/>
              <a:ahLst/>
              <a:cxnLst/>
              <a:rect r="r" b="b" t="t" l="l"/>
              <a:pathLst>
                <a:path h="717230" w="8046720">
                  <a:moveTo>
                    <a:pt x="0" y="0"/>
                  </a:moveTo>
                  <a:lnTo>
                    <a:pt x="8046720" y="0"/>
                  </a:lnTo>
                  <a:lnTo>
                    <a:pt x="8046720" y="717230"/>
                  </a:lnTo>
                  <a:lnTo>
                    <a:pt x="0" y="717230"/>
                  </a:lnTo>
                  <a:close/>
                </a:path>
              </a:pathLst>
            </a:custGeom>
            <a:blipFill>
              <a:blip r:embed="rId3">
                <a:alphaModFix amt="0"/>
              </a:blip>
              <a:stretch>
                <a:fillRect l="0" t="-180358" r="0" b="-156852"/>
              </a:stretch>
            </a:blipFill>
          </p:spPr>
        </p:sp>
        <p:sp>
          <p:nvSpPr>
            <p:cNvPr name="TextBox 19" id="19"/>
            <p:cNvSpPr txBox="true"/>
            <p:nvPr/>
          </p:nvSpPr>
          <p:spPr>
            <a:xfrm>
              <a:off x="0" y="-19050"/>
              <a:ext cx="8046720" cy="736280"/>
            </a:xfrm>
            <a:prstGeom prst="rect">
              <a:avLst/>
            </a:prstGeom>
          </p:spPr>
          <p:txBody>
            <a:bodyPr anchor="ctr" rtlCol="false" tIns="0" lIns="0" bIns="0" rIns="0"/>
            <a:lstStyle/>
            <a:p>
              <a:pPr algn="l">
                <a:lnSpc>
                  <a:spcPts val="3179"/>
                </a:lnSpc>
              </a:pPr>
              <a:r>
                <a:rPr lang="en-US" b="true" sz="2649" spc="289">
                  <a:solidFill>
                    <a:srgbClr val="000000"/>
                  </a:solidFill>
                  <a:latin typeface="Arimo Bold"/>
                  <a:ea typeface="Arimo Bold"/>
                  <a:cs typeface="Arimo Bold"/>
                  <a:sym typeface="Arimo Bold"/>
                </a:rPr>
                <a:t>PROPOSED MODULES</a:t>
              </a:r>
            </a:p>
          </p:txBody>
        </p:sp>
      </p:grpSp>
      <p:grpSp>
        <p:nvGrpSpPr>
          <p:cNvPr name="Group 20" id="20"/>
          <p:cNvGrpSpPr/>
          <p:nvPr/>
        </p:nvGrpSpPr>
        <p:grpSpPr>
          <a:xfrm rot="0">
            <a:off x="11384280" y="2606040"/>
            <a:ext cx="6035040" cy="850392"/>
            <a:chOff x="0" y="0"/>
            <a:chExt cx="8046720" cy="1133856"/>
          </a:xfrm>
        </p:grpSpPr>
        <p:sp>
          <p:nvSpPr>
            <p:cNvPr name="Freeform 21" id="21"/>
            <p:cNvSpPr/>
            <p:nvPr/>
          </p:nvSpPr>
          <p:spPr>
            <a:xfrm flipH="false" flipV="false" rot="0">
              <a:off x="0" y="0"/>
              <a:ext cx="8046720" cy="1133856"/>
            </a:xfrm>
            <a:custGeom>
              <a:avLst/>
              <a:gdLst/>
              <a:ahLst/>
              <a:cxnLst/>
              <a:rect r="r" b="b" t="t" l="l"/>
              <a:pathLst>
                <a:path h="1133856" w="8046720">
                  <a:moveTo>
                    <a:pt x="0" y="128016"/>
                  </a:moveTo>
                  <a:cubicBezTo>
                    <a:pt x="0" y="57277"/>
                    <a:pt x="57277" y="0"/>
                    <a:pt x="128016" y="0"/>
                  </a:cubicBezTo>
                  <a:lnTo>
                    <a:pt x="7918704" y="0"/>
                  </a:lnTo>
                  <a:cubicBezTo>
                    <a:pt x="7989443" y="0"/>
                    <a:pt x="8046720" y="57277"/>
                    <a:pt x="8046720" y="128016"/>
                  </a:cubicBezTo>
                  <a:lnTo>
                    <a:pt x="8046720" y="1005840"/>
                  </a:lnTo>
                  <a:cubicBezTo>
                    <a:pt x="8046720" y="1076579"/>
                    <a:pt x="7989443" y="1133856"/>
                    <a:pt x="7918704" y="1133856"/>
                  </a:cubicBezTo>
                  <a:lnTo>
                    <a:pt x="128016" y="1133856"/>
                  </a:lnTo>
                  <a:cubicBezTo>
                    <a:pt x="57277" y="1133856"/>
                    <a:pt x="0" y="1076579"/>
                    <a:pt x="0" y="1005840"/>
                  </a:cubicBezTo>
                  <a:close/>
                </a:path>
              </a:pathLst>
            </a:custGeom>
            <a:solidFill>
              <a:srgbClr val="F3F6FD"/>
            </a:solidFill>
          </p:spPr>
        </p:sp>
      </p:grpSp>
      <p:grpSp>
        <p:nvGrpSpPr>
          <p:cNvPr name="Group 22" id="22"/>
          <p:cNvGrpSpPr/>
          <p:nvPr/>
        </p:nvGrpSpPr>
        <p:grpSpPr>
          <a:xfrm rot="0">
            <a:off x="11727180" y="2606040"/>
            <a:ext cx="5349240" cy="850392"/>
            <a:chOff x="0" y="0"/>
            <a:chExt cx="7132320" cy="1133856"/>
          </a:xfrm>
        </p:grpSpPr>
        <p:sp>
          <p:nvSpPr>
            <p:cNvPr name="Freeform 23" id="23"/>
            <p:cNvSpPr/>
            <p:nvPr/>
          </p:nvSpPr>
          <p:spPr>
            <a:xfrm flipH="false" flipV="false" rot="0">
              <a:off x="0" y="0"/>
              <a:ext cx="7132320" cy="1133856"/>
            </a:xfrm>
            <a:custGeom>
              <a:avLst/>
              <a:gdLst/>
              <a:ahLst/>
              <a:cxnLst/>
              <a:rect r="r" b="b" t="t" l="l"/>
              <a:pathLst>
                <a:path h="1133856" w="7132320">
                  <a:moveTo>
                    <a:pt x="0" y="0"/>
                  </a:moveTo>
                  <a:lnTo>
                    <a:pt x="7132320" y="0"/>
                  </a:lnTo>
                  <a:lnTo>
                    <a:pt x="7132320" y="1133856"/>
                  </a:lnTo>
                  <a:lnTo>
                    <a:pt x="0" y="1133856"/>
                  </a:lnTo>
                  <a:close/>
                </a:path>
              </a:pathLst>
            </a:custGeom>
            <a:blipFill>
              <a:blip r:embed="rId3">
                <a:alphaModFix amt="0"/>
              </a:blip>
              <a:stretch>
                <a:fillRect l="0" t="-72567" r="0" b="-72567"/>
              </a:stretch>
            </a:blipFill>
          </p:spPr>
        </p:sp>
        <p:sp>
          <p:nvSpPr>
            <p:cNvPr name="TextBox 24" id="24"/>
            <p:cNvSpPr txBox="true"/>
            <p:nvPr/>
          </p:nvSpPr>
          <p:spPr>
            <a:xfrm>
              <a:off x="0" y="-19050"/>
              <a:ext cx="7132320" cy="1152906"/>
            </a:xfrm>
            <a:prstGeom prst="rect">
              <a:avLst/>
            </a:prstGeom>
          </p:spPr>
          <p:txBody>
            <a:bodyPr anchor="ctr" rtlCol="false" tIns="0" lIns="0" bIns="0" rIns="0"/>
            <a:lstStyle/>
            <a:p>
              <a:pPr algn="l">
                <a:lnSpc>
                  <a:spcPts val="3179"/>
                </a:lnSpc>
              </a:pPr>
              <a:r>
                <a:rPr lang="en-US" sz="2649">
                  <a:solidFill>
                    <a:srgbClr val="1B1B2F"/>
                  </a:solidFill>
                  <a:latin typeface="Arimo"/>
                  <a:ea typeface="Arimo"/>
                  <a:cs typeface="Arimo"/>
                  <a:sym typeface="Arimo"/>
                </a:rPr>
                <a:t>Appointment booking</a:t>
              </a:r>
            </a:p>
          </p:txBody>
        </p:sp>
      </p:grpSp>
      <p:grpSp>
        <p:nvGrpSpPr>
          <p:cNvPr name="Group 25" id="25"/>
          <p:cNvGrpSpPr/>
          <p:nvPr/>
        </p:nvGrpSpPr>
        <p:grpSpPr>
          <a:xfrm rot="0">
            <a:off x="11384280" y="3675888"/>
            <a:ext cx="6035040" cy="850392"/>
            <a:chOff x="0" y="0"/>
            <a:chExt cx="8046720" cy="1133856"/>
          </a:xfrm>
        </p:grpSpPr>
        <p:sp>
          <p:nvSpPr>
            <p:cNvPr name="Freeform 26" id="26"/>
            <p:cNvSpPr/>
            <p:nvPr/>
          </p:nvSpPr>
          <p:spPr>
            <a:xfrm flipH="false" flipV="false" rot="0">
              <a:off x="0" y="0"/>
              <a:ext cx="8046720" cy="1133856"/>
            </a:xfrm>
            <a:custGeom>
              <a:avLst/>
              <a:gdLst/>
              <a:ahLst/>
              <a:cxnLst/>
              <a:rect r="r" b="b" t="t" l="l"/>
              <a:pathLst>
                <a:path h="1133856" w="8046720">
                  <a:moveTo>
                    <a:pt x="0" y="128016"/>
                  </a:moveTo>
                  <a:cubicBezTo>
                    <a:pt x="0" y="57277"/>
                    <a:pt x="57277" y="0"/>
                    <a:pt x="128016" y="0"/>
                  </a:cubicBezTo>
                  <a:lnTo>
                    <a:pt x="7918704" y="0"/>
                  </a:lnTo>
                  <a:cubicBezTo>
                    <a:pt x="7989443" y="0"/>
                    <a:pt x="8046720" y="57277"/>
                    <a:pt x="8046720" y="128016"/>
                  </a:cubicBezTo>
                  <a:lnTo>
                    <a:pt x="8046720" y="1005840"/>
                  </a:lnTo>
                  <a:cubicBezTo>
                    <a:pt x="8046720" y="1076579"/>
                    <a:pt x="7989443" y="1133856"/>
                    <a:pt x="7918704" y="1133856"/>
                  </a:cubicBezTo>
                  <a:lnTo>
                    <a:pt x="128016" y="1133856"/>
                  </a:lnTo>
                  <a:cubicBezTo>
                    <a:pt x="57277" y="1133856"/>
                    <a:pt x="0" y="1076579"/>
                    <a:pt x="0" y="1005840"/>
                  </a:cubicBezTo>
                  <a:close/>
                </a:path>
              </a:pathLst>
            </a:custGeom>
            <a:solidFill>
              <a:srgbClr val="F3F6FD"/>
            </a:solidFill>
          </p:spPr>
        </p:sp>
      </p:grpSp>
      <p:grpSp>
        <p:nvGrpSpPr>
          <p:cNvPr name="Group 27" id="27"/>
          <p:cNvGrpSpPr/>
          <p:nvPr/>
        </p:nvGrpSpPr>
        <p:grpSpPr>
          <a:xfrm rot="0">
            <a:off x="11727180" y="3675888"/>
            <a:ext cx="5349240" cy="850392"/>
            <a:chOff x="0" y="0"/>
            <a:chExt cx="7132320" cy="1133856"/>
          </a:xfrm>
        </p:grpSpPr>
        <p:sp>
          <p:nvSpPr>
            <p:cNvPr name="Freeform 28" id="28"/>
            <p:cNvSpPr/>
            <p:nvPr/>
          </p:nvSpPr>
          <p:spPr>
            <a:xfrm flipH="false" flipV="false" rot="0">
              <a:off x="0" y="0"/>
              <a:ext cx="7132320" cy="1133856"/>
            </a:xfrm>
            <a:custGeom>
              <a:avLst/>
              <a:gdLst/>
              <a:ahLst/>
              <a:cxnLst/>
              <a:rect r="r" b="b" t="t" l="l"/>
              <a:pathLst>
                <a:path h="1133856" w="7132320">
                  <a:moveTo>
                    <a:pt x="0" y="0"/>
                  </a:moveTo>
                  <a:lnTo>
                    <a:pt x="7132320" y="0"/>
                  </a:lnTo>
                  <a:lnTo>
                    <a:pt x="7132320" y="1133856"/>
                  </a:lnTo>
                  <a:lnTo>
                    <a:pt x="0" y="1133856"/>
                  </a:lnTo>
                  <a:close/>
                </a:path>
              </a:pathLst>
            </a:custGeom>
            <a:blipFill>
              <a:blip r:embed="rId3">
                <a:alphaModFix amt="0"/>
              </a:blip>
              <a:stretch>
                <a:fillRect l="0" t="-72567" r="0" b="-72567"/>
              </a:stretch>
            </a:blipFill>
          </p:spPr>
        </p:sp>
        <p:sp>
          <p:nvSpPr>
            <p:cNvPr name="TextBox 29" id="29"/>
            <p:cNvSpPr txBox="true"/>
            <p:nvPr/>
          </p:nvSpPr>
          <p:spPr>
            <a:xfrm>
              <a:off x="0" y="-19050"/>
              <a:ext cx="7132320" cy="1152906"/>
            </a:xfrm>
            <a:prstGeom prst="rect">
              <a:avLst/>
            </a:prstGeom>
          </p:spPr>
          <p:txBody>
            <a:bodyPr anchor="ctr" rtlCol="false" tIns="0" lIns="0" bIns="0" rIns="0"/>
            <a:lstStyle/>
            <a:p>
              <a:pPr algn="l">
                <a:lnSpc>
                  <a:spcPts val="3179"/>
                </a:lnSpc>
              </a:pPr>
              <a:r>
                <a:rPr lang="en-US" sz="2649">
                  <a:solidFill>
                    <a:srgbClr val="1B1B2F"/>
                  </a:solidFill>
                  <a:latin typeface="Arimo"/>
                  <a:ea typeface="Arimo"/>
                  <a:cs typeface="Arimo"/>
                  <a:sym typeface="Arimo"/>
                </a:rPr>
                <a:t>Automated reminders</a:t>
              </a:r>
            </a:p>
          </p:txBody>
        </p:sp>
      </p:grpSp>
      <p:grpSp>
        <p:nvGrpSpPr>
          <p:cNvPr name="Group 30" id="30"/>
          <p:cNvGrpSpPr/>
          <p:nvPr/>
        </p:nvGrpSpPr>
        <p:grpSpPr>
          <a:xfrm rot="0">
            <a:off x="11384280" y="4745736"/>
            <a:ext cx="6035040" cy="850392"/>
            <a:chOff x="0" y="0"/>
            <a:chExt cx="8046720" cy="1133856"/>
          </a:xfrm>
        </p:grpSpPr>
        <p:sp>
          <p:nvSpPr>
            <p:cNvPr name="Freeform 31" id="31"/>
            <p:cNvSpPr/>
            <p:nvPr/>
          </p:nvSpPr>
          <p:spPr>
            <a:xfrm flipH="false" flipV="false" rot="0">
              <a:off x="0" y="0"/>
              <a:ext cx="8046720" cy="1133856"/>
            </a:xfrm>
            <a:custGeom>
              <a:avLst/>
              <a:gdLst/>
              <a:ahLst/>
              <a:cxnLst/>
              <a:rect r="r" b="b" t="t" l="l"/>
              <a:pathLst>
                <a:path h="1133856" w="8046720">
                  <a:moveTo>
                    <a:pt x="0" y="128016"/>
                  </a:moveTo>
                  <a:cubicBezTo>
                    <a:pt x="0" y="57277"/>
                    <a:pt x="57277" y="0"/>
                    <a:pt x="128016" y="0"/>
                  </a:cubicBezTo>
                  <a:lnTo>
                    <a:pt x="7918704" y="0"/>
                  </a:lnTo>
                  <a:cubicBezTo>
                    <a:pt x="7989443" y="0"/>
                    <a:pt x="8046720" y="57277"/>
                    <a:pt x="8046720" y="128016"/>
                  </a:cubicBezTo>
                  <a:lnTo>
                    <a:pt x="8046720" y="1005840"/>
                  </a:lnTo>
                  <a:cubicBezTo>
                    <a:pt x="8046720" y="1076579"/>
                    <a:pt x="7989443" y="1133856"/>
                    <a:pt x="7918704" y="1133856"/>
                  </a:cubicBezTo>
                  <a:lnTo>
                    <a:pt x="128016" y="1133856"/>
                  </a:lnTo>
                  <a:cubicBezTo>
                    <a:pt x="57277" y="1133856"/>
                    <a:pt x="0" y="1076579"/>
                    <a:pt x="0" y="1005840"/>
                  </a:cubicBezTo>
                  <a:close/>
                </a:path>
              </a:pathLst>
            </a:custGeom>
            <a:solidFill>
              <a:srgbClr val="F3F6FD"/>
            </a:solidFill>
          </p:spPr>
        </p:sp>
      </p:grpSp>
      <p:grpSp>
        <p:nvGrpSpPr>
          <p:cNvPr name="Group 32" id="32"/>
          <p:cNvGrpSpPr/>
          <p:nvPr/>
        </p:nvGrpSpPr>
        <p:grpSpPr>
          <a:xfrm rot="0">
            <a:off x="11727180" y="4745736"/>
            <a:ext cx="5349240" cy="850392"/>
            <a:chOff x="0" y="0"/>
            <a:chExt cx="7132320" cy="1133856"/>
          </a:xfrm>
        </p:grpSpPr>
        <p:sp>
          <p:nvSpPr>
            <p:cNvPr name="Freeform 33" id="33"/>
            <p:cNvSpPr/>
            <p:nvPr/>
          </p:nvSpPr>
          <p:spPr>
            <a:xfrm flipH="false" flipV="false" rot="0">
              <a:off x="0" y="0"/>
              <a:ext cx="7132320" cy="1133856"/>
            </a:xfrm>
            <a:custGeom>
              <a:avLst/>
              <a:gdLst/>
              <a:ahLst/>
              <a:cxnLst/>
              <a:rect r="r" b="b" t="t" l="l"/>
              <a:pathLst>
                <a:path h="1133856" w="7132320">
                  <a:moveTo>
                    <a:pt x="0" y="0"/>
                  </a:moveTo>
                  <a:lnTo>
                    <a:pt x="7132320" y="0"/>
                  </a:lnTo>
                  <a:lnTo>
                    <a:pt x="7132320" y="1133856"/>
                  </a:lnTo>
                  <a:lnTo>
                    <a:pt x="0" y="1133856"/>
                  </a:lnTo>
                  <a:close/>
                </a:path>
              </a:pathLst>
            </a:custGeom>
            <a:blipFill>
              <a:blip r:embed="rId3">
                <a:alphaModFix amt="0"/>
              </a:blip>
              <a:stretch>
                <a:fillRect l="0" t="-72567" r="0" b="-72567"/>
              </a:stretch>
            </a:blipFill>
          </p:spPr>
        </p:sp>
        <p:sp>
          <p:nvSpPr>
            <p:cNvPr name="TextBox 34" id="34"/>
            <p:cNvSpPr txBox="true"/>
            <p:nvPr/>
          </p:nvSpPr>
          <p:spPr>
            <a:xfrm>
              <a:off x="0" y="-19050"/>
              <a:ext cx="7132320" cy="1152906"/>
            </a:xfrm>
            <a:prstGeom prst="rect">
              <a:avLst/>
            </a:prstGeom>
          </p:spPr>
          <p:txBody>
            <a:bodyPr anchor="ctr" rtlCol="false" tIns="0" lIns="0" bIns="0" rIns="0"/>
            <a:lstStyle/>
            <a:p>
              <a:pPr algn="l">
                <a:lnSpc>
                  <a:spcPts val="3179"/>
                </a:lnSpc>
              </a:pPr>
              <a:r>
                <a:rPr lang="en-US" sz="2649">
                  <a:solidFill>
                    <a:srgbClr val="1B1B2F"/>
                  </a:solidFill>
                  <a:latin typeface="Arimo"/>
                  <a:ea typeface="Arimo"/>
                  <a:cs typeface="Arimo"/>
                  <a:sym typeface="Arimo"/>
                </a:rPr>
                <a:t>Unified medical history</a:t>
              </a:r>
            </a:p>
          </p:txBody>
        </p:sp>
      </p:grpSp>
      <p:grpSp>
        <p:nvGrpSpPr>
          <p:cNvPr name="Group 35" id="35"/>
          <p:cNvGrpSpPr/>
          <p:nvPr/>
        </p:nvGrpSpPr>
        <p:grpSpPr>
          <a:xfrm rot="0">
            <a:off x="11384280" y="5815584"/>
            <a:ext cx="6035040" cy="850392"/>
            <a:chOff x="0" y="0"/>
            <a:chExt cx="8046720" cy="1133856"/>
          </a:xfrm>
        </p:grpSpPr>
        <p:sp>
          <p:nvSpPr>
            <p:cNvPr name="Freeform 36" id="36"/>
            <p:cNvSpPr/>
            <p:nvPr/>
          </p:nvSpPr>
          <p:spPr>
            <a:xfrm flipH="false" flipV="false" rot="0">
              <a:off x="0" y="0"/>
              <a:ext cx="8046720" cy="1133856"/>
            </a:xfrm>
            <a:custGeom>
              <a:avLst/>
              <a:gdLst/>
              <a:ahLst/>
              <a:cxnLst/>
              <a:rect r="r" b="b" t="t" l="l"/>
              <a:pathLst>
                <a:path h="1133856" w="8046720">
                  <a:moveTo>
                    <a:pt x="0" y="128016"/>
                  </a:moveTo>
                  <a:cubicBezTo>
                    <a:pt x="0" y="57277"/>
                    <a:pt x="57277" y="0"/>
                    <a:pt x="128016" y="0"/>
                  </a:cubicBezTo>
                  <a:lnTo>
                    <a:pt x="7918704" y="0"/>
                  </a:lnTo>
                  <a:cubicBezTo>
                    <a:pt x="7989443" y="0"/>
                    <a:pt x="8046720" y="57277"/>
                    <a:pt x="8046720" y="128016"/>
                  </a:cubicBezTo>
                  <a:lnTo>
                    <a:pt x="8046720" y="1005840"/>
                  </a:lnTo>
                  <a:cubicBezTo>
                    <a:pt x="8046720" y="1076579"/>
                    <a:pt x="7989443" y="1133856"/>
                    <a:pt x="7918704" y="1133856"/>
                  </a:cubicBezTo>
                  <a:lnTo>
                    <a:pt x="128016" y="1133856"/>
                  </a:lnTo>
                  <a:cubicBezTo>
                    <a:pt x="57277" y="1133856"/>
                    <a:pt x="0" y="1076579"/>
                    <a:pt x="0" y="1005840"/>
                  </a:cubicBezTo>
                  <a:close/>
                </a:path>
              </a:pathLst>
            </a:custGeom>
            <a:solidFill>
              <a:srgbClr val="F3F6FD"/>
            </a:solidFill>
          </p:spPr>
        </p:sp>
      </p:grpSp>
      <p:grpSp>
        <p:nvGrpSpPr>
          <p:cNvPr name="Group 37" id="37"/>
          <p:cNvGrpSpPr/>
          <p:nvPr/>
        </p:nvGrpSpPr>
        <p:grpSpPr>
          <a:xfrm rot="0">
            <a:off x="11727180" y="5815584"/>
            <a:ext cx="5349240" cy="850392"/>
            <a:chOff x="0" y="0"/>
            <a:chExt cx="7132320" cy="1133856"/>
          </a:xfrm>
        </p:grpSpPr>
        <p:sp>
          <p:nvSpPr>
            <p:cNvPr name="Freeform 38" id="38"/>
            <p:cNvSpPr/>
            <p:nvPr/>
          </p:nvSpPr>
          <p:spPr>
            <a:xfrm flipH="false" flipV="false" rot="0">
              <a:off x="0" y="0"/>
              <a:ext cx="7132320" cy="1133856"/>
            </a:xfrm>
            <a:custGeom>
              <a:avLst/>
              <a:gdLst/>
              <a:ahLst/>
              <a:cxnLst/>
              <a:rect r="r" b="b" t="t" l="l"/>
              <a:pathLst>
                <a:path h="1133856" w="7132320">
                  <a:moveTo>
                    <a:pt x="0" y="0"/>
                  </a:moveTo>
                  <a:lnTo>
                    <a:pt x="7132320" y="0"/>
                  </a:lnTo>
                  <a:lnTo>
                    <a:pt x="7132320" y="1133856"/>
                  </a:lnTo>
                  <a:lnTo>
                    <a:pt x="0" y="1133856"/>
                  </a:lnTo>
                  <a:close/>
                </a:path>
              </a:pathLst>
            </a:custGeom>
            <a:blipFill>
              <a:blip r:embed="rId3">
                <a:alphaModFix amt="0"/>
              </a:blip>
              <a:stretch>
                <a:fillRect l="0" t="-72567" r="0" b="-72567"/>
              </a:stretch>
            </a:blipFill>
          </p:spPr>
        </p:sp>
        <p:sp>
          <p:nvSpPr>
            <p:cNvPr name="TextBox 39" id="39"/>
            <p:cNvSpPr txBox="true"/>
            <p:nvPr/>
          </p:nvSpPr>
          <p:spPr>
            <a:xfrm>
              <a:off x="0" y="-19050"/>
              <a:ext cx="7132320" cy="1152906"/>
            </a:xfrm>
            <a:prstGeom prst="rect">
              <a:avLst/>
            </a:prstGeom>
          </p:spPr>
          <p:txBody>
            <a:bodyPr anchor="ctr" rtlCol="false" tIns="0" lIns="0" bIns="0" rIns="0"/>
            <a:lstStyle/>
            <a:p>
              <a:pPr algn="l">
                <a:lnSpc>
                  <a:spcPts val="3179"/>
                </a:lnSpc>
              </a:pPr>
              <a:r>
                <a:rPr lang="en-US" sz="2649">
                  <a:solidFill>
                    <a:srgbClr val="1B1B2F"/>
                  </a:solidFill>
                  <a:latin typeface="Arimo"/>
                  <a:ea typeface="Arimo"/>
                  <a:cs typeface="Arimo"/>
                  <a:sym typeface="Arimo"/>
                </a:rPr>
                <a:t>Emergency data transfer</a:t>
              </a:r>
            </a:p>
          </p:txBody>
        </p:sp>
      </p:grpSp>
      <p:grpSp>
        <p:nvGrpSpPr>
          <p:cNvPr name="Group 40" id="40"/>
          <p:cNvGrpSpPr/>
          <p:nvPr/>
        </p:nvGrpSpPr>
        <p:grpSpPr>
          <a:xfrm rot="0">
            <a:off x="11384280" y="6885432"/>
            <a:ext cx="6035040" cy="850392"/>
            <a:chOff x="0" y="0"/>
            <a:chExt cx="8046720" cy="1133856"/>
          </a:xfrm>
        </p:grpSpPr>
        <p:sp>
          <p:nvSpPr>
            <p:cNvPr name="Freeform 41" id="41"/>
            <p:cNvSpPr/>
            <p:nvPr/>
          </p:nvSpPr>
          <p:spPr>
            <a:xfrm flipH="false" flipV="false" rot="0">
              <a:off x="0" y="0"/>
              <a:ext cx="8046720" cy="1133856"/>
            </a:xfrm>
            <a:custGeom>
              <a:avLst/>
              <a:gdLst/>
              <a:ahLst/>
              <a:cxnLst/>
              <a:rect r="r" b="b" t="t" l="l"/>
              <a:pathLst>
                <a:path h="1133856" w="8046720">
                  <a:moveTo>
                    <a:pt x="0" y="128016"/>
                  </a:moveTo>
                  <a:cubicBezTo>
                    <a:pt x="0" y="57277"/>
                    <a:pt x="57277" y="0"/>
                    <a:pt x="128016" y="0"/>
                  </a:cubicBezTo>
                  <a:lnTo>
                    <a:pt x="7918704" y="0"/>
                  </a:lnTo>
                  <a:cubicBezTo>
                    <a:pt x="7989443" y="0"/>
                    <a:pt x="8046720" y="57277"/>
                    <a:pt x="8046720" y="128016"/>
                  </a:cubicBezTo>
                  <a:lnTo>
                    <a:pt x="8046720" y="1005840"/>
                  </a:lnTo>
                  <a:cubicBezTo>
                    <a:pt x="8046720" y="1076579"/>
                    <a:pt x="7989443" y="1133856"/>
                    <a:pt x="7918704" y="1133856"/>
                  </a:cubicBezTo>
                  <a:lnTo>
                    <a:pt x="128016" y="1133856"/>
                  </a:lnTo>
                  <a:cubicBezTo>
                    <a:pt x="57277" y="1133856"/>
                    <a:pt x="0" y="1076579"/>
                    <a:pt x="0" y="1005840"/>
                  </a:cubicBezTo>
                  <a:close/>
                </a:path>
              </a:pathLst>
            </a:custGeom>
            <a:solidFill>
              <a:srgbClr val="F3F6FD"/>
            </a:solidFill>
          </p:spPr>
        </p:sp>
      </p:grpSp>
      <p:grpSp>
        <p:nvGrpSpPr>
          <p:cNvPr name="Group 42" id="42"/>
          <p:cNvGrpSpPr/>
          <p:nvPr/>
        </p:nvGrpSpPr>
        <p:grpSpPr>
          <a:xfrm rot="0">
            <a:off x="11727180" y="6885432"/>
            <a:ext cx="5349240" cy="850392"/>
            <a:chOff x="0" y="0"/>
            <a:chExt cx="7132320" cy="1133856"/>
          </a:xfrm>
        </p:grpSpPr>
        <p:sp>
          <p:nvSpPr>
            <p:cNvPr name="Freeform 43" id="43"/>
            <p:cNvSpPr/>
            <p:nvPr/>
          </p:nvSpPr>
          <p:spPr>
            <a:xfrm flipH="false" flipV="false" rot="0">
              <a:off x="0" y="0"/>
              <a:ext cx="7132320" cy="1133856"/>
            </a:xfrm>
            <a:custGeom>
              <a:avLst/>
              <a:gdLst/>
              <a:ahLst/>
              <a:cxnLst/>
              <a:rect r="r" b="b" t="t" l="l"/>
              <a:pathLst>
                <a:path h="1133856" w="7132320">
                  <a:moveTo>
                    <a:pt x="0" y="0"/>
                  </a:moveTo>
                  <a:lnTo>
                    <a:pt x="7132320" y="0"/>
                  </a:lnTo>
                  <a:lnTo>
                    <a:pt x="7132320" y="1133856"/>
                  </a:lnTo>
                  <a:lnTo>
                    <a:pt x="0" y="1133856"/>
                  </a:lnTo>
                  <a:close/>
                </a:path>
              </a:pathLst>
            </a:custGeom>
            <a:blipFill>
              <a:blip r:embed="rId3">
                <a:alphaModFix amt="0"/>
              </a:blip>
              <a:stretch>
                <a:fillRect l="0" t="-72567" r="0" b="-72567"/>
              </a:stretch>
            </a:blipFill>
          </p:spPr>
        </p:sp>
        <p:sp>
          <p:nvSpPr>
            <p:cNvPr name="TextBox 44" id="44"/>
            <p:cNvSpPr txBox="true"/>
            <p:nvPr/>
          </p:nvSpPr>
          <p:spPr>
            <a:xfrm>
              <a:off x="0" y="-19050"/>
              <a:ext cx="7132320" cy="1152906"/>
            </a:xfrm>
            <a:prstGeom prst="rect">
              <a:avLst/>
            </a:prstGeom>
          </p:spPr>
          <p:txBody>
            <a:bodyPr anchor="ctr" rtlCol="false" tIns="0" lIns="0" bIns="0" rIns="0"/>
            <a:lstStyle/>
            <a:p>
              <a:pPr algn="l">
                <a:lnSpc>
                  <a:spcPts val="3179"/>
                </a:lnSpc>
              </a:pPr>
              <a:r>
                <a:rPr lang="en-US" sz="2649">
                  <a:solidFill>
                    <a:srgbClr val="1B1B2F"/>
                  </a:solidFill>
                  <a:latin typeface="Arimo"/>
                  <a:ea typeface="Arimo"/>
                  <a:cs typeface="Arimo"/>
                  <a:sym typeface="Arimo"/>
                </a:rPr>
                <a:t>Government ID integration</a:t>
              </a:r>
            </a:p>
          </p:txBody>
        </p:sp>
      </p:grpSp>
      <p:grpSp>
        <p:nvGrpSpPr>
          <p:cNvPr name="Group 45" id="45"/>
          <p:cNvGrpSpPr/>
          <p:nvPr/>
        </p:nvGrpSpPr>
        <p:grpSpPr>
          <a:xfrm rot="0">
            <a:off x="11384280" y="7955280"/>
            <a:ext cx="6035040" cy="850392"/>
            <a:chOff x="0" y="0"/>
            <a:chExt cx="8046720" cy="1133856"/>
          </a:xfrm>
        </p:grpSpPr>
        <p:sp>
          <p:nvSpPr>
            <p:cNvPr name="Freeform 46" id="46"/>
            <p:cNvSpPr/>
            <p:nvPr/>
          </p:nvSpPr>
          <p:spPr>
            <a:xfrm flipH="false" flipV="false" rot="0">
              <a:off x="0" y="0"/>
              <a:ext cx="8046720" cy="1133856"/>
            </a:xfrm>
            <a:custGeom>
              <a:avLst/>
              <a:gdLst/>
              <a:ahLst/>
              <a:cxnLst/>
              <a:rect r="r" b="b" t="t" l="l"/>
              <a:pathLst>
                <a:path h="1133856" w="8046720">
                  <a:moveTo>
                    <a:pt x="0" y="128016"/>
                  </a:moveTo>
                  <a:cubicBezTo>
                    <a:pt x="0" y="57277"/>
                    <a:pt x="57277" y="0"/>
                    <a:pt x="128016" y="0"/>
                  </a:cubicBezTo>
                  <a:lnTo>
                    <a:pt x="7918704" y="0"/>
                  </a:lnTo>
                  <a:cubicBezTo>
                    <a:pt x="7989443" y="0"/>
                    <a:pt x="8046720" y="57277"/>
                    <a:pt x="8046720" y="128016"/>
                  </a:cubicBezTo>
                  <a:lnTo>
                    <a:pt x="8046720" y="1005840"/>
                  </a:lnTo>
                  <a:cubicBezTo>
                    <a:pt x="8046720" y="1076579"/>
                    <a:pt x="7989443" y="1133856"/>
                    <a:pt x="7918704" y="1133856"/>
                  </a:cubicBezTo>
                  <a:lnTo>
                    <a:pt x="128016" y="1133856"/>
                  </a:lnTo>
                  <a:cubicBezTo>
                    <a:pt x="57277" y="1133856"/>
                    <a:pt x="0" y="1076579"/>
                    <a:pt x="0" y="1005840"/>
                  </a:cubicBezTo>
                  <a:close/>
                </a:path>
              </a:pathLst>
            </a:custGeom>
            <a:solidFill>
              <a:srgbClr val="F3F6FD"/>
            </a:solidFill>
          </p:spPr>
        </p:sp>
      </p:grpSp>
      <p:grpSp>
        <p:nvGrpSpPr>
          <p:cNvPr name="Group 47" id="47"/>
          <p:cNvGrpSpPr/>
          <p:nvPr/>
        </p:nvGrpSpPr>
        <p:grpSpPr>
          <a:xfrm rot="0">
            <a:off x="11727180" y="7955280"/>
            <a:ext cx="5349240" cy="850392"/>
            <a:chOff x="0" y="0"/>
            <a:chExt cx="7132320" cy="1133856"/>
          </a:xfrm>
        </p:grpSpPr>
        <p:sp>
          <p:nvSpPr>
            <p:cNvPr name="Freeform 48" id="48"/>
            <p:cNvSpPr/>
            <p:nvPr/>
          </p:nvSpPr>
          <p:spPr>
            <a:xfrm flipH="false" flipV="false" rot="0">
              <a:off x="0" y="0"/>
              <a:ext cx="7132320" cy="1133856"/>
            </a:xfrm>
            <a:custGeom>
              <a:avLst/>
              <a:gdLst/>
              <a:ahLst/>
              <a:cxnLst/>
              <a:rect r="r" b="b" t="t" l="l"/>
              <a:pathLst>
                <a:path h="1133856" w="7132320">
                  <a:moveTo>
                    <a:pt x="0" y="0"/>
                  </a:moveTo>
                  <a:lnTo>
                    <a:pt x="7132320" y="0"/>
                  </a:lnTo>
                  <a:lnTo>
                    <a:pt x="7132320" y="1133856"/>
                  </a:lnTo>
                  <a:lnTo>
                    <a:pt x="0" y="1133856"/>
                  </a:lnTo>
                  <a:close/>
                </a:path>
              </a:pathLst>
            </a:custGeom>
            <a:blipFill>
              <a:blip r:embed="rId3">
                <a:alphaModFix amt="0"/>
              </a:blip>
              <a:stretch>
                <a:fillRect l="0" t="-72567" r="0" b="-72567"/>
              </a:stretch>
            </a:blipFill>
          </p:spPr>
        </p:sp>
        <p:sp>
          <p:nvSpPr>
            <p:cNvPr name="TextBox 49" id="49"/>
            <p:cNvSpPr txBox="true"/>
            <p:nvPr/>
          </p:nvSpPr>
          <p:spPr>
            <a:xfrm>
              <a:off x="0" y="-19050"/>
              <a:ext cx="7132320" cy="1152906"/>
            </a:xfrm>
            <a:prstGeom prst="rect">
              <a:avLst/>
            </a:prstGeom>
          </p:spPr>
          <p:txBody>
            <a:bodyPr anchor="ctr" rtlCol="false" tIns="0" lIns="0" bIns="0" rIns="0"/>
            <a:lstStyle/>
            <a:p>
              <a:pPr algn="l">
                <a:lnSpc>
                  <a:spcPts val="3179"/>
                </a:lnSpc>
              </a:pPr>
              <a:r>
                <a:rPr lang="en-US" sz="2649">
                  <a:solidFill>
                    <a:srgbClr val="1B1B2F"/>
                  </a:solidFill>
                  <a:latin typeface="Arimo"/>
                  <a:ea typeface="Arimo"/>
                  <a:cs typeface="Arimo"/>
                  <a:sym typeface="Arimo"/>
                </a:rPr>
                <a:t>Hospital dashboard</a:t>
              </a:r>
            </a:p>
          </p:txBody>
        </p:sp>
      </p:grpSp>
      <p:grpSp>
        <p:nvGrpSpPr>
          <p:cNvPr name="Group 50" id="50"/>
          <p:cNvGrpSpPr/>
          <p:nvPr/>
        </p:nvGrpSpPr>
        <p:grpSpPr>
          <a:xfrm rot="0">
            <a:off x="822960" y="9820656"/>
            <a:ext cx="12344400" cy="411480"/>
            <a:chOff x="0" y="0"/>
            <a:chExt cx="16459200" cy="548640"/>
          </a:xfrm>
        </p:grpSpPr>
        <p:sp>
          <p:nvSpPr>
            <p:cNvPr name="Freeform 51" id="51"/>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52" id="52"/>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53" id="53"/>
          <p:cNvGrpSpPr/>
          <p:nvPr/>
        </p:nvGrpSpPr>
        <p:grpSpPr>
          <a:xfrm rot="0">
            <a:off x="16915943" y="9820656"/>
            <a:ext cx="548640" cy="411480"/>
            <a:chOff x="0" y="0"/>
            <a:chExt cx="731520" cy="548640"/>
          </a:xfrm>
        </p:grpSpPr>
        <p:sp>
          <p:nvSpPr>
            <p:cNvPr name="Freeform 54" id="54"/>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55" id="55"/>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3</a:t>
              </a:r>
            </a:p>
          </p:txBody>
        </p:sp>
      </p:grpSp>
      <p:grpSp>
        <p:nvGrpSpPr>
          <p:cNvPr name="Group 56" id="56"/>
          <p:cNvGrpSpPr/>
          <p:nvPr/>
        </p:nvGrpSpPr>
        <p:grpSpPr>
          <a:xfrm rot="0">
            <a:off x="11384280" y="9024747"/>
            <a:ext cx="6035040" cy="850392"/>
            <a:chOff x="0" y="0"/>
            <a:chExt cx="8046720" cy="1133856"/>
          </a:xfrm>
        </p:grpSpPr>
        <p:sp>
          <p:nvSpPr>
            <p:cNvPr name="Freeform 57" id="57"/>
            <p:cNvSpPr/>
            <p:nvPr/>
          </p:nvSpPr>
          <p:spPr>
            <a:xfrm flipH="false" flipV="false" rot="0">
              <a:off x="0" y="0"/>
              <a:ext cx="8046720" cy="1133856"/>
            </a:xfrm>
            <a:custGeom>
              <a:avLst/>
              <a:gdLst/>
              <a:ahLst/>
              <a:cxnLst/>
              <a:rect r="r" b="b" t="t" l="l"/>
              <a:pathLst>
                <a:path h="1133856" w="8046720">
                  <a:moveTo>
                    <a:pt x="0" y="128016"/>
                  </a:moveTo>
                  <a:cubicBezTo>
                    <a:pt x="0" y="57277"/>
                    <a:pt x="57277" y="0"/>
                    <a:pt x="128016" y="0"/>
                  </a:cubicBezTo>
                  <a:lnTo>
                    <a:pt x="7918704" y="0"/>
                  </a:lnTo>
                  <a:cubicBezTo>
                    <a:pt x="7989443" y="0"/>
                    <a:pt x="8046720" y="57277"/>
                    <a:pt x="8046720" y="128016"/>
                  </a:cubicBezTo>
                  <a:lnTo>
                    <a:pt x="8046720" y="1005840"/>
                  </a:lnTo>
                  <a:cubicBezTo>
                    <a:pt x="8046720" y="1076579"/>
                    <a:pt x="7989443" y="1133856"/>
                    <a:pt x="7918704" y="1133856"/>
                  </a:cubicBezTo>
                  <a:lnTo>
                    <a:pt x="128016" y="1133856"/>
                  </a:lnTo>
                  <a:cubicBezTo>
                    <a:pt x="57277" y="1133856"/>
                    <a:pt x="0" y="1076579"/>
                    <a:pt x="0" y="1005840"/>
                  </a:cubicBezTo>
                  <a:close/>
                </a:path>
              </a:pathLst>
            </a:custGeom>
            <a:solidFill>
              <a:srgbClr val="F3F6FD"/>
            </a:solidFill>
          </p:spPr>
        </p:sp>
      </p:grpSp>
      <p:grpSp>
        <p:nvGrpSpPr>
          <p:cNvPr name="Group 58" id="58"/>
          <p:cNvGrpSpPr/>
          <p:nvPr/>
        </p:nvGrpSpPr>
        <p:grpSpPr>
          <a:xfrm rot="0">
            <a:off x="11727180" y="9024747"/>
            <a:ext cx="5349240" cy="850392"/>
            <a:chOff x="0" y="0"/>
            <a:chExt cx="7132320" cy="1133856"/>
          </a:xfrm>
        </p:grpSpPr>
        <p:sp>
          <p:nvSpPr>
            <p:cNvPr name="Freeform 59" id="59"/>
            <p:cNvSpPr/>
            <p:nvPr/>
          </p:nvSpPr>
          <p:spPr>
            <a:xfrm flipH="false" flipV="false" rot="0">
              <a:off x="0" y="0"/>
              <a:ext cx="7132320" cy="1133856"/>
            </a:xfrm>
            <a:custGeom>
              <a:avLst/>
              <a:gdLst/>
              <a:ahLst/>
              <a:cxnLst/>
              <a:rect r="r" b="b" t="t" l="l"/>
              <a:pathLst>
                <a:path h="1133856" w="7132320">
                  <a:moveTo>
                    <a:pt x="0" y="0"/>
                  </a:moveTo>
                  <a:lnTo>
                    <a:pt x="7132320" y="0"/>
                  </a:lnTo>
                  <a:lnTo>
                    <a:pt x="7132320" y="1133856"/>
                  </a:lnTo>
                  <a:lnTo>
                    <a:pt x="0" y="1133856"/>
                  </a:lnTo>
                  <a:close/>
                </a:path>
              </a:pathLst>
            </a:custGeom>
            <a:blipFill>
              <a:blip r:embed="rId3">
                <a:alphaModFix amt="0"/>
              </a:blip>
              <a:stretch>
                <a:fillRect l="0" t="-72567" r="0" b="-72567"/>
              </a:stretch>
            </a:blipFill>
          </p:spPr>
        </p:sp>
        <p:sp>
          <p:nvSpPr>
            <p:cNvPr name="TextBox 60" id="60"/>
            <p:cNvSpPr txBox="true"/>
            <p:nvPr/>
          </p:nvSpPr>
          <p:spPr>
            <a:xfrm>
              <a:off x="0" y="-19050"/>
              <a:ext cx="7132320" cy="1152906"/>
            </a:xfrm>
            <a:prstGeom prst="rect">
              <a:avLst/>
            </a:prstGeom>
          </p:spPr>
          <p:txBody>
            <a:bodyPr anchor="ctr" rtlCol="false" tIns="0" lIns="0" bIns="0" rIns="0"/>
            <a:lstStyle/>
            <a:p>
              <a:pPr algn="l">
                <a:lnSpc>
                  <a:spcPts val="3179"/>
                </a:lnSpc>
              </a:pPr>
              <a:r>
                <a:rPr lang="en-US" sz="2649">
                  <a:solidFill>
                    <a:srgbClr val="1B1B2F"/>
                  </a:solidFill>
                  <a:latin typeface="Arimo"/>
                  <a:ea typeface="Arimo"/>
                  <a:cs typeface="Arimo"/>
                  <a:sym typeface="Arimo"/>
                </a:rPr>
                <a:t>Immun</a:t>
              </a:r>
              <a:r>
                <a:rPr lang="en-US" sz="2649">
                  <a:solidFill>
                    <a:srgbClr val="1B1B2F"/>
                  </a:solidFill>
                  <a:latin typeface="Arimo"/>
                  <a:ea typeface="Arimo"/>
                  <a:cs typeface="Arimo"/>
                  <a:sym typeface="Arimo"/>
                </a:rPr>
                <a:t>ization Records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SYSTEM DESIGN</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Roles in the System</a:t>
              </a:r>
            </a:p>
          </p:txBody>
        </p:sp>
      </p:grpSp>
      <p:grpSp>
        <p:nvGrpSpPr>
          <p:cNvPr name="Group 8" id="8"/>
          <p:cNvGrpSpPr/>
          <p:nvPr/>
        </p:nvGrpSpPr>
        <p:grpSpPr>
          <a:xfrm rot="0">
            <a:off x="822960" y="2353598"/>
            <a:ext cx="7680960" cy="2965162"/>
            <a:chOff x="0" y="0"/>
            <a:chExt cx="10241280" cy="3953549"/>
          </a:xfrm>
        </p:grpSpPr>
        <p:sp>
          <p:nvSpPr>
            <p:cNvPr name="Freeform 9" id="9"/>
            <p:cNvSpPr/>
            <p:nvPr/>
          </p:nvSpPr>
          <p:spPr>
            <a:xfrm flipH="false" flipV="false" rot="0">
              <a:off x="0" y="0"/>
              <a:ext cx="10241280" cy="3953549"/>
            </a:xfrm>
            <a:custGeom>
              <a:avLst/>
              <a:gdLst/>
              <a:ahLst/>
              <a:cxnLst/>
              <a:rect r="r" b="b" t="t" l="l"/>
              <a:pathLst>
                <a:path h="3953549" w="10241280">
                  <a:moveTo>
                    <a:pt x="0" y="166465"/>
                  </a:moveTo>
                  <a:cubicBezTo>
                    <a:pt x="0" y="74563"/>
                    <a:pt x="65532" y="0"/>
                    <a:pt x="146304" y="0"/>
                  </a:cubicBezTo>
                  <a:lnTo>
                    <a:pt x="10094976" y="0"/>
                  </a:lnTo>
                  <a:cubicBezTo>
                    <a:pt x="10175748" y="0"/>
                    <a:pt x="10241280" y="74563"/>
                    <a:pt x="10241280" y="166465"/>
                  </a:cubicBezTo>
                  <a:lnTo>
                    <a:pt x="10241280" y="3787084"/>
                  </a:lnTo>
                  <a:cubicBezTo>
                    <a:pt x="10241280" y="3878986"/>
                    <a:pt x="10175748" y="3953549"/>
                    <a:pt x="10094976" y="3953549"/>
                  </a:cubicBezTo>
                  <a:lnTo>
                    <a:pt x="146304" y="3953549"/>
                  </a:lnTo>
                  <a:cubicBezTo>
                    <a:pt x="65532" y="3953549"/>
                    <a:pt x="0" y="3878986"/>
                    <a:pt x="0" y="3787084"/>
                  </a:cubicBezTo>
                  <a:close/>
                </a:path>
              </a:pathLst>
            </a:custGeom>
            <a:solidFill>
              <a:srgbClr val="F3F6FD"/>
            </a:solidFill>
          </p:spPr>
        </p:sp>
      </p:grpSp>
      <p:grpSp>
        <p:nvGrpSpPr>
          <p:cNvPr name="Group 10" id="10"/>
          <p:cNvGrpSpPr/>
          <p:nvPr/>
        </p:nvGrpSpPr>
        <p:grpSpPr>
          <a:xfrm rot="0">
            <a:off x="1234440" y="2510028"/>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12" id="12"/>
          <p:cNvGrpSpPr/>
          <p:nvPr/>
        </p:nvGrpSpPr>
        <p:grpSpPr>
          <a:xfrm rot="0">
            <a:off x="2076628" y="2578608"/>
            <a:ext cx="5897880" cy="548640"/>
            <a:chOff x="0" y="0"/>
            <a:chExt cx="7863840" cy="731520"/>
          </a:xfrm>
        </p:grpSpPr>
        <p:sp>
          <p:nvSpPr>
            <p:cNvPr name="Freeform 13" id="13"/>
            <p:cNvSpPr/>
            <p:nvPr/>
          </p:nvSpPr>
          <p:spPr>
            <a:xfrm flipH="false" flipV="false" rot="0">
              <a:off x="0" y="0"/>
              <a:ext cx="7863840" cy="731520"/>
            </a:xfrm>
            <a:custGeom>
              <a:avLst/>
              <a:gdLst/>
              <a:ahLst/>
              <a:cxnLst/>
              <a:rect r="r" b="b" t="t" l="l"/>
              <a:pathLst>
                <a:path h="731520" w="7863840">
                  <a:moveTo>
                    <a:pt x="0" y="0"/>
                  </a:moveTo>
                  <a:lnTo>
                    <a:pt x="7863840" y="0"/>
                  </a:lnTo>
                  <a:lnTo>
                    <a:pt x="7863840" y="731520"/>
                  </a:lnTo>
                  <a:lnTo>
                    <a:pt x="0" y="731520"/>
                  </a:lnTo>
                  <a:close/>
                </a:path>
              </a:pathLst>
            </a:custGeom>
            <a:blipFill>
              <a:blip r:embed="rId3">
                <a:alphaModFix amt="0"/>
              </a:blip>
              <a:stretch>
                <a:fillRect l="0" t="-159464" r="0" b="-159464"/>
              </a:stretch>
            </a:blipFill>
          </p:spPr>
        </p:sp>
        <p:sp>
          <p:nvSpPr>
            <p:cNvPr name="TextBox 14" id="14"/>
            <p:cNvSpPr txBox="true"/>
            <p:nvPr/>
          </p:nvSpPr>
          <p:spPr>
            <a:xfrm>
              <a:off x="0" y="-19050"/>
              <a:ext cx="7863840" cy="750570"/>
            </a:xfrm>
            <a:prstGeom prst="rect">
              <a:avLst/>
            </a:prstGeom>
          </p:spPr>
          <p:txBody>
            <a:bodyPr anchor="ctr" rtlCol="false" tIns="0" lIns="0" bIns="0" rIns="0"/>
            <a:lstStyle/>
            <a:p>
              <a:pPr algn="l">
                <a:lnSpc>
                  <a:spcPts val="3119"/>
                </a:lnSpc>
              </a:pPr>
              <a:r>
                <a:rPr lang="en-US" sz="2599" b="true">
                  <a:solidFill>
                    <a:srgbClr val="1E2761"/>
                  </a:solidFill>
                  <a:latin typeface="Arimo Bold"/>
                  <a:ea typeface="Arimo Bold"/>
                  <a:cs typeface="Arimo Bold"/>
                  <a:sym typeface="Arimo Bold"/>
                </a:rPr>
                <a:t>Patient</a:t>
              </a:r>
            </a:p>
          </p:txBody>
        </p:sp>
      </p:grpSp>
      <p:grpSp>
        <p:nvGrpSpPr>
          <p:cNvPr name="Group 15" id="15"/>
          <p:cNvGrpSpPr/>
          <p:nvPr/>
        </p:nvGrpSpPr>
        <p:grpSpPr>
          <a:xfrm rot="0">
            <a:off x="1096327" y="3264408"/>
            <a:ext cx="7134225" cy="1922924"/>
            <a:chOff x="0" y="0"/>
            <a:chExt cx="9512300" cy="2563899"/>
          </a:xfrm>
        </p:grpSpPr>
        <p:sp>
          <p:nvSpPr>
            <p:cNvPr name="Freeform 16" id="16"/>
            <p:cNvSpPr/>
            <p:nvPr/>
          </p:nvSpPr>
          <p:spPr>
            <a:xfrm flipH="false" flipV="false" rot="0">
              <a:off x="0" y="0"/>
              <a:ext cx="9512300" cy="2563899"/>
            </a:xfrm>
            <a:custGeom>
              <a:avLst/>
              <a:gdLst/>
              <a:ahLst/>
              <a:cxnLst/>
              <a:rect r="r" b="b" t="t" l="l"/>
              <a:pathLst>
                <a:path h="2563899" w="9512300">
                  <a:moveTo>
                    <a:pt x="0" y="0"/>
                  </a:moveTo>
                  <a:lnTo>
                    <a:pt x="9512300" y="0"/>
                  </a:lnTo>
                  <a:lnTo>
                    <a:pt x="9512300" y="2563899"/>
                  </a:lnTo>
                  <a:lnTo>
                    <a:pt x="0" y="2563899"/>
                  </a:lnTo>
                  <a:close/>
                </a:path>
              </a:pathLst>
            </a:custGeom>
            <a:blipFill>
              <a:blip r:embed="rId3">
                <a:alphaModFix amt="0"/>
              </a:blip>
              <a:stretch>
                <a:fillRect l="0" t="-40960" r="3871" b="1976"/>
              </a:stretch>
            </a:blipFill>
          </p:spPr>
        </p:sp>
        <p:sp>
          <p:nvSpPr>
            <p:cNvPr name="TextBox 17" id="17"/>
            <p:cNvSpPr txBox="true"/>
            <p:nvPr/>
          </p:nvSpPr>
          <p:spPr>
            <a:xfrm>
              <a:off x="0" y="-76200"/>
              <a:ext cx="9512300" cy="2640099"/>
            </a:xfrm>
            <a:prstGeom prst="rect">
              <a:avLst/>
            </a:prstGeom>
          </p:spPr>
          <p:txBody>
            <a:bodyPr anchor="ctr" rtlCol="false" tIns="0" lIns="0" bIns="0" rIns="0"/>
            <a:lstStyle/>
            <a:p>
              <a:pPr algn="l">
                <a:lnSpc>
                  <a:spcPts val="3744"/>
                </a:lnSpc>
              </a:pPr>
              <a:r>
                <a:rPr lang="en-US" sz="2600">
                  <a:solidFill>
                    <a:srgbClr val="1B1B2F"/>
                  </a:solidFill>
                  <a:latin typeface="Arimo"/>
                  <a:ea typeface="Arimo"/>
                  <a:cs typeface="Arimo"/>
                  <a:sym typeface="Arimo"/>
                </a:rPr>
                <a:t>Books appointments, views unified medical history, and receives automated reminders. Can link a government maternal ID for pregnancy and immunization tracking.</a:t>
              </a:r>
            </a:p>
          </p:txBody>
        </p:sp>
      </p:grpSp>
      <p:grpSp>
        <p:nvGrpSpPr>
          <p:cNvPr name="Group 18" id="18"/>
          <p:cNvGrpSpPr/>
          <p:nvPr/>
        </p:nvGrpSpPr>
        <p:grpSpPr>
          <a:xfrm rot="0">
            <a:off x="822960" y="9820656"/>
            <a:ext cx="12344400" cy="411480"/>
            <a:chOff x="0" y="0"/>
            <a:chExt cx="16459200" cy="548640"/>
          </a:xfrm>
        </p:grpSpPr>
        <p:sp>
          <p:nvSpPr>
            <p:cNvPr name="Freeform 19" id="19"/>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20" id="20"/>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21" id="21"/>
          <p:cNvGrpSpPr/>
          <p:nvPr/>
        </p:nvGrpSpPr>
        <p:grpSpPr>
          <a:xfrm rot="0">
            <a:off x="16915943" y="9820656"/>
            <a:ext cx="548640" cy="411480"/>
            <a:chOff x="0" y="0"/>
            <a:chExt cx="731520" cy="548640"/>
          </a:xfrm>
        </p:grpSpPr>
        <p:sp>
          <p:nvSpPr>
            <p:cNvPr name="Freeform 22" id="2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23" id="23"/>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4</a:t>
              </a:r>
            </a:p>
          </p:txBody>
        </p:sp>
      </p:grpSp>
      <p:grpSp>
        <p:nvGrpSpPr>
          <p:cNvPr name="Group 24" id="24"/>
          <p:cNvGrpSpPr/>
          <p:nvPr/>
        </p:nvGrpSpPr>
        <p:grpSpPr>
          <a:xfrm rot="0">
            <a:off x="822960" y="5766435"/>
            <a:ext cx="7680960" cy="2965162"/>
            <a:chOff x="0" y="0"/>
            <a:chExt cx="10241280" cy="3953549"/>
          </a:xfrm>
        </p:grpSpPr>
        <p:sp>
          <p:nvSpPr>
            <p:cNvPr name="Freeform 25" id="25"/>
            <p:cNvSpPr/>
            <p:nvPr/>
          </p:nvSpPr>
          <p:spPr>
            <a:xfrm flipH="false" flipV="false" rot="0">
              <a:off x="0" y="0"/>
              <a:ext cx="10241280" cy="3953549"/>
            </a:xfrm>
            <a:custGeom>
              <a:avLst/>
              <a:gdLst/>
              <a:ahLst/>
              <a:cxnLst/>
              <a:rect r="r" b="b" t="t" l="l"/>
              <a:pathLst>
                <a:path h="3953549" w="10241280">
                  <a:moveTo>
                    <a:pt x="0" y="166465"/>
                  </a:moveTo>
                  <a:cubicBezTo>
                    <a:pt x="0" y="74563"/>
                    <a:pt x="65532" y="0"/>
                    <a:pt x="146304" y="0"/>
                  </a:cubicBezTo>
                  <a:lnTo>
                    <a:pt x="10094976" y="0"/>
                  </a:lnTo>
                  <a:cubicBezTo>
                    <a:pt x="10175748" y="0"/>
                    <a:pt x="10241280" y="74563"/>
                    <a:pt x="10241280" y="166465"/>
                  </a:cubicBezTo>
                  <a:lnTo>
                    <a:pt x="10241280" y="3787084"/>
                  </a:lnTo>
                  <a:cubicBezTo>
                    <a:pt x="10241280" y="3878986"/>
                    <a:pt x="10175748" y="3953549"/>
                    <a:pt x="10094976" y="3953549"/>
                  </a:cubicBezTo>
                  <a:lnTo>
                    <a:pt x="146304" y="3953549"/>
                  </a:lnTo>
                  <a:cubicBezTo>
                    <a:pt x="65532" y="3953549"/>
                    <a:pt x="0" y="3878986"/>
                    <a:pt x="0" y="3787084"/>
                  </a:cubicBezTo>
                  <a:close/>
                </a:path>
              </a:pathLst>
            </a:custGeom>
            <a:solidFill>
              <a:srgbClr val="F3F6FD"/>
            </a:solidFill>
          </p:spPr>
        </p:sp>
      </p:grpSp>
      <p:grpSp>
        <p:nvGrpSpPr>
          <p:cNvPr name="Group 26" id="26"/>
          <p:cNvGrpSpPr/>
          <p:nvPr/>
        </p:nvGrpSpPr>
        <p:grpSpPr>
          <a:xfrm rot="0">
            <a:off x="1116508" y="6780495"/>
            <a:ext cx="6858000" cy="1456199"/>
            <a:chOff x="0" y="0"/>
            <a:chExt cx="9144000" cy="1941599"/>
          </a:xfrm>
        </p:grpSpPr>
        <p:sp>
          <p:nvSpPr>
            <p:cNvPr name="Freeform 27" id="27"/>
            <p:cNvSpPr/>
            <p:nvPr/>
          </p:nvSpPr>
          <p:spPr>
            <a:xfrm flipH="false" flipV="false" rot="0">
              <a:off x="0" y="0"/>
              <a:ext cx="9144000" cy="1941599"/>
            </a:xfrm>
            <a:custGeom>
              <a:avLst/>
              <a:gdLst/>
              <a:ahLst/>
              <a:cxnLst/>
              <a:rect r="r" b="b" t="t" l="l"/>
              <a:pathLst>
                <a:path h="1941599" w="9144000">
                  <a:moveTo>
                    <a:pt x="0" y="0"/>
                  </a:moveTo>
                  <a:lnTo>
                    <a:pt x="9144000" y="0"/>
                  </a:lnTo>
                  <a:lnTo>
                    <a:pt x="9144000" y="1941599"/>
                  </a:lnTo>
                  <a:lnTo>
                    <a:pt x="0" y="1941599"/>
                  </a:lnTo>
                  <a:close/>
                </a:path>
              </a:pathLst>
            </a:custGeom>
            <a:blipFill>
              <a:blip r:embed="rId3">
                <a:alphaModFix amt="0"/>
              </a:blip>
              <a:stretch>
                <a:fillRect l="0" t="-54089" r="0" b="-29441"/>
              </a:stretch>
            </a:blipFill>
          </p:spPr>
        </p:sp>
        <p:sp>
          <p:nvSpPr>
            <p:cNvPr name="TextBox 28" id="28"/>
            <p:cNvSpPr txBox="true"/>
            <p:nvPr/>
          </p:nvSpPr>
          <p:spPr>
            <a:xfrm>
              <a:off x="0" y="-76200"/>
              <a:ext cx="9144000" cy="2017799"/>
            </a:xfrm>
            <a:prstGeom prst="rect">
              <a:avLst/>
            </a:prstGeom>
          </p:spPr>
          <p:txBody>
            <a:bodyPr anchor="ctr" rtlCol="false" tIns="0" lIns="0" bIns="0" rIns="0"/>
            <a:lstStyle/>
            <a:p>
              <a:pPr algn="l">
                <a:lnSpc>
                  <a:spcPts val="3744"/>
                </a:lnSpc>
              </a:pPr>
              <a:r>
                <a:rPr lang="en-US" sz="2600">
                  <a:solidFill>
                    <a:srgbClr val="1B1B2F"/>
                  </a:solidFill>
                  <a:latin typeface="Arimo"/>
                  <a:ea typeface="Arimo"/>
                  <a:cs typeface="Arimo"/>
                  <a:sym typeface="Arimo"/>
                </a:rPr>
                <a:t>Manages appointment slots, updates patient records, and handles inter-hospital data transfer during referrals.</a:t>
              </a:r>
            </a:p>
          </p:txBody>
        </p:sp>
      </p:grpSp>
      <p:grpSp>
        <p:nvGrpSpPr>
          <p:cNvPr name="Group 29" id="29"/>
          <p:cNvGrpSpPr/>
          <p:nvPr/>
        </p:nvGrpSpPr>
        <p:grpSpPr>
          <a:xfrm rot="0">
            <a:off x="2076628" y="6058995"/>
            <a:ext cx="5897880" cy="548640"/>
            <a:chOff x="0" y="0"/>
            <a:chExt cx="7863840" cy="731520"/>
          </a:xfrm>
        </p:grpSpPr>
        <p:sp>
          <p:nvSpPr>
            <p:cNvPr name="Freeform 30" id="30"/>
            <p:cNvSpPr/>
            <p:nvPr/>
          </p:nvSpPr>
          <p:spPr>
            <a:xfrm flipH="false" flipV="false" rot="0">
              <a:off x="0" y="0"/>
              <a:ext cx="7863840" cy="731520"/>
            </a:xfrm>
            <a:custGeom>
              <a:avLst/>
              <a:gdLst/>
              <a:ahLst/>
              <a:cxnLst/>
              <a:rect r="r" b="b" t="t" l="l"/>
              <a:pathLst>
                <a:path h="731520" w="7863840">
                  <a:moveTo>
                    <a:pt x="0" y="0"/>
                  </a:moveTo>
                  <a:lnTo>
                    <a:pt x="7863840" y="0"/>
                  </a:lnTo>
                  <a:lnTo>
                    <a:pt x="7863840" y="731520"/>
                  </a:lnTo>
                  <a:lnTo>
                    <a:pt x="0" y="731520"/>
                  </a:lnTo>
                  <a:close/>
                </a:path>
              </a:pathLst>
            </a:custGeom>
            <a:blipFill>
              <a:blip r:embed="rId3">
                <a:alphaModFix amt="0"/>
              </a:blip>
              <a:stretch>
                <a:fillRect l="0" t="-159464" r="0" b="-159464"/>
              </a:stretch>
            </a:blipFill>
          </p:spPr>
        </p:sp>
        <p:sp>
          <p:nvSpPr>
            <p:cNvPr name="TextBox 31" id="31"/>
            <p:cNvSpPr txBox="true"/>
            <p:nvPr/>
          </p:nvSpPr>
          <p:spPr>
            <a:xfrm>
              <a:off x="0" y="-19050"/>
              <a:ext cx="7863840" cy="750570"/>
            </a:xfrm>
            <a:prstGeom prst="rect">
              <a:avLst/>
            </a:prstGeom>
          </p:spPr>
          <p:txBody>
            <a:bodyPr anchor="ctr" rtlCol="false" tIns="0" lIns="0" bIns="0" rIns="0"/>
            <a:lstStyle/>
            <a:p>
              <a:pPr algn="l">
                <a:lnSpc>
                  <a:spcPts val="3119"/>
                </a:lnSpc>
              </a:pPr>
              <a:r>
                <a:rPr lang="en-US" sz="2599" b="true">
                  <a:solidFill>
                    <a:srgbClr val="1E2761"/>
                  </a:solidFill>
                  <a:latin typeface="Arimo Bold"/>
                  <a:ea typeface="Arimo Bold"/>
                  <a:cs typeface="Arimo Bold"/>
                  <a:sym typeface="Arimo Bold"/>
                </a:rPr>
                <a:t>Hospital Staff</a:t>
              </a:r>
            </a:p>
          </p:txBody>
        </p:sp>
      </p:grpSp>
      <p:grpSp>
        <p:nvGrpSpPr>
          <p:cNvPr name="Group 32" id="32"/>
          <p:cNvGrpSpPr/>
          <p:nvPr/>
        </p:nvGrpSpPr>
        <p:grpSpPr>
          <a:xfrm rot="0">
            <a:off x="1208881" y="2533983"/>
            <a:ext cx="714627" cy="637889"/>
            <a:chOff x="0" y="0"/>
            <a:chExt cx="911860" cy="813943"/>
          </a:xfrm>
        </p:grpSpPr>
        <p:sp>
          <p:nvSpPr>
            <p:cNvPr name="Freeform 33" id="33"/>
            <p:cNvSpPr/>
            <p:nvPr/>
          </p:nvSpPr>
          <p:spPr>
            <a:xfrm flipH="false" flipV="false" rot="0">
              <a:off x="0" y="0"/>
              <a:ext cx="911860" cy="813943"/>
            </a:xfrm>
            <a:custGeom>
              <a:avLst/>
              <a:gdLst/>
              <a:ahLst/>
              <a:cxnLst/>
              <a:rect r="r" b="b" t="t" l="l"/>
              <a:pathLst>
                <a:path h="813943" w="911860">
                  <a:moveTo>
                    <a:pt x="0" y="0"/>
                  </a:moveTo>
                  <a:lnTo>
                    <a:pt x="911860" y="0"/>
                  </a:lnTo>
                  <a:lnTo>
                    <a:pt x="911860" y="813943"/>
                  </a:lnTo>
                  <a:lnTo>
                    <a:pt x="0" y="813943"/>
                  </a:lnTo>
                  <a:close/>
                </a:path>
              </a:pathLst>
            </a:custGeom>
            <a:blipFill>
              <a:blip r:embed="rId3">
                <a:alphaModFix amt="0"/>
              </a:blip>
              <a:stretch>
                <a:fillRect l="-78521" t="0" r="-78800" b="-12342"/>
              </a:stretch>
            </a:blipFill>
          </p:spPr>
        </p:sp>
        <p:sp>
          <p:nvSpPr>
            <p:cNvPr name="TextBox 34" id="34"/>
            <p:cNvSpPr txBox="true"/>
            <p:nvPr/>
          </p:nvSpPr>
          <p:spPr>
            <a:xfrm>
              <a:off x="0" y="-9525"/>
              <a:ext cx="911860" cy="823468"/>
            </a:xfrm>
            <a:prstGeom prst="rect">
              <a:avLst/>
            </a:prstGeom>
          </p:spPr>
          <p:txBody>
            <a:bodyPr anchor="ctr" rtlCol="false" tIns="0" lIns="0" bIns="0" rIns="0"/>
            <a:lstStyle/>
            <a:p>
              <a:pPr algn="ctr">
                <a:lnSpc>
                  <a:spcPts val="2879"/>
                </a:lnSpc>
              </a:pPr>
              <a:r>
                <a:rPr lang="en-US" sz="2400" b="true">
                  <a:solidFill>
                    <a:srgbClr val="FFFFFF"/>
                  </a:solidFill>
                  <a:latin typeface="Arimo Bold"/>
                  <a:ea typeface="Arimo Bold"/>
                  <a:cs typeface="Arimo Bold"/>
                  <a:sym typeface="Arimo Bold"/>
                </a:rPr>
                <a:t>1</a:t>
              </a:r>
            </a:p>
          </p:txBody>
        </p:sp>
      </p:grpSp>
      <p:grpSp>
        <p:nvGrpSpPr>
          <p:cNvPr name="Group 35" id="35"/>
          <p:cNvGrpSpPr/>
          <p:nvPr/>
        </p:nvGrpSpPr>
        <p:grpSpPr>
          <a:xfrm rot="0">
            <a:off x="1208881" y="5968013"/>
            <a:ext cx="685800" cy="685800"/>
            <a:chOff x="0" y="0"/>
            <a:chExt cx="914400" cy="914400"/>
          </a:xfrm>
        </p:grpSpPr>
        <p:sp>
          <p:nvSpPr>
            <p:cNvPr name="Freeform 36" id="3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37" id="37"/>
          <p:cNvGrpSpPr/>
          <p:nvPr/>
        </p:nvGrpSpPr>
        <p:grpSpPr>
          <a:xfrm rot="0">
            <a:off x="1208881" y="5982105"/>
            <a:ext cx="714627" cy="637889"/>
            <a:chOff x="0" y="0"/>
            <a:chExt cx="911860" cy="813943"/>
          </a:xfrm>
        </p:grpSpPr>
        <p:sp>
          <p:nvSpPr>
            <p:cNvPr name="Freeform 38" id="38"/>
            <p:cNvSpPr/>
            <p:nvPr/>
          </p:nvSpPr>
          <p:spPr>
            <a:xfrm flipH="false" flipV="false" rot="0">
              <a:off x="0" y="0"/>
              <a:ext cx="911860" cy="813943"/>
            </a:xfrm>
            <a:custGeom>
              <a:avLst/>
              <a:gdLst/>
              <a:ahLst/>
              <a:cxnLst/>
              <a:rect r="r" b="b" t="t" l="l"/>
              <a:pathLst>
                <a:path h="813943" w="911860">
                  <a:moveTo>
                    <a:pt x="0" y="0"/>
                  </a:moveTo>
                  <a:lnTo>
                    <a:pt x="911860" y="0"/>
                  </a:lnTo>
                  <a:lnTo>
                    <a:pt x="911860" y="813943"/>
                  </a:lnTo>
                  <a:lnTo>
                    <a:pt x="0" y="813943"/>
                  </a:lnTo>
                  <a:close/>
                </a:path>
              </a:pathLst>
            </a:custGeom>
            <a:blipFill>
              <a:blip r:embed="rId3">
                <a:alphaModFix amt="0"/>
              </a:blip>
              <a:stretch>
                <a:fillRect l="-78521" t="0" r="-78800" b="-12342"/>
              </a:stretch>
            </a:blipFill>
          </p:spPr>
        </p:sp>
        <p:sp>
          <p:nvSpPr>
            <p:cNvPr name="TextBox 39" id="39"/>
            <p:cNvSpPr txBox="true"/>
            <p:nvPr/>
          </p:nvSpPr>
          <p:spPr>
            <a:xfrm>
              <a:off x="0" y="-9525"/>
              <a:ext cx="911860" cy="823468"/>
            </a:xfrm>
            <a:prstGeom prst="rect">
              <a:avLst/>
            </a:prstGeom>
          </p:spPr>
          <p:txBody>
            <a:bodyPr anchor="ctr" rtlCol="false" tIns="0" lIns="0" bIns="0" rIns="0"/>
            <a:lstStyle/>
            <a:p>
              <a:pPr algn="ctr">
                <a:lnSpc>
                  <a:spcPts val="2879"/>
                </a:lnSpc>
              </a:pPr>
              <a:r>
                <a:rPr lang="en-US" sz="2400" b="true">
                  <a:solidFill>
                    <a:srgbClr val="FFFFFF"/>
                  </a:solidFill>
                  <a:latin typeface="Arimo Bold"/>
                  <a:ea typeface="Arimo Bold"/>
                  <a:cs typeface="Arimo Bold"/>
                  <a:sym typeface="Arimo Bold"/>
                </a:rPr>
                <a:t>3</a:t>
              </a:r>
            </a:p>
          </p:txBody>
        </p:sp>
      </p:grpSp>
      <p:grpSp>
        <p:nvGrpSpPr>
          <p:cNvPr name="Group 40" id="40"/>
          <p:cNvGrpSpPr/>
          <p:nvPr/>
        </p:nvGrpSpPr>
        <p:grpSpPr>
          <a:xfrm rot="0">
            <a:off x="8656320" y="2353598"/>
            <a:ext cx="7680960" cy="2965162"/>
            <a:chOff x="0" y="0"/>
            <a:chExt cx="10241280" cy="3953549"/>
          </a:xfrm>
        </p:grpSpPr>
        <p:sp>
          <p:nvSpPr>
            <p:cNvPr name="Freeform 41" id="41"/>
            <p:cNvSpPr/>
            <p:nvPr/>
          </p:nvSpPr>
          <p:spPr>
            <a:xfrm flipH="false" flipV="false" rot="0">
              <a:off x="0" y="0"/>
              <a:ext cx="10241280" cy="3953549"/>
            </a:xfrm>
            <a:custGeom>
              <a:avLst/>
              <a:gdLst/>
              <a:ahLst/>
              <a:cxnLst/>
              <a:rect r="r" b="b" t="t" l="l"/>
              <a:pathLst>
                <a:path h="3953549" w="10241280">
                  <a:moveTo>
                    <a:pt x="0" y="166465"/>
                  </a:moveTo>
                  <a:cubicBezTo>
                    <a:pt x="0" y="74563"/>
                    <a:pt x="65532" y="0"/>
                    <a:pt x="146304" y="0"/>
                  </a:cubicBezTo>
                  <a:lnTo>
                    <a:pt x="10094976" y="0"/>
                  </a:lnTo>
                  <a:cubicBezTo>
                    <a:pt x="10175748" y="0"/>
                    <a:pt x="10241280" y="74563"/>
                    <a:pt x="10241280" y="166465"/>
                  </a:cubicBezTo>
                  <a:lnTo>
                    <a:pt x="10241280" y="3787084"/>
                  </a:lnTo>
                  <a:cubicBezTo>
                    <a:pt x="10241280" y="3878986"/>
                    <a:pt x="10175748" y="3953549"/>
                    <a:pt x="10094976" y="3953549"/>
                  </a:cubicBezTo>
                  <a:lnTo>
                    <a:pt x="146304" y="3953549"/>
                  </a:lnTo>
                  <a:cubicBezTo>
                    <a:pt x="65532" y="3953549"/>
                    <a:pt x="0" y="3878986"/>
                    <a:pt x="0" y="3787084"/>
                  </a:cubicBezTo>
                  <a:close/>
                </a:path>
              </a:pathLst>
            </a:custGeom>
            <a:solidFill>
              <a:srgbClr val="F3F6FD"/>
            </a:solidFill>
          </p:spPr>
        </p:sp>
      </p:grpSp>
      <p:grpSp>
        <p:nvGrpSpPr>
          <p:cNvPr name="Group 42" id="42"/>
          <p:cNvGrpSpPr/>
          <p:nvPr/>
        </p:nvGrpSpPr>
        <p:grpSpPr>
          <a:xfrm rot="0">
            <a:off x="9113042" y="3513490"/>
            <a:ext cx="6858000" cy="1456199"/>
            <a:chOff x="0" y="0"/>
            <a:chExt cx="9144000" cy="1941599"/>
          </a:xfrm>
        </p:grpSpPr>
        <p:sp>
          <p:nvSpPr>
            <p:cNvPr name="Freeform 43" id="43"/>
            <p:cNvSpPr/>
            <p:nvPr/>
          </p:nvSpPr>
          <p:spPr>
            <a:xfrm flipH="false" flipV="false" rot="0">
              <a:off x="0" y="0"/>
              <a:ext cx="9144000" cy="1941599"/>
            </a:xfrm>
            <a:custGeom>
              <a:avLst/>
              <a:gdLst/>
              <a:ahLst/>
              <a:cxnLst/>
              <a:rect r="r" b="b" t="t" l="l"/>
              <a:pathLst>
                <a:path h="1941599" w="9144000">
                  <a:moveTo>
                    <a:pt x="0" y="0"/>
                  </a:moveTo>
                  <a:lnTo>
                    <a:pt x="9144000" y="0"/>
                  </a:lnTo>
                  <a:lnTo>
                    <a:pt x="9144000" y="1941599"/>
                  </a:lnTo>
                  <a:lnTo>
                    <a:pt x="0" y="1941599"/>
                  </a:lnTo>
                  <a:close/>
                </a:path>
              </a:pathLst>
            </a:custGeom>
            <a:blipFill>
              <a:blip r:embed="rId3">
                <a:alphaModFix amt="0"/>
              </a:blip>
              <a:stretch>
                <a:fillRect l="0" t="-54089" r="0" b="-29441"/>
              </a:stretch>
            </a:blipFill>
          </p:spPr>
        </p:sp>
        <p:sp>
          <p:nvSpPr>
            <p:cNvPr name="TextBox 44" id="44"/>
            <p:cNvSpPr txBox="true"/>
            <p:nvPr/>
          </p:nvSpPr>
          <p:spPr>
            <a:xfrm>
              <a:off x="0" y="-76200"/>
              <a:ext cx="9144000" cy="2017799"/>
            </a:xfrm>
            <a:prstGeom prst="rect">
              <a:avLst/>
            </a:prstGeom>
          </p:spPr>
          <p:txBody>
            <a:bodyPr anchor="ctr" rtlCol="false" tIns="0" lIns="0" bIns="0" rIns="0"/>
            <a:lstStyle/>
            <a:p>
              <a:pPr algn="l">
                <a:lnSpc>
                  <a:spcPts val="3744"/>
                </a:lnSpc>
              </a:pPr>
              <a:r>
                <a:rPr lang="en-US" sz="2600">
                  <a:solidFill>
                    <a:srgbClr val="1B1B2F"/>
                  </a:solidFill>
                  <a:latin typeface="Arimo"/>
                  <a:ea typeface="Arimo"/>
                  <a:cs typeface="Arimo"/>
                  <a:sym typeface="Arimo"/>
                </a:rPr>
                <a:t>Views assigned appointments and patient history at the point of care, and records consultation outcomes.</a:t>
              </a:r>
            </a:p>
          </p:txBody>
        </p:sp>
      </p:grpSp>
      <p:grpSp>
        <p:nvGrpSpPr>
          <p:cNvPr name="Group 45" id="45"/>
          <p:cNvGrpSpPr/>
          <p:nvPr/>
        </p:nvGrpSpPr>
        <p:grpSpPr>
          <a:xfrm rot="0">
            <a:off x="9806940" y="2715768"/>
            <a:ext cx="5897880" cy="548640"/>
            <a:chOff x="0" y="0"/>
            <a:chExt cx="7863840" cy="731520"/>
          </a:xfrm>
        </p:grpSpPr>
        <p:sp>
          <p:nvSpPr>
            <p:cNvPr name="Freeform 46" id="46"/>
            <p:cNvSpPr/>
            <p:nvPr/>
          </p:nvSpPr>
          <p:spPr>
            <a:xfrm flipH="false" flipV="false" rot="0">
              <a:off x="0" y="0"/>
              <a:ext cx="7863840" cy="731520"/>
            </a:xfrm>
            <a:custGeom>
              <a:avLst/>
              <a:gdLst/>
              <a:ahLst/>
              <a:cxnLst/>
              <a:rect r="r" b="b" t="t" l="l"/>
              <a:pathLst>
                <a:path h="731520" w="7863840">
                  <a:moveTo>
                    <a:pt x="0" y="0"/>
                  </a:moveTo>
                  <a:lnTo>
                    <a:pt x="7863840" y="0"/>
                  </a:lnTo>
                  <a:lnTo>
                    <a:pt x="7863840" y="731520"/>
                  </a:lnTo>
                  <a:lnTo>
                    <a:pt x="0" y="731520"/>
                  </a:lnTo>
                  <a:close/>
                </a:path>
              </a:pathLst>
            </a:custGeom>
            <a:blipFill>
              <a:blip r:embed="rId3">
                <a:alphaModFix amt="0"/>
              </a:blip>
              <a:stretch>
                <a:fillRect l="0" t="-159464" r="0" b="-159464"/>
              </a:stretch>
            </a:blipFill>
          </p:spPr>
        </p:sp>
        <p:sp>
          <p:nvSpPr>
            <p:cNvPr name="TextBox 47" id="47"/>
            <p:cNvSpPr txBox="true"/>
            <p:nvPr/>
          </p:nvSpPr>
          <p:spPr>
            <a:xfrm>
              <a:off x="0" y="-19050"/>
              <a:ext cx="7863840" cy="750570"/>
            </a:xfrm>
            <a:prstGeom prst="rect">
              <a:avLst/>
            </a:prstGeom>
          </p:spPr>
          <p:txBody>
            <a:bodyPr anchor="ctr" rtlCol="false" tIns="0" lIns="0" bIns="0" rIns="0"/>
            <a:lstStyle/>
            <a:p>
              <a:pPr algn="l">
                <a:lnSpc>
                  <a:spcPts val="3119"/>
                </a:lnSpc>
              </a:pPr>
              <a:r>
                <a:rPr lang="en-US" sz="2599" b="true">
                  <a:solidFill>
                    <a:srgbClr val="1E2761"/>
                  </a:solidFill>
                  <a:latin typeface="Arimo Bold"/>
                  <a:ea typeface="Arimo Bold"/>
                  <a:cs typeface="Arimo Bold"/>
                  <a:sym typeface="Arimo Bold"/>
                </a:rPr>
                <a:t>Doctor</a:t>
              </a:r>
            </a:p>
          </p:txBody>
        </p:sp>
      </p:grpSp>
      <p:grpSp>
        <p:nvGrpSpPr>
          <p:cNvPr name="Group 48" id="48"/>
          <p:cNvGrpSpPr/>
          <p:nvPr/>
        </p:nvGrpSpPr>
        <p:grpSpPr>
          <a:xfrm rot="0">
            <a:off x="8915400" y="2632145"/>
            <a:ext cx="685800" cy="685800"/>
            <a:chOff x="0" y="0"/>
            <a:chExt cx="914400" cy="914400"/>
          </a:xfrm>
        </p:grpSpPr>
        <p:sp>
          <p:nvSpPr>
            <p:cNvPr name="Freeform 49" id="4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50" id="50"/>
          <p:cNvGrpSpPr/>
          <p:nvPr/>
        </p:nvGrpSpPr>
        <p:grpSpPr>
          <a:xfrm rot="0">
            <a:off x="8915400" y="2632145"/>
            <a:ext cx="685800" cy="685800"/>
            <a:chOff x="0" y="0"/>
            <a:chExt cx="914400" cy="914400"/>
          </a:xfrm>
        </p:grpSpPr>
        <p:sp>
          <p:nvSpPr>
            <p:cNvPr name="Freeform 51" id="5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52" id="52"/>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FFFFFF"/>
                  </a:solidFill>
                  <a:latin typeface="Arimo Bold"/>
                  <a:ea typeface="Arimo Bold"/>
                  <a:cs typeface="Arimo Bold"/>
                  <a:sym typeface="Arimo Bold"/>
                </a:rPr>
                <a:t>2</a:t>
              </a:r>
            </a:p>
          </p:txBody>
        </p:sp>
      </p:grpSp>
      <p:grpSp>
        <p:nvGrpSpPr>
          <p:cNvPr name="Group 53" id="53"/>
          <p:cNvGrpSpPr/>
          <p:nvPr/>
        </p:nvGrpSpPr>
        <p:grpSpPr>
          <a:xfrm rot="0">
            <a:off x="8656320" y="5766435"/>
            <a:ext cx="7680960" cy="2965162"/>
            <a:chOff x="0" y="0"/>
            <a:chExt cx="10241280" cy="3953549"/>
          </a:xfrm>
        </p:grpSpPr>
        <p:sp>
          <p:nvSpPr>
            <p:cNvPr name="Freeform 54" id="54"/>
            <p:cNvSpPr/>
            <p:nvPr/>
          </p:nvSpPr>
          <p:spPr>
            <a:xfrm flipH="false" flipV="false" rot="0">
              <a:off x="0" y="0"/>
              <a:ext cx="10241280" cy="3953549"/>
            </a:xfrm>
            <a:custGeom>
              <a:avLst/>
              <a:gdLst/>
              <a:ahLst/>
              <a:cxnLst/>
              <a:rect r="r" b="b" t="t" l="l"/>
              <a:pathLst>
                <a:path h="3953549" w="10241280">
                  <a:moveTo>
                    <a:pt x="0" y="166465"/>
                  </a:moveTo>
                  <a:cubicBezTo>
                    <a:pt x="0" y="74563"/>
                    <a:pt x="65532" y="0"/>
                    <a:pt x="146304" y="0"/>
                  </a:cubicBezTo>
                  <a:lnTo>
                    <a:pt x="10094976" y="0"/>
                  </a:lnTo>
                  <a:cubicBezTo>
                    <a:pt x="10175748" y="0"/>
                    <a:pt x="10241280" y="74563"/>
                    <a:pt x="10241280" y="166465"/>
                  </a:cubicBezTo>
                  <a:lnTo>
                    <a:pt x="10241280" y="3787084"/>
                  </a:lnTo>
                  <a:cubicBezTo>
                    <a:pt x="10241280" y="3878986"/>
                    <a:pt x="10175748" y="3953549"/>
                    <a:pt x="10094976" y="3953549"/>
                  </a:cubicBezTo>
                  <a:lnTo>
                    <a:pt x="146304" y="3953549"/>
                  </a:lnTo>
                  <a:cubicBezTo>
                    <a:pt x="65532" y="3953549"/>
                    <a:pt x="0" y="3878986"/>
                    <a:pt x="0" y="3787084"/>
                  </a:cubicBezTo>
                  <a:close/>
                </a:path>
              </a:pathLst>
            </a:custGeom>
            <a:solidFill>
              <a:srgbClr val="F3F6FD"/>
            </a:solidFill>
          </p:spPr>
        </p:sp>
      </p:grpSp>
      <p:grpSp>
        <p:nvGrpSpPr>
          <p:cNvPr name="Group 55" id="55"/>
          <p:cNvGrpSpPr/>
          <p:nvPr/>
        </p:nvGrpSpPr>
        <p:grpSpPr>
          <a:xfrm rot="0">
            <a:off x="9113042" y="6923865"/>
            <a:ext cx="6858000" cy="1097280"/>
            <a:chOff x="0" y="0"/>
            <a:chExt cx="9144000" cy="1463040"/>
          </a:xfrm>
        </p:grpSpPr>
        <p:sp>
          <p:nvSpPr>
            <p:cNvPr name="Freeform 56" id="56"/>
            <p:cNvSpPr/>
            <p:nvPr/>
          </p:nvSpPr>
          <p:spPr>
            <a:xfrm flipH="false" flipV="false" rot="0">
              <a:off x="0" y="0"/>
              <a:ext cx="9144000" cy="1463040"/>
            </a:xfrm>
            <a:custGeom>
              <a:avLst/>
              <a:gdLst/>
              <a:ahLst/>
              <a:cxnLst/>
              <a:rect r="r" b="b" t="t" l="l"/>
              <a:pathLst>
                <a:path h="1463040" w="9144000">
                  <a:moveTo>
                    <a:pt x="0" y="0"/>
                  </a:moveTo>
                  <a:lnTo>
                    <a:pt x="9144000" y="0"/>
                  </a:lnTo>
                  <a:lnTo>
                    <a:pt x="9144000" y="1463040"/>
                  </a:lnTo>
                  <a:lnTo>
                    <a:pt x="0" y="1463040"/>
                  </a:lnTo>
                  <a:close/>
                </a:path>
              </a:pathLst>
            </a:custGeom>
            <a:blipFill>
              <a:blip r:embed="rId3">
                <a:alphaModFix amt="0"/>
              </a:blip>
              <a:stretch>
                <a:fillRect l="0" t="-71781" r="0" b="-71781"/>
              </a:stretch>
            </a:blipFill>
          </p:spPr>
        </p:sp>
        <p:sp>
          <p:nvSpPr>
            <p:cNvPr name="TextBox 57" id="57"/>
            <p:cNvSpPr txBox="true"/>
            <p:nvPr/>
          </p:nvSpPr>
          <p:spPr>
            <a:xfrm>
              <a:off x="0" y="-76200"/>
              <a:ext cx="9144000" cy="1539240"/>
            </a:xfrm>
            <a:prstGeom prst="rect">
              <a:avLst/>
            </a:prstGeom>
          </p:spPr>
          <p:txBody>
            <a:bodyPr anchor="ctr" rtlCol="false" tIns="0" lIns="0" bIns="0" rIns="0"/>
            <a:lstStyle/>
            <a:p>
              <a:pPr algn="l">
                <a:lnSpc>
                  <a:spcPts val="3744"/>
                </a:lnSpc>
              </a:pPr>
              <a:r>
                <a:rPr lang="en-US" sz="2600">
                  <a:solidFill>
                    <a:srgbClr val="1B1B2F"/>
                  </a:solidFill>
                  <a:latin typeface="Arimo"/>
                  <a:ea typeface="Arimo"/>
                  <a:cs typeface="Arimo"/>
                  <a:sym typeface="Arimo"/>
                </a:rPr>
                <a:t>Oversees data and activity across all participating hospitals in the system.</a:t>
              </a:r>
            </a:p>
          </p:txBody>
        </p:sp>
      </p:grpSp>
      <p:grpSp>
        <p:nvGrpSpPr>
          <p:cNvPr name="Group 58" id="58"/>
          <p:cNvGrpSpPr/>
          <p:nvPr/>
        </p:nvGrpSpPr>
        <p:grpSpPr>
          <a:xfrm rot="0">
            <a:off x="9806940" y="6036593"/>
            <a:ext cx="5897880" cy="548640"/>
            <a:chOff x="0" y="0"/>
            <a:chExt cx="7863840" cy="731520"/>
          </a:xfrm>
        </p:grpSpPr>
        <p:sp>
          <p:nvSpPr>
            <p:cNvPr name="Freeform 59" id="59"/>
            <p:cNvSpPr/>
            <p:nvPr/>
          </p:nvSpPr>
          <p:spPr>
            <a:xfrm flipH="false" flipV="false" rot="0">
              <a:off x="0" y="0"/>
              <a:ext cx="7863840" cy="731520"/>
            </a:xfrm>
            <a:custGeom>
              <a:avLst/>
              <a:gdLst/>
              <a:ahLst/>
              <a:cxnLst/>
              <a:rect r="r" b="b" t="t" l="l"/>
              <a:pathLst>
                <a:path h="731520" w="7863840">
                  <a:moveTo>
                    <a:pt x="0" y="0"/>
                  </a:moveTo>
                  <a:lnTo>
                    <a:pt x="7863840" y="0"/>
                  </a:lnTo>
                  <a:lnTo>
                    <a:pt x="7863840" y="731520"/>
                  </a:lnTo>
                  <a:lnTo>
                    <a:pt x="0" y="731520"/>
                  </a:lnTo>
                  <a:close/>
                </a:path>
              </a:pathLst>
            </a:custGeom>
            <a:blipFill>
              <a:blip r:embed="rId3">
                <a:alphaModFix amt="0"/>
              </a:blip>
              <a:stretch>
                <a:fillRect l="0" t="-159464" r="0" b="-159464"/>
              </a:stretch>
            </a:blipFill>
          </p:spPr>
        </p:sp>
        <p:sp>
          <p:nvSpPr>
            <p:cNvPr name="TextBox 60" id="60"/>
            <p:cNvSpPr txBox="true"/>
            <p:nvPr/>
          </p:nvSpPr>
          <p:spPr>
            <a:xfrm>
              <a:off x="0" y="-19050"/>
              <a:ext cx="7863840" cy="750570"/>
            </a:xfrm>
            <a:prstGeom prst="rect">
              <a:avLst/>
            </a:prstGeom>
          </p:spPr>
          <p:txBody>
            <a:bodyPr anchor="ctr" rtlCol="false" tIns="0" lIns="0" bIns="0" rIns="0"/>
            <a:lstStyle/>
            <a:p>
              <a:pPr algn="l">
                <a:lnSpc>
                  <a:spcPts val="3119"/>
                </a:lnSpc>
              </a:pPr>
              <a:r>
                <a:rPr lang="en-US" sz="2599" b="true">
                  <a:solidFill>
                    <a:srgbClr val="1E2761"/>
                  </a:solidFill>
                  <a:latin typeface="Arimo Bold"/>
                  <a:ea typeface="Arimo Bold"/>
                  <a:cs typeface="Arimo Bold"/>
                  <a:sym typeface="Arimo Bold"/>
                </a:rPr>
                <a:t>Administrator</a:t>
              </a:r>
            </a:p>
          </p:txBody>
        </p:sp>
      </p:grpSp>
      <p:grpSp>
        <p:nvGrpSpPr>
          <p:cNvPr name="Group 61" id="61"/>
          <p:cNvGrpSpPr/>
          <p:nvPr/>
        </p:nvGrpSpPr>
        <p:grpSpPr>
          <a:xfrm rot="0">
            <a:off x="8915400" y="5990415"/>
            <a:ext cx="685800" cy="685800"/>
            <a:chOff x="0" y="0"/>
            <a:chExt cx="914400" cy="914400"/>
          </a:xfrm>
        </p:grpSpPr>
        <p:sp>
          <p:nvSpPr>
            <p:cNvPr name="Freeform 62" id="6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63" id="63"/>
          <p:cNvGrpSpPr/>
          <p:nvPr/>
        </p:nvGrpSpPr>
        <p:grpSpPr>
          <a:xfrm rot="0">
            <a:off x="8915400" y="5990415"/>
            <a:ext cx="685800" cy="685800"/>
            <a:chOff x="0" y="0"/>
            <a:chExt cx="914400" cy="914400"/>
          </a:xfrm>
        </p:grpSpPr>
        <p:sp>
          <p:nvSpPr>
            <p:cNvPr name="Freeform 64" id="6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65" id="65"/>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FFFFFF"/>
                  </a:solidFill>
                  <a:latin typeface="Arimo Bold"/>
                  <a:ea typeface="Arimo Bold"/>
                  <a:cs typeface="Arimo Bold"/>
                  <a:sym typeface="Arimo Bold"/>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IMPLEMENTATION</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Technology Stack</a:t>
              </a:r>
            </a:p>
          </p:txBody>
        </p:sp>
      </p:grpSp>
      <p:grpSp>
        <p:nvGrpSpPr>
          <p:cNvPr name="Group 8" id="8"/>
          <p:cNvGrpSpPr/>
          <p:nvPr/>
        </p:nvGrpSpPr>
        <p:grpSpPr>
          <a:xfrm rot="0">
            <a:off x="822960" y="2674620"/>
            <a:ext cx="3771900" cy="4251960"/>
            <a:chOff x="0" y="0"/>
            <a:chExt cx="5029200" cy="5669280"/>
          </a:xfrm>
        </p:grpSpPr>
        <p:sp>
          <p:nvSpPr>
            <p:cNvPr name="Freeform 9" id="9"/>
            <p:cNvSpPr/>
            <p:nvPr/>
          </p:nvSpPr>
          <p:spPr>
            <a:xfrm flipH="false" flipV="false" rot="0">
              <a:off x="0" y="0"/>
              <a:ext cx="5029200" cy="5669280"/>
            </a:xfrm>
            <a:custGeom>
              <a:avLst/>
              <a:gdLst/>
              <a:ahLst/>
              <a:cxnLst/>
              <a:rect r="r" b="b" t="t" l="l"/>
              <a:pathLst>
                <a:path h="5669280" w="5029200">
                  <a:moveTo>
                    <a:pt x="0" y="146304"/>
                  </a:moveTo>
                  <a:cubicBezTo>
                    <a:pt x="0" y="65532"/>
                    <a:pt x="65532" y="0"/>
                    <a:pt x="146304" y="0"/>
                  </a:cubicBezTo>
                  <a:lnTo>
                    <a:pt x="4882896" y="0"/>
                  </a:lnTo>
                  <a:cubicBezTo>
                    <a:pt x="4963668" y="0"/>
                    <a:pt x="5029200" y="65532"/>
                    <a:pt x="5029200" y="146304"/>
                  </a:cubicBezTo>
                  <a:lnTo>
                    <a:pt x="5029200" y="5522976"/>
                  </a:lnTo>
                  <a:cubicBezTo>
                    <a:pt x="5029200" y="5603748"/>
                    <a:pt x="4963668" y="5669280"/>
                    <a:pt x="4882896" y="5669280"/>
                  </a:cubicBezTo>
                  <a:lnTo>
                    <a:pt x="146304" y="5669280"/>
                  </a:lnTo>
                  <a:cubicBezTo>
                    <a:pt x="65532" y="5669280"/>
                    <a:pt x="0" y="5603748"/>
                    <a:pt x="0" y="5522976"/>
                  </a:cubicBezTo>
                  <a:close/>
                </a:path>
              </a:pathLst>
            </a:custGeom>
            <a:solidFill>
              <a:srgbClr val="1E2761"/>
            </a:solidFill>
          </p:spPr>
        </p:sp>
      </p:grpSp>
      <p:grpSp>
        <p:nvGrpSpPr>
          <p:cNvPr name="Group 10" id="10"/>
          <p:cNvGrpSpPr/>
          <p:nvPr/>
        </p:nvGrpSpPr>
        <p:grpSpPr>
          <a:xfrm rot="0">
            <a:off x="1165860" y="3154680"/>
            <a:ext cx="3086100" cy="685800"/>
            <a:chOff x="0" y="0"/>
            <a:chExt cx="4114800" cy="914400"/>
          </a:xfrm>
        </p:grpSpPr>
        <p:sp>
          <p:nvSpPr>
            <p:cNvPr name="Freeform 11" id="11"/>
            <p:cNvSpPr/>
            <p:nvPr/>
          </p:nvSpPr>
          <p:spPr>
            <a:xfrm flipH="false" flipV="false" rot="0">
              <a:off x="0" y="0"/>
              <a:ext cx="4114800" cy="914400"/>
            </a:xfrm>
            <a:custGeom>
              <a:avLst/>
              <a:gdLst/>
              <a:ahLst/>
              <a:cxnLst/>
              <a:rect r="r" b="b" t="t" l="l"/>
              <a:pathLst>
                <a:path h="914400" w="4114800">
                  <a:moveTo>
                    <a:pt x="0" y="0"/>
                  </a:moveTo>
                  <a:lnTo>
                    <a:pt x="4114800" y="0"/>
                  </a:lnTo>
                  <a:lnTo>
                    <a:pt x="4114800" y="914400"/>
                  </a:lnTo>
                  <a:lnTo>
                    <a:pt x="0" y="914400"/>
                  </a:lnTo>
                  <a:close/>
                </a:path>
              </a:pathLst>
            </a:custGeom>
            <a:blipFill>
              <a:blip r:embed="rId3">
                <a:alphaModFix amt="0"/>
              </a:blip>
              <a:stretch>
                <a:fillRect l="0" t="-37682" r="0" b="-37682"/>
              </a:stretch>
            </a:blipFill>
          </p:spPr>
        </p:sp>
        <p:sp>
          <p:nvSpPr>
            <p:cNvPr name="TextBox 12" id="12"/>
            <p:cNvSpPr txBox="true"/>
            <p:nvPr/>
          </p:nvSpPr>
          <p:spPr>
            <a:xfrm>
              <a:off x="0" y="-9525"/>
              <a:ext cx="4114800" cy="923925"/>
            </a:xfrm>
            <a:prstGeom prst="rect">
              <a:avLst/>
            </a:prstGeom>
          </p:spPr>
          <p:txBody>
            <a:bodyPr anchor="ctr" rtlCol="false" tIns="0" lIns="0" bIns="0" rIns="0"/>
            <a:lstStyle/>
            <a:p>
              <a:pPr algn="l">
                <a:lnSpc>
                  <a:spcPts val="3419"/>
                </a:lnSpc>
              </a:pPr>
              <a:r>
                <a:rPr lang="en-US" sz="2850" b="true">
                  <a:solidFill>
                    <a:srgbClr val="FFFFFF"/>
                  </a:solidFill>
                  <a:latin typeface="Cambria Bold"/>
                  <a:ea typeface="Cambria Bold"/>
                  <a:cs typeface="Cambria Bold"/>
                  <a:sym typeface="Cambria Bold"/>
                </a:rPr>
                <a:t>MongoDB</a:t>
              </a:r>
            </a:p>
          </p:txBody>
        </p:sp>
      </p:grpSp>
      <p:grpSp>
        <p:nvGrpSpPr>
          <p:cNvPr name="Group 13" id="13"/>
          <p:cNvGrpSpPr/>
          <p:nvPr/>
        </p:nvGrpSpPr>
        <p:grpSpPr>
          <a:xfrm rot="0">
            <a:off x="1165860" y="3840480"/>
            <a:ext cx="3086100" cy="411480"/>
            <a:chOff x="0" y="0"/>
            <a:chExt cx="4114800" cy="548640"/>
          </a:xfrm>
        </p:grpSpPr>
        <p:sp>
          <p:nvSpPr>
            <p:cNvPr name="Freeform 14" id="14"/>
            <p:cNvSpPr/>
            <p:nvPr/>
          </p:nvSpPr>
          <p:spPr>
            <a:xfrm flipH="false" flipV="false" rot="0">
              <a:off x="0" y="0"/>
              <a:ext cx="4114800" cy="548640"/>
            </a:xfrm>
            <a:custGeom>
              <a:avLst/>
              <a:gdLst/>
              <a:ahLst/>
              <a:cxnLst/>
              <a:rect r="r" b="b" t="t" l="l"/>
              <a:pathLst>
                <a:path h="548640" w="4114800">
                  <a:moveTo>
                    <a:pt x="0" y="0"/>
                  </a:moveTo>
                  <a:lnTo>
                    <a:pt x="4114800" y="0"/>
                  </a:lnTo>
                  <a:lnTo>
                    <a:pt x="4114800" y="548640"/>
                  </a:lnTo>
                  <a:lnTo>
                    <a:pt x="0" y="548640"/>
                  </a:lnTo>
                  <a:close/>
                </a:path>
              </a:pathLst>
            </a:custGeom>
            <a:blipFill>
              <a:blip r:embed="rId3">
                <a:alphaModFix amt="0"/>
              </a:blip>
              <a:stretch>
                <a:fillRect l="0" t="-96137" r="0" b="-96137"/>
              </a:stretch>
            </a:blipFill>
          </p:spPr>
        </p:sp>
        <p:sp>
          <p:nvSpPr>
            <p:cNvPr name="TextBox 15" id="15"/>
            <p:cNvSpPr txBox="true"/>
            <p:nvPr/>
          </p:nvSpPr>
          <p:spPr>
            <a:xfrm>
              <a:off x="0" y="-19050"/>
              <a:ext cx="4114800" cy="567690"/>
            </a:xfrm>
            <a:prstGeom prst="rect">
              <a:avLst/>
            </a:prstGeom>
          </p:spPr>
          <p:txBody>
            <a:bodyPr anchor="ctr" rtlCol="false" tIns="0" lIns="0" bIns="0" rIns="0"/>
            <a:lstStyle/>
            <a:p>
              <a:pPr algn="l">
                <a:lnSpc>
                  <a:spcPts val="2069"/>
                </a:lnSpc>
              </a:pPr>
              <a:r>
                <a:rPr lang="en-US" b="true" sz="1724" spc="181">
                  <a:solidFill>
                    <a:srgbClr val="CADCFC"/>
                  </a:solidFill>
                  <a:latin typeface="Arimo Bold"/>
                  <a:ea typeface="Arimo Bold"/>
                  <a:cs typeface="Arimo Bold"/>
                  <a:sym typeface="Arimo Bold"/>
                </a:rPr>
                <a:t>DATABASE</a:t>
              </a:r>
            </a:p>
          </p:txBody>
        </p:sp>
      </p:grpSp>
      <p:grpSp>
        <p:nvGrpSpPr>
          <p:cNvPr name="Group 16" id="16"/>
          <p:cNvGrpSpPr/>
          <p:nvPr/>
        </p:nvGrpSpPr>
        <p:grpSpPr>
          <a:xfrm rot="0">
            <a:off x="1165860" y="4526280"/>
            <a:ext cx="3086100" cy="2079095"/>
            <a:chOff x="0" y="0"/>
            <a:chExt cx="4114800" cy="2772126"/>
          </a:xfrm>
        </p:grpSpPr>
        <p:sp>
          <p:nvSpPr>
            <p:cNvPr name="Freeform 17" id="17"/>
            <p:cNvSpPr/>
            <p:nvPr/>
          </p:nvSpPr>
          <p:spPr>
            <a:xfrm flipH="false" flipV="false" rot="0">
              <a:off x="0" y="0"/>
              <a:ext cx="4114800" cy="2772126"/>
            </a:xfrm>
            <a:custGeom>
              <a:avLst/>
              <a:gdLst/>
              <a:ahLst/>
              <a:cxnLst/>
              <a:rect r="r" b="b" t="t" l="l"/>
              <a:pathLst>
                <a:path h="2772126" w="4114800">
                  <a:moveTo>
                    <a:pt x="0" y="0"/>
                  </a:moveTo>
                  <a:lnTo>
                    <a:pt x="4114800" y="0"/>
                  </a:lnTo>
                  <a:lnTo>
                    <a:pt x="4114800" y="2772126"/>
                  </a:lnTo>
                  <a:lnTo>
                    <a:pt x="0" y="2772126"/>
                  </a:lnTo>
                  <a:close/>
                </a:path>
              </a:pathLst>
            </a:custGeom>
            <a:blipFill>
              <a:blip r:embed="rId3">
                <a:alphaModFix amt="0"/>
              </a:blip>
              <a:stretch>
                <a:fillRect l="-35535" t="0" r="-35535" b="1043"/>
              </a:stretch>
            </a:blipFill>
          </p:spPr>
        </p:sp>
        <p:sp>
          <p:nvSpPr>
            <p:cNvPr name="TextBox 18" id="18"/>
            <p:cNvSpPr txBox="true"/>
            <p:nvPr/>
          </p:nvSpPr>
          <p:spPr>
            <a:xfrm>
              <a:off x="0" y="-76200"/>
              <a:ext cx="4114800" cy="2848326"/>
            </a:xfrm>
            <a:prstGeom prst="rect">
              <a:avLst/>
            </a:prstGeom>
          </p:spPr>
          <p:txBody>
            <a:bodyPr anchor="ctr" rtlCol="false" tIns="0" lIns="0" bIns="0" rIns="0"/>
            <a:lstStyle/>
            <a:p>
              <a:pPr algn="l">
                <a:lnSpc>
                  <a:spcPts val="3995"/>
                </a:lnSpc>
              </a:pPr>
              <a:r>
                <a:rPr lang="en-US" sz="2774">
                  <a:solidFill>
                    <a:srgbClr val="CADCFC"/>
                  </a:solidFill>
                  <a:latin typeface="Arimo"/>
                  <a:ea typeface="Arimo"/>
                  <a:cs typeface="Arimo"/>
                  <a:sym typeface="Arimo"/>
                </a:rPr>
                <a:t>Stores patient, appointment, and record data as documents</a:t>
              </a:r>
            </a:p>
          </p:txBody>
        </p:sp>
      </p:grpSp>
      <p:grpSp>
        <p:nvGrpSpPr>
          <p:cNvPr name="Group 19" id="19"/>
          <p:cNvGrpSpPr/>
          <p:nvPr/>
        </p:nvGrpSpPr>
        <p:grpSpPr>
          <a:xfrm rot="0">
            <a:off x="4896612" y="2674620"/>
            <a:ext cx="3771900" cy="4251960"/>
            <a:chOff x="0" y="0"/>
            <a:chExt cx="5029200" cy="5669280"/>
          </a:xfrm>
        </p:grpSpPr>
        <p:sp>
          <p:nvSpPr>
            <p:cNvPr name="Freeform 20" id="20"/>
            <p:cNvSpPr/>
            <p:nvPr/>
          </p:nvSpPr>
          <p:spPr>
            <a:xfrm flipH="false" flipV="false" rot="0">
              <a:off x="0" y="0"/>
              <a:ext cx="5029200" cy="5669280"/>
            </a:xfrm>
            <a:custGeom>
              <a:avLst/>
              <a:gdLst/>
              <a:ahLst/>
              <a:cxnLst/>
              <a:rect r="r" b="b" t="t" l="l"/>
              <a:pathLst>
                <a:path h="5669280" w="5029200">
                  <a:moveTo>
                    <a:pt x="0" y="146304"/>
                  </a:moveTo>
                  <a:cubicBezTo>
                    <a:pt x="0" y="65532"/>
                    <a:pt x="65532" y="0"/>
                    <a:pt x="146304" y="0"/>
                  </a:cubicBezTo>
                  <a:lnTo>
                    <a:pt x="4882896" y="0"/>
                  </a:lnTo>
                  <a:cubicBezTo>
                    <a:pt x="4963668" y="0"/>
                    <a:pt x="5029200" y="65532"/>
                    <a:pt x="5029200" y="146304"/>
                  </a:cubicBezTo>
                  <a:lnTo>
                    <a:pt x="5029200" y="5522976"/>
                  </a:lnTo>
                  <a:cubicBezTo>
                    <a:pt x="5029200" y="5603748"/>
                    <a:pt x="4963668" y="5669280"/>
                    <a:pt x="4882896" y="5669280"/>
                  </a:cubicBezTo>
                  <a:lnTo>
                    <a:pt x="146304" y="5669280"/>
                  </a:lnTo>
                  <a:cubicBezTo>
                    <a:pt x="65532" y="5669280"/>
                    <a:pt x="0" y="5603748"/>
                    <a:pt x="0" y="5522976"/>
                  </a:cubicBezTo>
                  <a:close/>
                </a:path>
              </a:pathLst>
            </a:custGeom>
            <a:solidFill>
              <a:srgbClr val="F3F6FD"/>
            </a:solidFill>
          </p:spPr>
        </p:sp>
      </p:grpSp>
      <p:grpSp>
        <p:nvGrpSpPr>
          <p:cNvPr name="Group 21" id="21"/>
          <p:cNvGrpSpPr/>
          <p:nvPr/>
        </p:nvGrpSpPr>
        <p:grpSpPr>
          <a:xfrm rot="0">
            <a:off x="5239512" y="3154680"/>
            <a:ext cx="3086100" cy="685800"/>
            <a:chOff x="0" y="0"/>
            <a:chExt cx="4114800" cy="914400"/>
          </a:xfrm>
        </p:grpSpPr>
        <p:sp>
          <p:nvSpPr>
            <p:cNvPr name="Freeform 22" id="22"/>
            <p:cNvSpPr/>
            <p:nvPr/>
          </p:nvSpPr>
          <p:spPr>
            <a:xfrm flipH="false" flipV="false" rot="0">
              <a:off x="0" y="0"/>
              <a:ext cx="4114800" cy="914400"/>
            </a:xfrm>
            <a:custGeom>
              <a:avLst/>
              <a:gdLst/>
              <a:ahLst/>
              <a:cxnLst/>
              <a:rect r="r" b="b" t="t" l="l"/>
              <a:pathLst>
                <a:path h="914400" w="4114800">
                  <a:moveTo>
                    <a:pt x="0" y="0"/>
                  </a:moveTo>
                  <a:lnTo>
                    <a:pt x="4114800" y="0"/>
                  </a:lnTo>
                  <a:lnTo>
                    <a:pt x="4114800" y="914400"/>
                  </a:lnTo>
                  <a:lnTo>
                    <a:pt x="0" y="914400"/>
                  </a:lnTo>
                  <a:close/>
                </a:path>
              </a:pathLst>
            </a:custGeom>
            <a:blipFill>
              <a:blip r:embed="rId3">
                <a:alphaModFix amt="0"/>
              </a:blip>
              <a:stretch>
                <a:fillRect l="0" t="-37682" r="0" b="-37682"/>
              </a:stretch>
            </a:blipFill>
          </p:spPr>
        </p:sp>
        <p:sp>
          <p:nvSpPr>
            <p:cNvPr name="TextBox 23" id="23"/>
            <p:cNvSpPr txBox="true"/>
            <p:nvPr/>
          </p:nvSpPr>
          <p:spPr>
            <a:xfrm>
              <a:off x="0" y="-9525"/>
              <a:ext cx="4114800" cy="923925"/>
            </a:xfrm>
            <a:prstGeom prst="rect">
              <a:avLst/>
            </a:prstGeom>
          </p:spPr>
          <p:txBody>
            <a:bodyPr anchor="ctr" rtlCol="false" tIns="0" lIns="0" bIns="0" rIns="0"/>
            <a:lstStyle/>
            <a:p>
              <a:pPr algn="l">
                <a:lnSpc>
                  <a:spcPts val="3419"/>
                </a:lnSpc>
              </a:pPr>
              <a:r>
                <a:rPr lang="en-US" sz="2850" b="true">
                  <a:solidFill>
                    <a:srgbClr val="1E2761"/>
                  </a:solidFill>
                  <a:latin typeface="Cambria Bold"/>
                  <a:ea typeface="Cambria Bold"/>
                  <a:cs typeface="Cambria Bold"/>
                  <a:sym typeface="Cambria Bold"/>
                </a:rPr>
                <a:t>Express.js</a:t>
              </a:r>
            </a:p>
          </p:txBody>
        </p:sp>
      </p:grpSp>
      <p:grpSp>
        <p:nvGrpSpPr>
          <p:cNvPr name="Group 24" id="24"/>
          <p:cNvGrpSpPr/>
          <p:nvPr/>
        </p:nvGrpSpPr>
        <p:grpSpPr>
          <a:xfrm rot="0">
            <a:off x="5239512" y="3840480"/>
            <a:ext cx="3086100" cy="411480"/>
            <a:chOff x="0" y="0"/>
            <a:chExt cx="4114800" cy="548640"/>
          </a:xfrm>
        </p:grpSpPr>
        <p:sp>
          <p:nvSpPr>
            <p:cNvPr name="Freeform 25" id="25"/>
            <p:cNvSpPr/>
            <p:nvPr/>
          </p:nvSpPr>
          <p:spPr>
            <a:xfrm flipH="false" flipV="false" rot="0">
              <a:off x="0" y="0"/>
              <a:ext cx="4114800" cy="548640"/>
            </a:xfrm>
            <a:custGeom>
              <a:avLst/>
              <a:gdLst/>
              <a:ahLst/>
              <a:cxnLst/>
              <a:rect r="r" b="b" t="t" l="l"/>
              <a:pathLst>
                <a:path h="548640" w="4114800">
                  <a:moveTo>
                    <a:pt x="0" y="0"/>
                  </a:moveTo>
                  <a:lnTo>
                    <a:pt x="4114800" y="0"/>
                  </a:lnTo>
                  <a:lnTo>
                    <a:pt x="4114800" y="548640"/>
                  </a:lnTo>
                  <a:lnTo>
                    <a:pt x="0" y="548640"/>
                  </a:lnTo>
                  <a:close/>
                </a:path>
              </a:pathLst>
            </a:custGeom>
            <a:blipFill>
              <a:blip r:embed="rId3">
                <a:alphaModFix amt="0"/>
              </a:blip>
              <a:stretch>
                <a:fillRect l="0" t="-96137" r="0" b="-96137"/>
              </a:stretch>
            </a:blipFill>
          </p:spPr>
        </p:sp>
        <p:sp>
          <p:nvSpPr>
            <p:cNvPr name="TextBox 26" id="26"/>
            <p:cNvSpPr txBox="true"/>
            <p:nvPr/>
          </p:nvSpPr>
          <p:spPr>
            <a:xfrm>
              <a:off x="0" y="-19050"/>
              <a:ext cx="4114800" cy="567690"/>
            </a:xfrm>
            <a:prstGeom prst="rect">
              <a:avLst/>
            </a:prstGeom>
          </p:spPr>
          <p:txBody>
            <a:bodyPr anchor="ctr" rtlCol="false" tIns="0" lIns="0" bIns="0" rIns="0"/>
            <a:lstStyle/>
            <a:p>
              <a:pPr algn="l">
                <a:lnSpc>
                  <a:spcPts val="2069"/>
                </a:lnSpc>
              </a:pPr>
              <a:r>
                <a:rPr lang="en-US" b="true" sz="1724" spc="181">
                  <a:solidFill>
                    <a:srgbClr val="000000"/>
                  </a:solidFill>
                  <a:latin typeface="Arimo Bold"/>
                  <a:ea typeface="Arimo Bold"/>
                  <a:cs typeface="Arimo Bold"/>
                  <a:sym typeface="Arimo Bold"/>
                </a:rPr>
                <a:t>BACKEND FRAMEWORK</a:t>
              </a:r>
            </a:p>
          </p:txBody>
        </p:sp>
      </p:grpSp>
      <p:grpSp>
        <p:nvGrpSpPr>
          <p:cNvPr name="Group 27" id="27"/>
          <p:cNvGrpSpPr/>
          <p:nvPr/>
        </p:nvGrpSpPr>
        <p:grpSpPr>
          <a:xfrm rot="0">
            <a:off x="5239512" y="4526280"/>
            <a:ext cx="3086100" cy="2057400"/>
            <a:chOff x="0" y="0"/>
            <a:chExt cx="4114800" cy="2743200"/>
          </a:xfrm>
        </p:grpSpPr>
        <p:sp>
          <p:nvSpPr>
            <p:cNvPr name="Freeform 28" id="28"/>
            <p:cNvSpPr/>
            <p:nvPr/>
          </p:nvSpPr>
          <p:spPr>
            <a:xfrm flipH="false" flipV="false" rot="0">
              <a:off x="0" y="0"/>
              <a:ext cx="4114800" cy="2743200"/>
            </a:xfrm>
            <a:custGeom>
              <a:avLst/>
              <a:gdLst/>
              <a:ahLst/>
              <a:cxnLst/>
              <a:rect r="r" b="b" t="t" l="l"/>
              <a:pathLst>
                <a:path h="2743200" w="4114800">
                  <a:moveTo>
                    <a:pt x="0" y="0"/>
                  </a:moveTo>
                  <a:lnTo>
                    <a:pt x="4114800" y="0"/>
                  </a:lnTo>
                  <a:lnTo>
                    <a:pt x="4114800" y="2743200"/>
                  </a:lnTo>
                  <a:lnTo>
                    <a:pt x="0" y="2743200"/>
                  </a:lnTo>
                  <a:close/>
                </a:path>
              </a:pathLst>
            </a:custGeom>
            <a:blipFill>
              <a:blip r:embed="rId3">
                <a:alphaModFix amt="0"/>
              </a:blip>
              <a:stretch>
                <a:fillRect l="-35535" t="0" r="-35535" b="0"/>
              </a:stretch>
            </a:blipFill>
          </p:spPr>
        </p:sp>
        <p:sp>
          <p:nvSpPr>
            <p:cNvPr name="TextBox 29" id="29"/>
            <p:cNvSpPr txBox="true"/>
            <p:nvPr/>
          </p:nvSpPr>
          <p:spPr>
            <a:xfrm>
              <a:off x="0" y="-76200"/>
              <a:ext cx="4114800" cy="2819400"/>
            </a:xfrm>
            <a:prstGeom prst="rect">
              <a:avLst/>
            </a:prstGeom>
          </p:spPr>
          <p:txBody>
            <a:bodyPr anchor="ctr" rtlCol="false" tIns="0" lIns="0" bIns="0" rIns="0"/>
            <a:lstStyle/>
            <a:p>
              <a:pPr algn="l">
                <a:lnSpc>
                  <a:spcPts val="3995"/>
                </a:lnSpc>
              </a:pPr>
              <a:r>
                <a:rPr lang="en-US" sz="2774">
                  <a:solidFill>
                    <a:srgbClr val="5B6485"/>
                  </a:solidFill>
                  <a:latin typeface="Arimo"/>
                  <a:ea typeface="Arimo"/>
                  <a:cs typeface="Arimo"/>
                  <a:sym typeface="Arimo"/>
                </a:rPr>
                <a:t>Handles REST API routing and business logic</a:t>
              </a:r>
            </a:p>
          </p:txBody>
        </p:sp>
      </p:grpSp>
      <p:grpSp>
        <p:nvGrpSpPr>
          <p:cNvPr name="Group 30" id="30"/>
          <p:cNvGrpSpPr/>
          <p:nvPr/>
        </p:nvGrpSpPr>
        <p:grpSpPr>
          <a:xfrm rot="0">
            <a:off x="8970264" y="2674620"/>
            <a:ext cx="3771900" cy="4251960"/>
            <a:chOff x="0" y="0"/>
            <a:chExt cx="5029200" cy="5669280"/>
          </a:xfrm>
        </p:grpSpPr>
        <p:sp>
          <p:nvSpPr>
            <p:cNvPr name="Freeform 31" id="31"/>
            <p:cNvSpPr/>
            <p:nvPr/>
          </p:nvSpPr>
          <p:spPr>
            <a:xfrm flipH="false" flipV="false" rot="0">
              <a:off x="0" y="0"/>
              <a:ext cx="5029200" cy="5669280"/>
            </a:xfrm>
            <a:custGeom>
              <a:avLst/>
              <a:gdLst/>
              <a:ahLst/>
              <a:cxnLst/>
              <a:rect r="r" b="b" t="t" l="l"/>
              <a:pathLst>
                <a:path h="5669280" w="5029200">
                  <a:moveTo>
                    <a:pt x="0" y="146304"/>
                  </a:moveTo>
                  <a:cubicBezTo>
                    <a:pt x="0" y="65532"/>
                    <a:pt x="65532" y="0"/>
                    <a:pt x="146304" y="0"/>
                  </a:cubicBezTo>
                  <a:lnTo>
                    <a:pt x="4882896" y="0"/>
                  </a:lnTo>
                  <a:cubicBezTo>
                    <a:pt x="4963668" y="0"/>
                    <a:pt x="5029200" y="65532"/>
                    <a:pt x="5029200" y="146304"/>
                  </a:cubicBezTo>
                  <a:lnTo>
                    <a:pt x="5029200" y="5522976"/>
                  </a:lnTo>
                  <a:cubicBezTo>
                    <a:pt x="5029200" y="5603748"/>
                    <a:pt x="4963668" y="5669280"/>
                    <a:pt x="4882896" y="5669280"/>
                  </a:cubicBezTo>
                  <a:lnTo>
                    <a:pt x="146304" y="5669280"/>
                  </a:lnTo>
                  <a:cubicBezTo>
                    <a:pt x="65532" y="5669280"/>
                    <a:pt x="0" y="5603748"/>
                    <a:pt x="0" y="5522976"/>
                  </a:cubicBezTo>
                  <a:close/>
                </a:path>
              </a:pathLst>
            </a:custGeom>
            <a:solidFill>
              <a:srgbClr val="1E2761"/>
            </a:solidFill>
          </p:spPr>
        </p:sp>
      </p:grpSp>
      <p:grpSp>
        <p:nvGrpSpPr>
          <p:cNvPr name="Group 32" id="32"/>
          <p:cNvGrpSpPr/>
          <p:nvPr/>
        </p:nvGrpSpPr>
        <p:grpSpPr>
          <a:xfrm rot="0">
            <a:off x="9313164" y="3154680"/>
            <a:ext cx="3086100" cy="685800"/>
            <a:chOff x="0" y="0"/>
            <a:chExt cx="4114800" cy="914400"/>
          </a:xfrm>
        </p:grpSpPr>
        <p:sp>
          <p:nvSpPr>
            <p:cNvPr name="Freeform 33" id="33"/>
            <p:cNvSpPr/>
            <p:nvPr/>
          </p:nvSpPr>
          <p:spPr>
            <a:xfrm flipH="false" flipV="false" rot="0">
              <a:off x="0" y="0"/>
              <a:ext cx="4114800" cy="914400"/>
            </a:xfrm>
            <a:custGeom>
              <a:avLst/>
              <a:gdLst/>
              <a:ahLst/>
              <a:cxnLst/>
              <a:rect r="r" b="b" t="t" l="l"/>
              <a:pathLst>
                <a:path h="914400" w="4114800">
                  <a:moveTo>
                    <a:pt x="0" y="0"/>
                  </a:moveTo>
                  <a:lnTo>
                    <a:pt x="4114800" y="0"/>
                  </a:lnTo>
                  <a:lnTo>
                    <a:pt x="4114800" y="914400"/>
                  </a:lnTo>
                  <a:lnTo>
                    <a:pt x="0" y="914400"/>
                  </a:lnTo>
                  <a:close/>
                </a:path>
              </a:pathLst>
            </a:custGeom>
            <a:blipFill>
              <a:blip r:embed="rId3">
                <a:alphaModFix amt="0"/>
              </a:blip>
              <a:stretch>
                <a:fillRect l="0" t="-37682" r="0" b="-37682"/>
              </a:stretch>
            </a:blipFill>
          </p:spPr>
        </p:sp>
        <p:sp>
          <p:nvSpPr>
            <p:cNvPr name="TextBox 34" id="34"/>
            <p:cNvSpPr txBox="true"/>
            <p:nvPr/>
          </p:nvSpPr>
          <p:spPr>
            <a:xfrm>
              <a:off x="0" y="-9525"/>
              <a:ext cx="4114800" cy="923925"/>
            </a:xfrm>
            <a:prstGeom prst="rect">
              <a:avLst/>
            </a:prstGeom>
          </p:spPr>
          <p:txBody>
            <a:bodyPr anchor="ctr" rtlCol="false" tIns="0" lIns="0" bIns="0" rIns="0"/>
            <a:lstStyle/>
            <a:p>
              <a:pPr algn="l">
                <a:lnSpc>
                  <a:spcPts val="3419"/>
                </a:lnSpc>
              </a:pPr>
              <a:r>
                <a:rPr lang="en-US" sz="2850" b="true">
                  <a:solidFill>
                    <a:srgbClr val="FFFFFF"/>
                  </a:solidFill>
                  <a:latin typeface="Cambria Bold"/>
                  <a:ea typeface="Cambria Bold"/>
                  <a:cs typeface="Cambria Bold"/>
                  <a:sym typeface="Cambria Bold"/>
                </a:rPr>
                <a:t>React.js</a:t>
              </a:r>
            </a:p>
          </p:txBody>
        </p:sp>
      </p:grpSp>
      <p:grpSp>
        <p:nvGrpSpPr>
          <p:cNvPr name="Group 35" id="35"/>
          <p:cNvGrpSpPr/>
          <p:nvPr/>
        </p:nvGrpSpPr>
        <p:grpSpPr>
          <a:xfrm rot="0">
            <a:off x="9313164" y="3840480"/>
            <a:ext cx="3086100" cy="411480"/>
            <a:chOff x="0" y="0"/>
            <a:chExt cx="4114800" cy="548640"/>
          </a:xfrm>
        </p:grpSpPr>
        <p:sp>
          <p:nvSpPr>
            <p:cNvPr name="Freeform 36" id="36"/>
            <p:cNvSpPr/>
            <p:nvPr/>
          </p:nvSpPr>
          <p:spPr>
            <a:xfrm flipH="false" flipV="false" rot="0">
              <a:off x="0" y="0"/>
              <a:ext cx="4114800" cy="548640"/>
            </a:xfrm>
            <a:custGeom>
              <a:avLst/>
              <a:gdLst/>
              <a:ahLst/>
              <a:cxnLst/>
              <a:rect r="r" b="b" t="t" l="l"/>
              <a:pathLst>
                <a:path h="548640" w="4114800">
                  <a:moveTo>
                    <a:pt x="0" y="0"/>
                  </a:moveTo>
                  <a:lnTo>
                    <a:pt x="4114800" y="0"/>
                  </a:lnTo>
                  <a:lnTo>
                    <a:pt x="4114800" y="548640"/>
                  </a:lnTo>
                  <a:lnTo>
                    <a:pt x="0" y="548640"/>
                  </a:lnTo>
                  <a:close/>
                </a:path>
              </a:pathLst>
            </a:custGeom>
            <a:blipFill>
              <a:blip r:embed="rId3">
                <a:alphaModFix amt="0"/>
              </a:blip>
              <a:stretch>
                <a:fillRect l="0" t="-96137" r="0" b="-96137"/>
              </a:stretch>
            </a:blipFill>
          </p:spPr>
        </p:sp>
        <p:sp>
          <p:nvSpPr>
            <p:cNvPr name="TextBox 37" id="37"/>
            <p:cNvSpPr txBox="true"/>
            <p:nvPr/>
          </p:nvSpPr>
          <p:spPr>
            <a:xfrm>
              <a:off x="0" y="-19050"/>
              <a:ext cx="4114800" cy="567690"/>
            </a:xfrm>
            <a:prstGeom prst="rect">
              <a:avLst/>
            </a:prstGeom>
          </p:spPr>
          <p:txBody>
            <a:bodyPr anchor="ctr" rtlCol="false" tIns="0" lIns="0" bIns="0" rIns="0"/>
            <a:lstStyle/>
            <a:p>
              <a:pPr algn="l">
                <a:lnSpc>
                  <a:spcPts val="2069"/>
                </a:lnSpc>
              </a:pPr>
              <a:r>
                <a:rPr lang="en-US" b="true" sz="1724" spc="181">
                  <a:solidFill>
                    <a:srgbClr val="CADCFC"/>
                  </a:solidFill>
                  <a:latin typeface="Arimo Bold"/>
                  <a:ea typeface="Arimo Bold"/>
                  <a:cs typeface="Arimo Bold"/>
                  <a:sym typeface="Arimo Bold"/>
                </a:rPr>
                <a:t>FRONTEND</a:t>
              </a:r>
            </a:p>
          </p:txBody>
        </p:sp>
      </p:grpSp>
      <p:grpSp>
        <p:nvGrpSpPr>
          <p:cNvPr name="Group 38" id="38"/>
          <p:cNvGrpSpPr/>
          <p:nvPr/>
        </p:nvGrpSpPr>
        <p:grpSpPr>
          <a:xfrm rot="0">
            <a:off x="9313164" y="4526280"/>
            <a:ext cx="3086100" cy="2057400"/>
            <a:chOff x="0" y="0"/>
            <a:chExt cx="4114800" cy="2743200"/>
          </a:xfrm>
        </p:grpSpPr>
        <p:sp>
          <p:nvSpPr>
            <p:cNvPr name="Freeform 39" id="39"/>
            <p:cNvSpPr/>
            <p:nvPr/>
          </p:nvSpPr>
          <p:spPr>
            <a:xfrm flipH="false" flipV="false" rot="0">
              <a:off x="0" y="0"/>
              <a:ext cx="4114800" cy="2743200"/>
            </a:xfrm>
            <a:custGeom>
              <a:avLst/>
              <a:gdLst/>
              <a:ahLst/>
              <a:cxnLst/>
              <a:rect r="r" b="b" t="t" l="l"/>
              <a:pathLst>
                <a:path h="2743200" w="4114800">
                  <a:moveTo>
                    <a:pt x="0" y="0"/>
                  </a:moveTo>
                  <a:lnTo>
                    <a:pt x="4114800" y="0"/>
                  </a:lnTo>
                  <a:lnTo>
                    <a:pt x="4114800" y="2743200"/>
                  </a:lnTo>
                  <a:lnTo>
                    <a:pt x="0" y="2743200"/>
                  </a:lnTo>
                  <a:close/>
                </a:path>
              </a:pathLst>
            </a:custGeom>
            <a:blipFill>
              <a:blip r:embed="rId3">
                <a:alphaModFix amt="0"/>
              </a:blip>
              <a:stretch>
                <a:fillRect l="-35535" t="0" r="-35535" b="0"/>
              </a:stretch>
            </a:blipFill>
          </p:spPr>
        </p:sp>
        <p:sp>
          <p:nvSpPr>
            <p:cNvPr name="TextBox 40" id="40"/>
            <p:cNvSpPr txBox="true"/>
            <p:nvPr/>
          </p:nvSpPr>
          <p:spPr>
            <a:xfrm>
              <a:off x="0" y="-76200"/>
              <a:ext cx="4114800" cy="2819400"/>
            </a:xfrm>
            <a:prstGeom prst="rect">
              <a:avLst/>
            </a:prstGeom>
          </p:spPr>
          <p:txBody>
            <a:bodyPr anchor="ctr" rtlCol="false" tIns="0" lIns="0" bIns="0" rIns="0"/>
            <a:lstStyle/>
            <a:p>
              <a:pPr algn="l">
                <a:lnSpc>
                  <a:spcPts val="3995"/>
                </a:lnSpc>
              </a:pPr>
              <a:r>
                <a:rPr lang="en-US" sz="2774">
                  <a:solidFill>
                    <a:srgbClr val="CADCFC"/>
                  </a:solidFill>
                  <a:latin typeface="Arimo"/>
                  <a:ea typeface="Arimo"/>
                  <a:cs typeface="Arimo"/>
                  <a:sym typeface="Arimo"/>
                </a:rPr>
                <a:t>Patient and hospital-facing web interface</a:t>
              </a:r>
            </a:p>
          </p:txBody>
        </p:sp>
      </p:grpSp>
      <p:grpSp>
        <p:nvGrpSpPr>
          <p:cNvPr name="Group 41" id="41"/>
          <p:cNvGrpSpPr/>
          <p:nvPr/>
        </p:nvGrpSpPr>
        <p:grpSpPr>
          <a:xfrm rot="0">
            <a:off x="13043916" y="2674620"/>
            <a:ext cx="3771900" cy="4251960"/>
            <a:chOff x="0" y="0"/>
            <a:chExt cx="5029200" cy="5669280"/>
          </a:xfrm>
        </p:grpSpPr>
        <p:sp>
          <p:nvSpPr>
            <p:cNvPr name="Freeform 42" id="42"/>
            <p:cNvSpPr/>
            <p:nvPr/>
          </p:nvSpPr>
          <p:spPr>
            <a:xfrm flipH="false" flipV="false" rot="0">
              <a:off x="0" y="0"/>
              <a:ext cx="5029200" cy="5669280"/>
            </a:xfrm>
            <a:custGeom>
              <a:avLst/>
              <a:gdLst/>
              <a:ahLst/>
              <a:cxnLst/>
              <a:rect r="r" b="b" t="t" l="l"/>
              <a:pathLst>
                <a:path h="5669280" w="5029200">
                  <a:moveTo>
                    <a:pt x="0" y="146304"/>
                  </a:moveTo>
                  <a:cubicBezTo>
                    <a:pt x="0" y="65532"/>
                    <a:pt x="65532" y="0"/>
                    <a:pt x="146304" y="0"/>
                  </a:cubicBezTo>
                  <a:lnTo>
                    <a:pt x="4882896" y="0"/>
                  </a:lnTo>
                  <a:cubicBezTo>
                    <a:pt x="4963668" y="0"/>
                    <a:pt x="5029200" y="65532"/>
                    <a:pt x="5029200" y="146304"/>
                  </a:cubicBezTo>
                  <a:lnTo>
                    <a:pt x="5029200" y="5522976"/>
                  </a:lnTo>
                  <a:cubicBezTo>
                    <a:pt x="5029200" y="5603748"/>
                    <a:pt x="4963668" y="5669280"/>
                    <a:pt x="4882896" y="5669280"/>
                  </a:cubicBezTo>
                  <a:lnTo>
                    <a:pt x="146304" y="5669280"/>
                  </a:lnTo>
                  <a:cubicBezTo>
                    <a:pt x="65532" y="5669280"/>
                    <a:pt x="0" y="5603748"/>
                    <a:pt x="0" y="5522976"/>
                  </a:cubicBezTo>
                  <a:close/>
                </a:path>
              </a:pathLst>
            </a:custGeom>
            <a:solidFill>
              <a:srgbClr val="F3F6FD"/>
            </a:solidFill>
          </p:spPr>
        </p:sp>
      </p:grpSp>
      <p:grpSp>
        <p:nvGrpSpPr>
          <p:cNvPr name="Group 43" id="43"/>
          <p:cNvGrpSpPr/>
          <p:nvPr/>
        </p:nvGrpSpPr>
        <p:grpSpPr>
          <a:xfrm rot="0">
            <a:off x="13386816" y="3154680"/>
            <a:ext cx="3086100" cy="685800"/>
            <a:chOff x="0" y="0"/>
            <a:chExt cx="4114800" cy="914400"/>
          </a:xfrm>
        </p:grpSpPr>
        <p:sp>
          <p:nvSpPr>
            <p:cNvPr name="Freeform 44" id="44"/>
            <p:cNvSpPr/>
            <p:nvPr/>
          </p:nvSpPr>
          <p:spPr>
            <a:xfrm flipH="false" flipV="false" rot="0">
              <a:off x="0" y="0"/>
              <a:ext cx="4114800" cy="914400"/>
            </a:xfrm>
            <a:custGeom>
              <a:avLst/>
              <a:gdLst/>
              <a:ahLst/>
              <a:cxnLst/>
              <a:rect r="r" b="b" t="t" l="l"/>
              <a:pathLst>
                <a:path h="914400" w="4114800">
                  <a:moveTo>
                    <a:pt x="0" y="0"/>
                  </a:moveTo>
                  <a:lnTo>
                    <a:pt x="4114800" y="0"/>
                  </a:lnTo>
                  <a:lnTo>
                    <a:pt x="4114800" y="914400"/>
                  </a:lnTo>
                  <a:lnTo>
                    <a:pt x="0" y="914400"/>
                  </a:lnTo>
                  <a:close/>
                </a:path>
              </a:pathLst>
            </a:custGeom>
            <a:blipFill>
              <a:blip r:embed="rId3">
                <a:alphaModFix amt="0"/>
              </a:blip>
              <a:stretch>
                <a:fillRect l="0" t="-37682" r="0" b="-37682"/>
              </a:stretch>
            </a:blipFill>
          </p:spPr>
        </p:sp>
        <p:sp>
          <p:nvSpPr>
            <p:cNvPr name="TextBox 45" id="45"/>
            <p:cNvSpPr txBox="true"/>
            <p:nvPr/>
          </p:nvSpPr>
          <p:spPr>
            <a:xfrm>
              <a:off x="0" y="-9525"/>
              <a:ext cx="4114800" cy="923925"/>
            </a:xfrm>
            <a:prstGeom prst="rect">
              <a:avLst/>
            </a:prstGeom>
          </p:spPr>
          <p:txBody>
            <a:bodyPr anchor="ctr" rtlCol="false" tIns="0" lIns="0" bIns="0" rIns="0"/>
            <a:lstStyle/>
            <a:p>
              <a:pPr algn="l">
                <a:lnSpc>
                  <a:spcPts val="3419"/>
                </a:lnSpc>
              </a:pPr>
              <a:r>
                <a:rPr lang="en-US" sz="2850" b="true">
                  <a:solidFill>
                    <a:srgbClr val="1E2761"/>
                  </a:solidFill>
                  <a:latin typeface="Cambria Bold"/>
                  <a:ea typeface="Cambria Bold"/>
                  <a:cs typeface="Cambria Bold"/>
                  <a:sym typeface="Cambria Bold"/>
                </a:rPr>
                <a:t>Node.js</a:t>
              </a:r>
            </a:p>
          </p:txBody>
        </p:sp>
      </p:grpSp>
      <p:grpSp>
        <p:nvGrpSpPr>
          <p:cNvPr name="Group 46" id="46"/>
          <p:cNvGrpSpPr/>
          <p:nvPr/>
        </p:nvGrpSpPr>
        <p:grpSpPr>
          <a:xfrm rot="0">
            <a:off x="13386816" y="3840480"/>
            <a:ext cx="3086100" cy="411480"/>
            <a:chOff x="0" y="0"/>
            <a:chExt cx="4114800" cy="548640"/>
          </a:xfrm>
        </p:grpSpPr>
        <p:sp>
          <p:nvSpPr>
            <p:cNvPr name="Freeform 47" id="47"/>
            <p:cNvSpPr/>
            <p:nvPr/>
          </p:nvSpPr>
          <p:spPr>
            <a:xfrm flipH="false" flipV="false" rot="0">
              <a:off x="0" y="0"/>
              <a:ext cx="4114800" cy="548640"/>
            </a:xfrm>
            <a:custGeom>
              <a:avLst/>
              <a:gdLst/>
              <a:ahLst/>
              <a:cxnLst/>
              <a:rect r="r" b="b" t="t" l="l"/>
              <a:pathLst>
                <a:path h="548640" w="4114800">
                  <a:moveTo>
                    <a:pt x="0" y="0"/>
                  </a:moveTo>
                  <a:lnTo>
                    <a:pt x="4114800" y="0"/>
                  </a:lnTo>
                  <a:lnTo>
                    <a:pt x="4114800" y="548640"/>
                  </a:lnTo>
                  <a:lnTo>
                    <a:pt x="0" y="548640"/>
                  </a:lnTo>
                  <a:close/>
                </a:path>
              </a:pathLst>
            </a:custGeom>
            <a:blipFill>
              <a:blip r:embed="rId3">
                <a:alphaModFix amt="0"/>
              </a:blip>
              <a:stretch>
                <a:fillRect l="0" t="-96137" r="0" b="-96137"/>
              </a:stretch>
            </a:blipFill>
          </p:spPr>
        </p:sp>
        <p:sp>
          <p:nvSpPr>
            <p:cNvPr name="TextBox 48" id="48"/>
            <p:cNvSpPr txBox="true"/>
            <p:nvPr/>
          </p:nvSpPr>
          <p:spPr>
            <a:xfrm>
              <a:off x="0" y="-19050"/>
              <a:ext cx="4114800" cy="567690"/>
            </a:xfrm>
            <a:prstGeom prst="rect">
              <a:avLst/>
            </a:prstGeom>
          </p:spPr>
          <p:txBody>
            <a:bodyPr anchor="ctr" rtlCol="false" tIns="0" lIns="0" bIns="0" rIns="0"/>
            <a:lstStyle/>
            <a:p>
              <a:pPr algn="l">
                <a:lnSpc>
                  <a:spcPts val="2069"/>
                </a:lnSpc>
              </a:pPr>
              <a:r>
                <a:rPr lang="en-US" b="true" sz="1724" spc="181">
                  <a:solidFill>
                    <a:srgbClr val="000000"/>
                  </a:solidFill>
                  <a:latin typeface="Arimo Bold"/>
                  <a:ea typeface="Arimo Bold"/>
                  <a:cs typeface="Arimo Bold"/>
                  <a:sym typeface="Arimo Bold"/>
                </a:rPr>
                <a:t>RUNTIME</a:t>
              </a:r>
            </a:p>
          </p:txBody>
        </p:sp>
      </p:grpSp>
      <p:grpSp>
        <p:nvGrpSpPr>
          <p:cNvPr name="Group 49" id="49"/>
          <p:cNvGrpSpPr/>
          <p:nvPr/>
        </p:nvGrpSpPr>
        <p:grpSpPr>
          <a:xfrm rot="0">
            <a:off x="13386816" y="4526280"/>
            <a:ext cx="3086100" cy="2057400"/>
            <a:chOff x="0" y="0"/>
            <a:chExt cx="4114800" cy="2743200"/>
          </a:xfrm>
        </p:grpSpPr>
        <p:sp>
          <p:nvSpPr>
            <p:cNvPr name="Freeform 50" id="50"/>
            <p:cNvSpPr/>
            <p:nvPr/>
          </p:nvSpPr>
          <p:spPr>
            <a:xfrm flipH="false" flipV="false" rot="0">
              <a:off x="0" y="0"/>
              <a:ext cx="4114800" cy="2743200"/>
            </a:xfrm>
            <a:custGeom>
              <a:avLst/>
              <a:gdLst/>
              <a:ahLst/>
              <a:cxnLst/>
              <a:rect r="r" b="b" t="t" l="l"/>
              <a:pathLst>
                <a:path h="2743200" w="4114800">
                  <a:moveTo>
                    <a:pt x="0" y="0"/>
                  </a:moveTo>
                  <a:lnTo>
                    <a:pt x="4114800" y="0"/>
                  </a:lnTo>
                  <a:lnTo>
                    <a:pt x="4114800" y="2743200"/>
                  </a:lnTo>
                  <a:lnTo>
                    <a:pt x="0" y="2743200"/>
                  </a:lnTo>
                  <a:close/>
                </a:path>
              </a:pathLst>
            </a:custGeom>
            <a:blipFill>
              <a:blip r:embed="rId3">
                <a:alphaModFix amt="0"/>
              </a:blip>
              <a:stretch>
                <a:fillRect l="-35535" t="0" r="-35535" b="0"/>
              </a:stretch>
            </a:blipFill>
          </p:spPr>
        </p:sp>
        <p:sp>
          <p:nvSpPr>
            <p:cNvPr name="TextBox 51" id="51"/>
            <p:cNvSpPr txBox="true"/>
            <p:nvPr/>
          </p:nvSpPr>
          <p:spPr>
            <a:xfrm>
              <a:off x="0" y="-76200"/>
              <a:ext cx="4114800" cy="2819400"/>
            </a:xfrm>
            <a:prstGeom prst="rect">
              <a:avLst/>
            </a:prstGeom>
          </p:spPr>
          <p:txBody>
            <a:bodyPr anchor="ctr" rtlCol="false" tIns="0" lIns="0" bIns="0" rIns="0"/>
            <a:lstStyle/>
            <a:p>
              <a:pPr algn="l">
                <a:lnSpc>
                  <a:spcPts val="3995"/>
                </a:lnSpc>
              </a:pPr>
              <a:r>
                <a:rPr lang="en-US" sz="2774">
                  <a:solidFill>
                    <a:srgbClr val="5B6485"/>
                  </a:solidFill>
                  <a:latin typeface="Arimo"/>
                  <a:ea typeface="Arimo"/>
                  <a:cs typeface="Arimo"/>
                  <a:sym typeface="Arimo"/>
                </a:rPr>
                <a:t>Powers the backend server and API layer</a:t>
              </a:r>
            </a:p>
          </p:txBody>
        </p:sp>
      </p:grpSp>
      <p:grpSp>
        <p:nvGrpSpPr>
          <p:cNvPr name="Group 52" id="52"/>
          <p:cNvGrpSpPr/>
          <p:nvPr/>
        </p:nvGrpSpPr>
        <p:grpSpPr>
          <a:xfrm rot="0">
            <a:off x="822960" y="7338060"/>
            <a:ext cx="15910560" cy="548640"/>
            <a:chOff x="0" y="0"/>
            <a:chExt cx="21214080" cy="731520"/>
          </a:xfrm>
        </p:grpSpPr>
        <p:sp>
          <p:nvSpPr>
            <p:cNvPr name="Freeform 53" id="53"/>
            <p:cNvSpPr/>
            <p:nvPr/>
          </p:nvSpPr>
          <p:spPr>
            <a:xfrm flipH="false" flipV="false" rot="0">
              <a:off x="0" y="0"/>
              <a:ext cx="21214080" cy="731520"/>
            </a:xfrm>
            <a:custGeom>
              <a:avLst/>
              <a:gdLst/>
              <a:ahLst/>
              <a:cxnLst/>
              <a:rect r="r" b="b" t="t" l="l"/>
              <a:pathLst>
                <a:path h="731520" w="21214080">
                  <a:moveTo>
                    <a:pt x="0" y="0"/>
                  </a:moveTo>
                  <a:lnTo>
                    <a:pt x="21214080" y="0"/>
                  </a:lnTo>
                  <a:lnTo>
                    <a:pt x="21214080" y="731520"/>
                  </a:lnTo>
                  <a:lnTo>
                    <a:pt x="0" y="731520"/>
                  </a:lnTo>
                  <a:close/>
                </a:path>
              </a:pathLst>
            </a:custGeom>
            <a:blipFill>
              <a:blip r:embed="rId3">
                <a:alphaModFix amt="0"/>
              </a:blip>
              <a:stretch>
                <a:fillRect l="0" t="-515066" r="0" b="-515066"/>
              </a:stretch>
            </a:blipFill>
          </p:spPr>
        </p:sp>
        <p:sp>
          <p:nvSpPr>
            <p:cNvPr name="TextBox 54" id="54"/>
            <p:cNvSpPr txBox="true"/>
            <p:nvPr/>
          </p:nvSpPr>
          <p:spPr>
            <a:xfrm>
              <a:off x="0" y="-19050"/>
              <a:ext cx="21214080" cy="750570"/>
            </a:xfrm>
            <a:prstGeom prst="rect">
              <a:avLst/>
            </a:prstGeom>
          </p:spPr>
          <p:txBody>
            <a:bodyPr anchor="ctr" rtlCol="false" tIns="0" lIns="0" bIns="0" rIns="0"/>
            <a:lstStyle/>
            <a:p>
              <a:pPr algn="l">
                <a:lnSpc>
                  <a:spcPts val="2340"/>
                </a:lnSpc>
              </a:pPr>
              <a:r>
                <a:rPr lang="en-US" sz="1950" i="true">
                  <a:solidFill>
                    <a:srgbClr val="5B6485"/>
                  </a:solidFill>
                  <a:latin typeface="Arimo Italics"/>
                  <a:ea typeface="Arimo Italics"/>
                  <a:cs typeface="Arimo Italics"/>
                  <a:sym typeface="Arimo Italics"/>
                </a:rPr>
                <a:t>Together: MongoDB + Express.js + React.js + Node.js (MERN) — one JavaScript stack from database to browser.</a:t>
              </a:r>
            </a:p>
          </p:txBody>
        </p:sp>
      </p:grpSp>
      <p:grpSp>
        <p:nvGrpSpPr>
          <p:cNvPr name="Group 55" id="55"/>
          <p:cNvGrpSpPr/>
          <p:nvPr/>
        </p:nvGrpSpPr>
        <p:grpSpPr>
          <a:xfrm rot="0">
            <a:off x="822960" y="9820656"/>
            <a:ext cx="12344400" cy="411480"/>
            <a:chOff x="0" y="0"/>
            <a:chExt cx="16459200" cy="548640"/>
          </a:xfrm>
        </p:grpSpPr>
        <p:sp>
          <p:nvSpPr>
            <p:cNvPr name="Freeform 56" id="56"/>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57" id="57"/>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58" id="58"/>
          <p:cNvGrpSpPr/>
          <p:nvPr/>
        </p:nvGrpSpPr>
        <p:grpSpPr>
          <a:xfrm rot="0">
            <a:off x="16915943" y="9820656"/>
            <a:ext cx="548640" cy="411480"/>
            <a:chOff x="0" y="0"/>
            <a:chExt cx="731520" cy="548640"/>
          </a:xfrm>
        </p:grpSpPr>
        <p:sp>
          <p:nvSpPr>
            <p:cNvPr name="Freeform 59" id="59"/>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60" id="60"/>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1028700" y="-283411"/>
            <a:ext cx="15773400" cy="3516213"/>
            <a:chOff x="0" y="0"/>
            <a:chExt cx="21031200" cy="4688284"/>
          </a:xfrm>
        </p:grpSpPr>
        <p:sp>
          <p:nvSpPr>
            <p:cNvPr name="Freeform 3" id="3"/>
            <p:cNvSpPr/>
            <p:nvPr/>
          </p:nvSpPr>
          <p:spPr>
            <a:xfrm flipH="false" flipV="false" rot="0">
              <a:off x="0" y="0"/>
              <a:ext cx="21031200" cy="4688284"/>
            </a:xfrm>
            <a:custGeom>
              <a:avLst/>
              <a:gdLst/>
              <a:ahLst/>
              <a:cxnLst/>
              <a:rect r="r" b="b" t="t" l="l"/>
              <a:pathLst>
                <a:path h="4688284" w="21031200">
                  <a:moveTo>
                    <a:pt x="0" y="0"/>
                  </a:moveTo>
                  <a:lnTo>
                    <a:pt x="21031200" y="0"/>
                  </a:lnTo>
                  <a:lnTo>
                    <a:pt x="21031200" y="4688284"/>
                  </a:lnTo>
                  <a:lnTo>
                    <a:pt x="0" y="4688284"/>
                  </a:lnTo>
                  <a:close/>
                </a:path>
              </a:pathLst>
            </a:custGeom>
            <a:blipFill>
              <a:blip r:embed="rId2">
                <a:alphaModFix amt="0"/>
              </a:blip>
              <a:stretch>
                <a:fillRect l="0" t="-73755" r="0" b="-1060"/>
              </a:stretch>
            </a:blipFill>
          </p:spPr>
        </p:sp>
        <p:sp>
          <p:nvSpPr>
            <p:cNvPr name="TextBox 4" id="4"/>
            <p:cNvSpPr txBox="true"/>
            <p:nvPr/>
          </p:nvSpPr>
          <p:spPr>
            <a:xfrm>
              <a:off x="0" y="-9525"/>
              <a:ext cx="21031200"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Zeroth Review Comments</a:t>
              </a:r>
            </a:p>
          </p:txBody>
        </p:sp>
      </p:grpSp>
      <p:grpSp>
        <p:nvGrpSpPr>
          <p:cNvPr name="Group 5" id="5"/>
          <p:cNvGrpSpPr/>
          <p:nvPr/>
        </p:nvGrpSpPr>
        <p:grpSpPr>
          <a:xfrm rot="0">
            <a:off x="1028700" y="617220"/>
            <a:ext cx="10972800" cy="411480"/>
            <a:chOff x="0" y="0"/>
            <a:chExt cx="14630400" cy="548640"/>
          </a:xfrm>
        </p:grpSpPr>
        <p:sp>
          <p:nvSpPr>
            <p:cNvPr name="Freeform 6" id="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7" id="7"/>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Comments</a:t>
              </a:r>
            </a:p>
          </p:txBody>
        </p:sp>
      </p:grpSp>
      <p:grpSp>
        <p:nvGrpSpPr>
          <p:cNvPr name="Group 8" id="8"/>
          <p:cNvGrpSpPr/>
          <p:nvPr/>
        </p:nvGrpSpPr>
        <p:grpSpPr>
          <a:xfrm rot="0">
            <a:off x="645148" y="1171641"/>
            <a:ext cx="10366041" cy="2677651"/>
            <a:chOff x="0" y="0"/>
            <a:chExt cx="16991686" cy="4389120"/>
          </a:xfrm>
        </p:grpSpPr>
        <p:sp>
          <p:nvSpPr>
            <p:cNvPr name="Freeform 9" id="9"/>
            <p:cNvSpPr/>
            <p:nvPr/>
          </p:nvSpPr>
          <p:spPr>
            <a:xfrm flipH="false" flipV="false" rot="0">
              <a:off x="0" y="0"/>
              <a:ext cx="16991687" cy="4389120"/>
            </a:xfrm>
            <a:custGeom>
              <a:avLst/>
              <a:gdLst/>
              <a:ahLst/>
              <a:cxnLst/>
              <a:rect r="r" b="b" t="t" l="l"/>
              <a:pathLst>
                <a:path h="4389120" w="16991687">
                  <a:moveTo>
                    <a:pt x="0" y="0"/>
                  </a:moveTo>
                  <a:lnTo>
                    <a:pt x="16991687" y="0"/>
                  </a:lnTo>
                  <a:lnTo>
                    <a:pt x="16991687" y="4389120"/>
                  </a:lnTo>
                  <a:lnTo>
                    <a:pt x="0" y="4389120"/>
                  </a:lnTo>
                  <a:close/>
                </a:path>
              </a:pathLst>
            </a:custGeom>
            <a:blipFill>
              <a:blip r:embed="rId2">
                <a:alphaModFix amt="0"/>
              </a:blip>
              <a:stretch>
                <a:fillRect l="0" t="-7643" r="23583" b="-7643"/>
              </a:stretch>
            </a:blipFill>
          </p:spPr>
        </p:sp>
        <p:sp>
          <p:nvSpPr>
            <p:cNvPr name="TextBox 10" id="10"/>
            <p:cNvSpPr txBox="true"/>
            <p:nvPr/>
          </p:nvSpPr>
          <p:spPr>
            <a:xfrm>
              <a:off x="0" y="-180975"/>
              <a:ext cx="16991686" cy="4570095"/>
            </a:xfrm>
            <a:prstGeom prst="rect">
              <a:avLst/>
            </a:prstGeom>
          </p:spPr>
          <p:txBody>
            <a:bodyPr anchor="ctr" rtlCol="false" tIns="0" lIns="0" bIns="0" rIns="0"/>
            <a:lstStyle/>
            <a:p>
              <a:pPr algn="l">
                <a:lnSpc>
                  <a:spcPts val="5916"/>
                </a:lnSpc>
              </a:pPr>
              <a:r>
                <a:rPr lang="en-US" b="true" sz="3549">
                  <a:solidFill>
                    <a:srgbClr val="1E2761"/>
                  </a:solidFill>
                  <a:latin typeface="Cambria Bold"/>
                  <a:ea typeface="Cambria Bold"/>
                  <a:cs typeface="Cambria Bold"/>
                  <a:sym typeface="Cambria Bold"/>
                </a:rPr>
                <a:t>Check Feasibility of getting the government DB</a:t>
              </a:r>
            </a:p>
          </p:txBody>
        </p:sp>
      </p:grpSp>
      <p:grpSp>
        <p:nvGrpSpPr>
          <p:cNvPr name="Group 11" id="11"/>
          <p:cNvGrpSpPr/>
          <p:nvPr/>
        </p:nvGrpSpPr>
        <p:grpSpPr>
          <a:xfrm rot="0">
            <a:off x="645148" y="2889475"/>
            <a:ext cx="10505463" cy="6988218"/>
            <a:chOff x="0" y="0"/>
            <a:chExt cx="12371646" cy="8229600"/>
          </a:xfrm>
        </p:grpSpPr>
        <p:sp>
          <p:nvSpPr>
            <p:cNvPr name="Freeform 12" id="12"/>
            <p:cNvSpPr/>
            <p:nvPr/>
          </p:nvSpPr>
          <p:spPr>
            <a:xfrm flipH="false" flipV="false" rot="0">
              <a:off x="0" y="0"/>
              <a:ext cx="12371646" cy="8229600"/>
            </a:xfrm>
            <a:custGeom>
              <a:avLst/>
              <a:gdLst/>
              <a:ahLst/>
              <a:cxnLst/>
              <a:rect r="r" b="b" t="t" l="l"/>
              <a:pathLst>
                <a:path h="8229600" w="12371646">
                  <a:moveTo>
                    <a:pt x="0" y="182880"/>
                  </a:moveTo>
                  <a:cubicBezTo>
                    <a:pt x="0" y="81915"/>
                    <a:pt x="98955" y="0"/>
                    <a:pt x="220922" y="0"/>
                  </a:cubicBezTo>
                  <a:lnTo>
                    <a:pt x="12150723" y="0"/>
                  </a:lnTo>
                  <a:cubicBezTo>
                    <a:pt x="12272691" y="0"/>
                    <a:pt x="12371646" y="81915"/>
                    <a:pt x="12371646" y="182880"/>
                  </a:cubicBezTo>
                  <a:lnTo>
                    <a:pt x="12371646" y="8046720"/>
                  </a:lnTo>
                  <a:cubicBezTo>
                    <a:pt x="12371646" y="8147685"/>
                    <a:pt x="12272691" y="8229600"/>
                    <a:pt x="12150723" y="8229600"/>
                  </a:cubicBezTo>
                  <a:lnTo>
                    <a:pt x="220922" y="8229600"/>
                  </a:lnTo>
                  <a:cubicBezTo>
                    <a:pt x="98955" y="8229600"/>
                    <a:pt x="0" y="8147685"/>
                    <a:pt x="0" y="8046720"/>
                  </a:cubicBezTo>
                  <a:close/>
                </a:path>
              </a:pathLst>
            </a:custGeom>
            <a:solidFill>
              <a:srgbClr val="F3F6FD"/>
            </a:solidFill>
          </p:spPr>
        </p:sp>
      </p:grpSp>
      <p:grpSp>
        <p:nvGrpSpPr>
          <p:cNvPr name="Group 13" id="13"/>
          <p:cNvGrpSpPr/>
          <p:nvPr/>
        </p:nvGrpSpPr>
        <p:grpSpPr>
          <a:xfrm rot="0">
            <a:off x="1028700" y="7238423"/>
            <a:ext cx="9738360" cy="2019877"/>
            <a:chOff x="0" y="0"/>
            <a:chExt cx="12984480" cy="2693169"/>
          </a:xfrm>
        </p:grpSpPr>
        <p:sp>
          <p:nvSpPr>
            <p:cNvPr name="Freeform 14" id="14"/>
            <p:cNvSpPr/>
            <p:nvPr/>
          </p:nvSpPr>
          <p:spPr>
            <a:xfrm flipH="false" flipV="false" rot="0">
              <a:off x="0" y="0"/>
              <a:ext cx="12984480" cy="2693170"/>
            </a:xfrm>
            <a:custGeom>
              <a:avLst/>
              <a:gdLst/>
              <a:ahLst/>
              <a:cxnLst/>
              <a:rect r="r" b="b" t="t" l="l"/>
              <a:pathLst>
                <a:path h="2693170" w="12984480">
                  <a:moveTo>
                    <a:pt x="0" y="0"/>
                  </a:moveTo>
                  <a:lnTo>
                    <a:pt x="12984480" y="0"/>
                  </a:lnTo>
                  <a:lnTo>
                    <a:pt x="12984480" y="2693170"/>
                  </a:lnTo>
                  <a:lnTo>
                    <a:pt x="0" y="2693170"/>
                  </a:lnTo>
                  <a:close/>
                </a:path>
              </a:pathLst>
            </a:custGeom>
            <a:blipFill>
              <a:blip r:embed="rId2">
                <a:alphaModFix amt="0"/>
              </a:blip>
              <a:stretch>
                <a:fillRect l="0" t="-12456" r="0" b="-75428"/>
              </a:stretch>
            </a:blipFill>
          </p:spPr>
        </p:sp>
        <p:sp>
          <p:nvSpPr>
            <p:cNvPr name="TextBox 15" id="15"/>
            <p:cNvSpPr txBox="true"/>
            <p:nvPr/>
          </p:nvSpPr>
          <p:spPr>
            <a:xfrm>
              <a:off x="0" y="-142875"/>
              <a:ext cx="12984480" cy="2836044"/>
            </a:xfrm>
            <a:prstGeom prst="rect">
              <a:avLst/>
            </a:prstGeom>
          </p:spPr>
          <p:txBody>
            <a:bodyPr anchor="ctr" rtlCol="false" tIns="0" lIns="0" bIns="0" rIns="0"/>
            <a:lstStyle/>
            <a:p>
              <a:pPr algn="l">
                <a:lnSpc>
                  <a:spcPts val="4749"/>
                </a:lnSpc>
              </a:pPr>
              <a:r>
                <a:rPr lang="en-US" sz="2849">
                  <a:solidFill>
                    <a:srgbClr val="1B1B2F"/>
                  </a:solidFill>
                  <a:latin typeface="Arimo"/>
                  <a:ea typeface="Arimo"/>
                  <a:cs typeface="Arimo"/>
                  <a:sym typeface="Arimo"/>
                </a:rPr>
                <a:t>Col</a:t>
              </a:r>
              <a:r>
                <a:rPr lang="en-US" sz="2849">
                  <a:solidFill>
                    <a:srgbClr val="1B1B2F"/>
                  </a:solidFill>
                  <a:latin typeface="Arimo"/>
                  <a:ea typeface="Arimo"/>
                  <a:cs typeface="Arimo"/>
                  <a:sym typeface="Arimo"/>
                </a:rPr>
                <a:t>lected and integrated a Kaggle volunteer dataset for the ML module, followed by data preprocessing and model training for prediction and analysis.</a:t>
              </a:r>
            </a:p>
          </p:txBody>
        </p:sp>
      </p:grpSp>
      <p:grpSp>
        <p:nvGrpSpPr>
          <p:cNvPr name="Group 16" id="16"/>
          <p:cNvGrpSpPr/>
          <p:nvPr/>
        </p:nvGrpSpPr>
        <p:grpSpPr>
          <a:xfrm rot="0">
            <a:off x="994017" y="3992232"/>
            <a:ext cx="9738360" cy="2019877"/>
            <a:chOff x="0" y="0"/>
            <a:chExt cx="12984480" cy="2693169"/>
          </a:xfrm>
        </p:grpSpPr>
        <p:sp>
          <p:nvSpPr>
            <p:cNvPr name="Freeform 17" id="17"/>
            <p:cNvSpPr/>
            <p:nvPr/>
          </p:nvSpPr>
          <p:spPr>
            <a:xfrm flipH="false" flipV="false" rot="0">
              <a:off x="0" y="0"/>
              <a:ext cx="12984480" cy="2693170"/>
            </a:xfrm>
            <a:custGeom>
              <a:avLst/>
              <a:gdLst/>
              <a:ahLst/>
              <a:cxnLst/>
              <a:rect r="r" b="b" t="t" l="l"/>
              <a:pathLst>
                <a:path h="2693170" w="12984480">
                  <a:moveTo>
                    <a:pt x="0" y="0"/>
                  </a:moveTo>
                  <a:lnTo>
                    <a:pt x="12984480" y="0"/>
                  </a:lnTo>
                  <a:lnTo>
                    <a:pt x="12984480" y="2693170"/>
                  </a:lnTo>
                  <a:lnTo>
                    <a:pt x="0" y="2693170"/>
                  </a:lnTo>
                  <a:close/>
                </a:path>
              </a:pathLst>
            </a:custGeom>
            <a:blipFill>
              <a:blip r:embed="rId2">
                <a:alphaModFix amt="0"/>
              </a:blip>
              <a:stretch>
                <a:fillRect l="0" t="-12456" r="0" b="-75428"/>
              </a:stretch>
            </a:blipFill>
          </p:spPr>
        </p:sp>
        <p:sp>
          <p:nvSpPr>
            <p:cNvPr name="TextBox 18" id="18"/>
            <p:cNvSpPr txBox="true"/>
            <p:nvPr/>
          </p:nvSpPr>
          <p:spPr>
            <a:xfrm>
              <a:off x="0" y="-142875"/>
              <a:ext cx="12984480" cy="2836044"/>
            </a:xfrm>
            <a:prstGeom prst="rect">
              <a:avLst/>
            </a:prstGeom>
          </p:spPr>
          <p:txBody>
            <a:bodyPr anchor="ctr" rtlCol="false" tIns="0" lIns="0" bIns="0" rIns="0"/>
            <a:lstStyle/>
            <a:p>
              <a:pPr algn="l">
                <a:lnSpc>
                  <a:spcPts val="4749"/>
                </a:lnSpc>
              </a:pPr>
              <a:r>
                <a:rPr lang="en-US" sz="2849">
                  <a:solidFill>
                    <a:srgbClr val="1B1B2F"/>
                  </a:solidFill>
                  <a:latin typeface="Arimo"/>
                  <a:ea typeface="Arimo"/>
                  <a:cs typeface="Arimo"/>
                  <a:sym typeface="Arimo"/>
                </a:rPr>
                <a:t>Im</a:t>
              </a:r>
              <a:r>
                <a:rPr lang="en-US" sz="2849">
                  <a:solidFill>
                    <a:srgbClr val="1B1B2F"/>
                  </a:solidFill>
                  <a:latin typeface="Arimo"/>
                  <a:ea typeface="Arimo"/>
                  <a:cs typeface="Arimo"/>
                  <a:sym typeface="Arimo"/>
                </a:rPr>
                <a:t>plemented ABHA ID registration and authentication using the ABHA Sandbox API for secure digital health identity integration.</a:t>
              </a:r>
            </a:p>
          </p:txBody>
        </p:sp>
      </p:grpSp>
      <p:sp>
        <p:nvSpPr>
          <p:cNvPr name="Freeform 19" id="19"/>
          <p:cNvSpPr/>
          <p:nvPr/>
        </p:nvSpPr>
        <p:spPr>
          <a:xfrm flipH="false" flipV="false" rot="0">
            <a:off x="11385059" y="3137394"/>
            <a:ext cx="6687811" cy="6368686"/>
          </a:xfrm>
          <a:custGeom>
            <a:avLst/>
            <a:gdLst/>
            <a:ahLst/>
            <a:cxnLst/>
            <a:rect r="r" b="b" t="t" l="l"/>
            <a:pathLst>
              <a:path h="6368686" w="6687811">
                <a:moveTo>
                  <a:pt x="0" y="0"/>
                </a:moveTo>
                <a:lnTo>
                  <a:pt x="6687811" y="0"/>
                </a:lnTo>
                <a:lnTo>
                  <a:pt x="6687811" y="6368686"/>
                </a:lnTo>
                <a:lnTo>
                  <a:pt x="0" y="6368686"/>
                </a:lnTo>
                <a:lnTo>
                  <a:pt x="0" y="0"/>
                </a:lnTo>
                <a:close/>
              </a:path>
            </a:pathLst>
          </a:custGeom>
          <a:blipFill>
            <a:blip r:embed="rId3"/>
            <a:stretch>
              <a:fillRect l="-8452" t="-693" r="-53511" b="-5606"/>
            </a:stretch>
          </a:blipFill>
        </p:spPr>
      </p:sp>
      <p:sp>
        <p:nvSpPr>
          <p:cNvPr name="TextBox 20" id="20"/>
          <p:cNvSpPr txBox="true"/>
          <p:nvPr/>
        </p:nvSpPr>
        <p:spPr>
          <a:xfrm rot="0">
            <a:off x="1092202" y="3127869"/>
            <a:ext cx="3862507" cy="495300"/>
          </a:xfrm>
          <a:prstGeom prst="rect">
            <a:avLst/>
          </a:prstGeom>
        </p:spPr>
        <p:txBody>
          <a:bodyPr anchor="t" rtlCol="false" tIns="0" lIns="0" bIns="0" rIns="0">
            <a:spAutoFit/>
          </a:bodyPr>
          <a:lstStyle/>
          <a:p>
            <a:pPr algn="ctr">
              <a:lnSpc>
                <a:spcPts val="3899"/>
              </a:lnSpc>
              <a:spcBef>
                <a:spcPct val="0"/>
              </a:spcBef>
            </a:pPr>
            <a:r>
              <a:rPr lang="en-US" b="true" sz="3249">
                <a:solidFill>
                  <a:srgbClr val="000000"/>
                </a:solidFill>
                <a:latin typeface="Cambria Bold"/>
                <a:ea typeface="Cambria Bold"/>
                <a:cs typeface="Cambria Bold"/>
                <a:sym typeface="Cambria Bold"/>
              </a:rPr>
              <a:t>ABHA</a:t>
            </a:r>
            <a:r>
              <a:rPr lang="en-US" b="true" sz="3249">
                <a:solidFill>
                  <a:srgbClr val="000000"/>
                </a:solidFill>
                <a:latin typeface="Cambria Bold"/>
                <a:ea typeface="Cambria Bold"/>
                <a:cs typeface="Cambria Bold"/>
                <a:sym typeface="Cambria Bold"/>
              </a:rPr>
              <a:t> ID Integration</a:t>
            </a:r>
          </a:p>
        </p:txBody>
      </p:sp>
      <p:sp>
        <p:nvSpPr>
          <p:cNvPr name="TextBox 21" id="21"/>
          <p:cNvSpPr txBox="true"/>
          <p:nvPr/>
        </p:nvSpPr>
        <p:spPr>
          <a:xfrm rot="0">
            <a:off x="1028700" y="6374059"/>
            <a:ext cx="7270790" cy="495300"/>
          </a:xfrm>
          <a:prstGeom prst="rect">
            <a:avLst/>
          </a:prstGeom>
        </p:spPr>
        <p:txBody>
          <a:bodyPr anchor="t" rtlCol="false" tIns="0" lIns="0" bIns="0" rIns="0">
            <a:spAutoFit/>
          </a:bodyPr>
          <a:lstStyle/>
          <a:p>
            <a:pPr algn="ctr">
              <a:lnSpc>
                <a:spcPts val="3899"/>
              </a:lnSpc>
              <a:spcBef>
                <a:spcPct val="0"/>
              </a:spcBef>
            </a:pPr>
            <a:r>
              <a:rPr lang="en-US" b="true" sz="3249">
                <a:solidFill>
                  <a:srgbClr val="000000"/>
                </a:solidFill>
                <a:latin typeface="Cambria Bold"/>
                <a:ea typeface="Cambria Bold"/>
                <a:cs typeface="Cambria Bold"/>
                <a:sym typeface="Cambria Bold"/>
              </a:rPr>
              <a:t>Machine Learning</a:t>
            </a:r>
            <a:r>
              <a:rPr lang="en-US" b="true" sz="3249">
                <a:solidFill>
                  <a:srgbClr val="000000"/>
                </a:solidFill>
                <a:latin typeface="Cambria Bold"/>
                <a:ea typeface="Cambria Bold"/>
                <a:cs typeface="Cambria Bold"/>
                <a:sym typeface="Cambria Bold"/>
              </a:rPr>
              <a:t> Dataset Integration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PROGRESS</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Modules — Progress Status</a:t>
              </a:r>
            </a:p>
          </p:txBody>
        </p:sp>
      </p:grpSp>
      <p:grpSp>
        <p:nvGrpSpPr>
          <p:cNvPr name="Group 8" id="8"/>
          <p:cNvGrpSpPr/>
          <p:nvPr/>
        </p:nvGrpSpPr>
        <p:grpSpPr>
          <a:xfrm rot="0">
            <a:off x="842010" y="2606040"/>
            <a:ext cx="7680960" cy="6993605"/>
            <a:chOff x="0" y="0"/>
            <a:chExt cx="10241280" cy="9324807"/>
          </a:xfrm>
        </p:grpSpPr>
        <p:sp>
          <p:nvSpPr>
            <p:cNvPr name="Freeform 9" id="9"/>
            <p:cNvSpPr/>
            <p:nvPr/>
          </p:nvSpPr>
          <p:spPr>
            <a:xfrm flipH="false" flipV="false" rot="0">
              <a:off x="0" y="0"/>
              <a:ext cx="10241280" cy="9324807"/>
            </a:xfrm>
            <a:custGeom>
              <a:avLst/>
              <a:gdLst/>
              <a:ahLst/>
              <a:cxnLst/>
              <a:rect r="r" b="b" t="t" l="l"/>
              <a:pathLst>
                <a:path h="9324807" w="10241280">
                  <a:moveTo>
                    <a:pt x="0" y="207218"/>
                  </a:moveTo>
                  <a:cubicBezTo>
                    <a:pt x="0" y="92816"/>
                    <a:pt x="81915" y="0"/>
                    <a:pt x="182880" y="0"/>
                  </a:cubicBezTo>
                  <a:lnTo>
                    <a:pt x="10058400" y="0"/>
                  </a:lnTo>
                  <a:cubicBezTo>
                    <a:pt x="10159365" y="0"/>
                    <a:pt x="10241280" y="92816"/>
                    <a:pt x="10241280" y="207218"/>
                  </a:cubicBezTo>
                  <a:lnTo>
                    <a:pt x="10241280" y="9117588"/>
                  </a:lnTo>
                  <a:cubicBezTo>
                    <a:pt x="10241280" y="9231990"/>
                    <a:pt x="10159365" y="9324807"/>
                    <a:pt x="10058400" y="9324807"/>
                  </a:cubicBezTo>
                  <a:lnTo>
                    <a:pt x="182880" y="9324807"/>
                  </a:lnTo>
                  <a:cubicBezTo>
                    <a:pt x="81915" y="9324807"/>
                    <a:pt x="0" y="9231990"/>
                    <a:pt x="0" y="9117588"/>
                  </a:cubicBezTo>
                  <a:close/>
                </a:path>
              </a:pathLst>
            </a:custGeom>
            <a:solidFill>
              <a:srgbClr val="F3F6FD"/>
            </a:solidFill>
          </p:spPr>
        </p:sp>
      </p:grpSp>
      <p:grpSp>
        <p:nvGrpSpPr>
          <p:cNvPr name="Group 10" id="10"/>
          <p:cNvGrpSpPr/>
          <p:nvPr/>
        </p:nvGrpSpPr>
        <p:grpSpPr>
          <a:xfrm rot="0">
            <a:off x="1303020" y="2948940"/>
            <a:ext cx="6858000" cy="564777"/>
            <a:chOff x="0" y="0"/>
            <a:chExt cx="9144000" cy="753037"/>
          </a:xfrm>
        </p:grpSpPr>
        <p:sp>
          <p:nvSpPr>
            <p:cNvPr name="Freeform 11" id="11"/>
            <p:cNvSpPr/>
            <p:nvPr/>
          </p:nvSpPr>
          <p:spPr>
            <a:xfrm flipH="false" flipV="false" rot="0">
              <a:off x="0" y="0"/>
              <a:ext cx="9144000" cy="753037"/>
            </a:xfrm>
            <a:custGeom>
              <a:avLst/>
              <a:gdLst/>
              <a:ahLst/>
              <a:cxnLst/>
              <a:rect r="r" b="b" t="t" l="l"/>
              <a:pathLst>
                <a:path h="753037" w="9144000">
                  <a:moveTo>
                    <a:pt x="0" y="0"/>
                  </a:moveTo>
                  <a:lnTo>
                    <a:pt x="9144000" y="0"/>
                  </a:lnTo>
                  <a:lnTo>
                    <a:pt x="9144000" y="753037"/>
                  </a:lnTo>
                  <a:lnTo>
                    <a:pt x="0" y="753037"/>
                  </a:lnTo>
                  <a:close/>
                </a:path>
              </a:pathLst>
            </a:custGeom>
            <a:blipFill>
              <a:blip r:embed="rId3">
                <a:alphaModFix amt="0"/>
              </a:blip>
              <a:stretch>
                <a:fillRect l="0" t="-188032" r="0" b="-185174"/>
              </a:stretch>
            </a:blipFill>
          </p:spPr>
        </p:sp>
        <p:sp>
          <p:nvSpPr>
            <p:cNvPr name="TextBox 12" id="12"/>
            <p:cNvSpPr txBox="true"/>
            <p:nvPr/>
          </p:nvSpPr>
          <p:spPr>
            <a:xfrm>
              <a:off x="0" y="-19050"/>
              <a:ext cx="9144000" cy="772087"/>
            </a:xfrm>
            <a:prstGeom prst="rect">
              <a:avLst/>
            </a:prstGeom>
          </p:spPr>
          <p:txBody>
            <a:bodyPr anchor="ctr" rtlCol="false" tIns="0" lIns="0" bIns="0" rIns="0"/>
            <a:lstStyle/>
            <a:p>
              <a:pPr algn="l">
                <a:lnSpc>
                  <a:spcPts val="3359"/>
                </a:lnSpc>
              </a:pPr>
              <a:r>
                <a:rPr lang="en-US" sz="2799" b="true">
                  <a:solidFill>
                    <a:srgbClr val="1E2761"/>
                  </a:solidFill>
                  <a:latin typeface="Arimo Bold"/>
                  <a:ea typeface="Arimo Bold"/>
                  <a:cs typeface="Arimo Bold"/>
                  <a:sym typeface="Arimo Bold"/>
                </a:rPr>
                <a:t>Completed</a:t>
              </a:r>
            </a:p>
          </p:txBody>
        </p:sp>
      </p:grpSp>
      <p:grpSp>
        <p:nvGrpSpPr>
          <p:cNvPr name="Group 13" id="13"/>
          <p:cNvGrpSpPr/>
          <p:nvPr/>
        </p:nvGrpSpPr>
        <p:grpSpPr>
          <a:xfrm rot="0">
            <a:off x="1303020" y="3840480"/>
            <a:ext cx="6720840" cy="891540"/>
            <a:chOff x="0" y="0"/>
            <a:chExt cx="8961120" cy="1188720"/>
          </a:xfrm>
        </p:grpSpPr>
        <p:sp>
          <p:nvSpPr>
            <p:cNvPr name="Freeform 14" id="14"/>
            <p:cNvSpPr/>
            <p:nvPr/>
          </p:nvSpPr>
          <p:spPr>
            <a:xfrm flipH="false" flipV="false" rot="0">
              <a:off x="0" y="0"/>
              <a:ext cx="8961120" cy="1188720"/>
            </a:xfrm>
            <a:custGeom>
              <a:avLst/>
              <a:gdLst/>
              <a:ahLst/>
              <a:cxnLst/>
              <a:rect r="r" b="b" t="t" l="l"/>
              <a:pathLst>
                <a:path h="1188720" w="8961120">
                  <a:moveTo>
                    <a:pt x="0" y="109728"/>
                  </a:moveTo>
                  <a:cubicBezTo>
                    <a:pt x="0" y="49149"/>
                    <a:pt x="49149" y="0"/>
                    <a:pt x="109728" y="0"/>
                  </a:cubicBezTo>
                  <a:lnTo>
                    <a:pt x="8851392" y="0"/>
                  </a:lnTo>
                  <a:cubicBezTo>
                    <a:pt x="8911972" y="0"/>
                    <a:pt x="8961120" y="49149"/>
                    <a:pt x="8961120" y="109728"/>
                  </a:cubicBezTo>
                  <a:lnTo>
                    <a:pt x="8961120" y="1078992"/>
                  </a:lnTo>
                  <a:cubicBezTo>
                    <a:pt x="8961120" y="1139571"/>
                    <a:pt x="8911972" y="1188720"/>
                    <a:pt x="8851392" y="1188720"/>
                  </a:cubicBezTo>
                  <a:lnTo>
                    <a:pt x="109728" y="1188720"/>
                  </a:lnTo>
                  <a:cubicBezTo>
                    <a:pt x="49149" y="1188720"/>
                    <a:pt x="0" y="1139571"/>
                    <a:pt x="0" y="1078992"/>
                  </a:cubicBezTo>
                  <a:close/>
                </a:path>
              </a:pathLst>
            </a:custGeom>
            <a:solidFill>
              <a:srgbClr val="FFFFFF"/>
            </a:solidFill>
          </p:spPr>
        </p:sp>
      </p:grpSp>
      <p:grpSp>
        <p:nvGrpSpPr>
          <p:cNvPr name="Group 15" id="15"/>
          <p:cNvGrpSpPr/>
          <p:nvPr/>
        </p:nvGrpSpPr>
        <p:grpSpPr>
          <a:xfrm rot="0">
            <a:off x="1577340" y="4059936"/>
            <a:ext cx="1577340" cy="452628"/>
            <a:chOff x="0" y="0"/>
            <a:chExt cx="2103120" cy="603504"/>
          </a:xfrm>
        </p:grpSpPr>
        <p:sp>
          <p:nvSpPr>
            <p:cNvPr name="Freeform 16" id="16"/>
            <p:cNvSpPr/>
            <p:nvPr/>
          </p:nvSpPr>
          <p:spPr>
            <a:xfrm flipH="false" flipV="false" rot="0">
              <a:off x="0" y="0"/>
              <a:ext cx="2103120" cy="603504"/>
            </a:xfrm>
            <a:custGeom>
              <a:avLst/>
              <a:gdLst/>
              <a:ahLst/>
              <a:cxnLst/>
              <a:rect r="r" b="b" t="t" l="l"/>
              <a:pathLst>
                <a:path h="603504" w="2103120">
                  <a:moveTo>
                    <a:pt x="0" y="292608"/>
                  </a:moveTo>
                  <a:cubicBezTo>
                    <a:pt x="0" y="131064"/>
                    <a:pt x="131064" y="0"/>
                    <a:pt x="292608" y="0"/>
                  </a:cubicBezTo>
                  <a:lnTo>
                    <a:pt x="1810512" y="0"/>
                  </a:lnTo>
                  <a:cubicBezTo>
                    <a:pt x="1972056" y="0"/>
                    <a:pt x="2103120" y="131064"/>
                    <a:pt x="2103120" y="292608"/>
                  </a:cubicBezTo>
                  <a:lnTo>
                    <a:pt x="2103120" y="310896"/>
                  </a:lnTo>
                  <a:cubicBezTo>
                    <a:pt x="2103120" y="472440"/>
                    <a:pt x="1972056" y="603504"/>
                    <a:pt x="1810512" y="603504"/>
                  </a:cubicBezTo>
                  <a:lnTo>
                    <a:pt x="292608" y="603504"/>
                  </a:lnTo>
                  <a:cubicBezTo>
                    <a:pt x="131064" y="603504"/>
                    <a:pt x="0" y="472440"/>
                    <a:pt x="0" y="310896"/>
                  </a:cubicBezTo>
                  <a:close/>
                </a:path>
              </a:pathLst>
            </a:custGeom>
            <a:solidFill>
              <a:srgbClr val="E4F5EC"/>
            </a:solidFill>
          </p:spPr>
        </p:sp>
      </p:grpSp>
      <p:grpSp>
        <p:nvGrpSpPr>
          <p:cNvPr name="Group 17" id="17"/>
          <p:cNvGrpSpPr/>
          <p:nvPr/>
        </p:nvGrpSpPr>
        <p:grpSpPr>
          <a:xfrm rot="0">
            <a:off x="1575435" y="4059936"/>
            <a:ext cx="1577340" cy="452628"/>
            <a:chOff x="0" y="0"/>
            <a:chExt cx="2103120" cy="603504"/>
          </a:xfrm>
        </p:grpSpPr>
        <p:sp>
          <p:nvSpPr>
            <p:cNvPr name="Freeform 18" id="18"/>
            <p:cNvSpPr/>
            <p:nvPr/>
          </p:nvSpPr>
          <p:spPr>
            <a:xfrm flipH="false" flipV="false" rot="0">
              <a:off x="0" y="0"/>
              <a:ext cx="2103120" cy="603504"/>
            </a:xfrm>
            <a:custGeom>
              <a:avLst/>
              <a:gdLst/>
              <a:ahLst/>
              <a:cxnLst/>
              <a:rect r="r" b="b" t="t" l="l"/>
              <a:pathLst>
                <a:path h="603504" w="2103120">
                  <a:moveTo>
                    <a:pt x="0" y="0"/>
                  </a:moveTo>
                  <a:lnTo>
                    <a:pt x="2103120" y="0"/>
                  </a:lnTo>
                  <a:lnTo>
                    <a:pt x="2103120" y="603504"/>
                  </a:lnTo>
                  <a:lnTo>
                    <a:pt x="0" y="603504"/>
                  </a:lnTo>
                  <a:close/>
                </a:path>
              </a:pathLst>
            </a:custGeom>
            <a:blipFill>
              <a:blip r:embed="rId3">
                <a:alphaModFix amt="0"/>
              </a:blip>
              <a:stretch>
                <a:fillRect l="0" t="-17902" r="0" b="-17902"/>
              </a:stretch>
            </a:blipFill>
          </p:spPr>
        </p:sp>
        <p:sp>
          <p:nvSpPr>
            <p:cNvPr name="TextBox 19" id="19"/>
            <p:cNvSpPr txBox="true"/>
            <p:nvPr/>
          </p:nvSpPr>
          <p:spPr>
            <a:xfrm>
              <a:off x="0" y="-28575"/>
              <a:ext cx="2103120" cy="632079"/>
            </a:xfrm>
            <a:prstGeom prst="rect">
              <a:avLst/>
            </a:prstGeom>
          </p:spPr>
          <p:txBody>
            <a:bodyPr anchor="ctr" rtlCol="false" tIns="0" lIns="0" bIns="0" rIns="0"/>
            <a:lstStyle/>
            <a:p>
              <a:pPr algn="ctr">
                <a:lnSpc>
                  <a:spcPts val="2219"/>
                </a:lnSpc>
              </a:pPr>
              <a:r>
                <a:rPr lang="en-US" sz="1849" b="true">
                  <a:solidFill>
                    <a:srgbClr val="1F8A55"/>
                  </a:solidFill>
                  <a:latin typeface="Arimo Bold"/>
                  <a:ea typeface="Arimo Bold"/>
                  <a:cs typeface="Arimo Bold"/>
                  <a:sym typeface="Arimo Bold"/>
                </a:rPr>
                <a:t>DONE</a:t>
              </a:r>
            </a:p>
          </p:txBody>
        </p:sp>
      </p:grpSp>
      <p:grpSp>
        <p:nvGrpSpPr>
          <p:cNvPr name="Group 20" id="20"/>
          <p:cNvGrpSpPr/>
          <p:nvPr/>
        </p:nvGrpSpPr>
        <p:grpSpPr>
          <a:xfrm rot="0">
            <a:off x="1303020" y="4965192"/>
            <a:ext cx="6720840" cy="891540"/>
            <a:chOff x="0" y="0"/>
            <a:chExt cx="8961120" cy="1188720"/>
          </a:xfrm>
        </p:grpSpPr>
        <p:sp>
          <p:nvSpPr>
            <p:cNvPr name="Freeform 21" id="21"/>
            <p:cNvSpPr/>
            <p:nvPr/>
          </p:nvSpPr>
          <p:spPr>
            <a:xfrm flipH="false" flipV="false" rot="0">
              <a:off x="0" y="0"/>
              <a:ext cx="8961120" cy="1188720"/>
            </a:xfrm>
            <a:custGeom>
              <a:avLst/>
              <a:gdLst/>
              <a:ahLst/>
              <a:cxnLst/>
              <a:rect r="r" b="b" t="t" l="l"/>
              <a:pathLst>
                <a:path h="1188720" w="8961120">
                  <a:moveTo>
                    <a:pt x="0" y="109728"/>
                  </a:moveTo>
                  <a:cubicBezTo>
                    <a:pt x="0" y="49149"/>
                    <a:pt x="49149" y="0"/>
                    <a:pt x="109728" y="0"/>
                  </a:cubicBezTo>
                  <a:lnTo>
                    <a:pt x="8851392" y="0"/>
                  </a:lnTo>
                  <a:cubicBezTo>
                    <a:pt x="8911972" y="0"/>
                    <a:pt x="8961120" y="49149"/>
                    <a:pt x="8961120" y="109728"/>
                  </a:cubicBezTo>
                  <a:lnTo>
                    <a:pt x="8961120" y="1078992"/>
                  </a:lnTo>
                  <a:cubicBezTo>
                    <a:pt x="8961120" y="1139571"/>
                    <a:pt x="8911972" y="1188720"/>
                    <a:pt x="8851392" y="1188720"/>
                  </a:cubicBezTo>
                  <a:lnTo>
                    <a:pt x="109728" y="1188720"/>
                  </a:lnTo>
                  <a:cubicBezTo>
                    <a:pt x="49149" y="1188720"/>
                    <a:pt x="0" y="1139571"/>
                    <a:pt x="0" y="1078992"/>
                  </a:cubicBezTo>
                  <a:close/>
                </a:path>
              </a:pathLst>
            </a:custGeom>
            <a:solidFill>
              <a:srgbClr val="FFFFFF"/>
            </a:solidFill>
          </p:spPr>
        </p:sp>
      </p:grpSp>
      <p:grpSp>
        <p:nvGrpSpPr>
          <p:cNvPr name="Group 22" id="22"/>
          <p:cNvGrpSpPr/>
          <p:nvPr/>
        </p:nvGrpSpPr>
        <p:grpSpPr>
          <a:xfrm rot="0">
            <a:off x="1577340" y="5184648"/>
            <a:ext cx="1577340" cy="452628"/>
            <a:chOff x="0" y="0"/>
            <a:chExt cx="2103120" cy="603504"/>
          </a:xfrm>
        </p:grpSpPr>
        <p:sp>
          <p:nvSpPr>
            <p:cNvPr name="Freeform 23" id="23"/>
            <p:cNvSpPr/>
            <p:nvPr/>
          </p:nvSpPr>
          <p:spPr>
            <a:xfrm flipH="false" flipV="false" rot="0">
              <a:off x="0" y="0"/>
              <a:ext cx="2103120" cy="603504"/>
            </a:xfrm>
            <a:custGeom>
              <a:avLst/>
              <a:gdLst/>
              <a:ahLst/>
              <a:cxnLst/>
              <a:rect r="r" b="b" t="t" l="l"/>
              <a:pathLst>
                <a:path h="603504" w="2103120">
                  <a:moveTo>
                    <a:pt x="0" y="292608"/>
                  </a:moveTo>
                  <a:cubicBezTo>
                    <a:pt x="0" y="131064"/>
                    <a:pt x="131064" y="0"/>
                    <a:pt x="292608" y="0"/>
                  </a:cubicBezTo>
                  <a:lnTo>
                    <a:pt x="1810512" y="0"/>
                  </a:lnTo>
                  <a:cubicBezTo>
                    <a:pt x="1972056" y="0"/>
                    <a:pt x="2103120" y="131064"/>
                    <a:pt x="2103120" y="292608"/>
                  </a:cubicBezTo>
                  <a:lnTo>
                    <a:pt x="2103120" y="310896"/>
                  </a:lnTo>
                  <a:cubicBezTo>
                    <a:pt x="2103120" y="472440"/>
                    <a:pt x="1972056" y="603504"/>
                    <a:pt x="1810512" y="603504"/>
                  </a:cubicBezTo>
                  <a:lnTo>
                    <a:pt x="292608" y="603504"/>
                  </a:lnTo>
                  <a:cubicBezTo>
                    <a:pt x="131064" y="603504"/>
                    <a:pt x="0" y="472440"/>
                    <a:pt x="0" y="310896"/>
                  </a:cubicBezTo>
                  <a:close/>
                </a:path>
              </a:pathLst>
            </a:custGeom>
            <a:solidFill>
              <a:srgbClr val="E4F5EC"/>
            </a:solidFill>
          </p:spPr>
        </p:sp>
      </p:grpSp>
      <p:grpSp>
        <p:nvGrpSpPr>
          <p:cNvPr name="Group 24" id="24"/>
          <p:cNvGrpSpPr/>
          <p:nvPr/>
        </p:nvGrpSpPr>
        <p:grpSpPr>
          <a:xfrm rot="0">
            <a:off x="1577340" y="5184648"/>
            <a:ext cx="1577340" cy="452628"/>
            <a:chOff x="0" y="0"/>
            <a:chExt cx="2103120" cy="603504"/>
          </a:xfrm>
        </p:grpSpPr>
        <p:sp>
          <p:nvSpPr>
            <p:cNvPr name="Freeform 25" id="25"/>
            <p:cNvSpPr/>
            <p:nvPr/>
          </p:nvSpPr>
          <p:spPr>
            <a:xfrm flipH="false" flipV="false" rot="0">
              <a:off x="0" y="0"/>
              <a:ext cx="2103120" cy="603504"/>
            </a:xfrm>
            <a:custGeom>
              <a:avLst/>
              <a:gdLst/>
              <a:ahLst/>
              <a:cxnLst/>
              <a:rect r="r" b="b" t="t" l="l"/>
              <a:pathLst>
                <a:path h="603504" w="2103120">
                  <a:moveTo>
                    <a:pt x="0" y="0"/>
                  </a:moveTo>
                  <a:lnTo>
                    <a:pt x="2103120" y="0"/>
                  </a:lnTo>
                  <a:lnTo>
                    <a:pt x="2103120" y="603504"/>
                  </a:lnTo>
                  <a:lnTo>
                    <a:pt x="0" y="603504"/>
                  </a:lnTo>
                  <a:close/>
                </a:path>
              </a:pathLst>
            </a:custGeom>
            <a:blipFill>
              <a:blip r:embed="rId3">
                <a:alphaModFix amt="0"/>
              </a:blip>
              <a:stretch>
                <a:fillRect l="0" t="-17902" r="0" b="-17902"/>
              </a:stretch>
            </a:blipFill>
          </p:spPr>
        </p:sp>
        <p:sp>
          <p:nvSpPr>
            <p:cNvPr name="TextBox 26" id="26"/>
            <p:cNvSpPr txBox="true"/>
            <p:nvPr/>
          </p:nvSpPr>
          <p:spPr>
            <a:xfrm>
              <a:off x="0" y="-28575"/>
              <a:ext cx="2103120" cy="632079"/>
            </a:xfrm>
            <a:prstGeom prst="rect">
              <a:avLst/>
            </a:prstGeom>
          </p:spPr>
          <p:txBody>
            <a:bodyPr anchor="ctr" rtlCol="false" tIns="0" lIns="0" bIns="0" rIns="0"/>
            <a:lstStyle/>
            <a:p>
              <a:pPr algn="ctr">
                <a:lnSpc>
                  <a:spcPts val="2219"/>
                </a:lnSpc>
              </a:pPr>
              <a:r>
                <a:rPr lang="en-US" sz="1849" b="true">
                  <a:solidFill>
                    <a:srgbClr val="1F8A55"/>
                  </a:solidFill>
                  <a:latin typeface="Arimo Bold"/>
                  <a:ea typeface="Arimo Bold"/>
                  <a:cs typeface="Arimo Bold"/>
                  <a:sym typeface="Arimo Bold"/>
                </a:rPr>
                <a:t>DONE</a:t>
              </a:r>
            </a:p>
          </p:txBody>
        </p:sp>
      </p:grpSp>
      <p:grpSp>
        <p:nvGrpSpPr>
          <p:cNvPr name="Group 27" id="27"/>
          <p:cNvGrpSpPr/>
          <p:nvPr/>
        </p:nvGrpSpPr>
        <p:grpSpPr>
          <a:xfrm rot="0">
            <a:off x="1303020" y="6089904"/>
            <a:ext cx="6720840" cy="891540"/>
            <a:chOff x="0" y="0"/>
            <a:chExt cx="8961120" cy="1188720"/>
          </a:xfrm>
        </p:grpSpPr>
        <p:sp>
          <p:nvSpPr>
            <p:cNvPr name="Freeform 28" id="28"/>
            <p:cNvSpPr/>
            <p:nvPr/>
          </p:nvSpPr>
          <p:spPr>
            <a:xfrm flipH="false" flipV="false" rot="0">
              <a:off x="0" y="0"/>
              <a:ext cx="8961120" cy="1188720"/>
            </a:xfrm>
            <a:custGeom>
              <a:avLst/>
              <a:gdLst/>
              <a:ahLst/>
              <a:cxnLst/>
              <a:rect r="r" b="b" t="t" l="l"/>
              <a:pathLst>
                <a:path h="1188720" w="8961120">
                  <a:moveTo>
                    <a:pt x="0" y="109728"/>
                  </a:moveTo>
                  <a:cubicBezTo>
                    <a:pt x="0" y="49149"/>
                    <a:pt x="49149" y="0"/>
                    <a:pt x="109728" y="0"/>
                  </a:cubicBezTo>
                  <a:lnTo>
                    <a:pt x="8851392" y="0"/>
                  </a:lnTo>
                  <a:cubicBezTo>
                    <a:pt x="8911972" y="0"/>
                    <a:pt x="8961120" y="49149"/>
                    <a:pt x="8961120" y="109728"/>
                  </a:cubicBezTo>
                  <a:lnTo>
                    <a:pt x="8961120" y="1078992"/>
                  </a:lnTo>
                  <a:cubicBezTo>
                    <a:pt x="8961120" y="1139571"/>
                    <a:pt x="8911972" y="1188720"/>
                    <a:pt x="8851392" y="1188720"/>
                  </a:cubicBezTo>
                  <a:lnTo>
                    <a:pt x="109728" y="1188720"/>
                  </a:lnTo>
                  <a:cubicBezTo>
                    <a:pt x="49149" y="1188720"/>
                    <a:pt x="0" y="1139571"/>
                    <a:pt x="0" y="1078992"/>
                  </a:cubicBezTo>
                  <a:close/>
                </a:path>
              </a:pathLst>
            </a:custGeom>
            <a:solidFill>
              <a:srgbClr val="FFFFFF"/>
            </a:solidFill>
          </p:spPr>
        </p:sp>
      </p:grpSp>
      <p:grpSp>
        <p:nvGrpSpPr>
          <p:cNvPr name="Group 29" id="29"/>
          <p:cNvGrpSpPr/>
          <p:nvPr/>
        </p:nvGrpSpPr>
        <p:grpSpPr>
          <a:xfrm rot="0">
            <a:off x="1577340" y="6309360"/>
            <a:ext cx="1577340" cy="452628"/>
            <a:chOff x="0" y="0"/>
            <a:chExt cx="2103120" cy="603504"/>
          </a:xfrm>
        </p:grpSpPr>
        <p:sp>
          <p:nvSpPr>
            <p:cNvPr name="Freeform 30" id="30"/>
            <p:cNvSpPr/>
            <p:nvPr/>
          </p:nvSpPr>
          <p:spPr>
            <a:xfrm flipH="false" flipV="false" rot="0">
              <a:off x="0" y="0"/>
              <a:ext cx="2103120" cy="603504"/>
            </a:xfrm>
            <a:custGeom>
              <a:avLst/>
              <a:gdLst/>
              <a:ahLst/>
              <a:cxnLst/>
              <a:rect r="r" b="b" t="t" l="l"/>
              <a:pathLst>
                <a:path h="603504" w="2103120">
                  <a:moveTo>
                    <a:pt x="0" y="292608"/>
                  </a:moveTo>
                  <a:cubicBezTo>
                    <a:pt x="0" y="131064"/>
                    <a:pt x="131064" y="0"/>
                    <a:pt x="292608" y="0"/>
                  </a:cubicBezTo>
                  <a:lnTo>
                    <a:pt x="1810512" y="0"/>
                  </a:lnTo>
                  <a:cubicBezTo>
                    <a:pt x="1972056" y="0"/>
                    <a:pt x="2103120" y="131064"/>
                    <a:pt x="2103120" y="292608"/>
                  </a:cubicBezTo>
                  <a:lnTo>
                    <a:pt x="2103120" y="310896"/>
                  </a:lnTo>
                  <a:cubicBezTo>
                    <a:pt x="2103120" y="472440"/>
                    <a:pt x="1972056" y="603504"/>
                    <a:pt x="1810512" y="603504"/>
                  </a:cubicBezTo>
                  <a:lnTo>
                    <a:pt x="292608" y="603504"/>
                  </a:lnTo>
                  <a:cubicBezTo>
                    <a:pt x="131064" y="603504"/>
                    <a:pt x="0" y="472440"/>
                    <a:pt x="0" y="310896"/>
                  </a:cubicBezTo>
                  <a:close/>
                </a:path>
              </a:pathLst>
            </a:custGeom>
            <a:solidFill>
              <a:srgbClr val="E4F5EC"/>
            </a:solidFill>
          </p:spPr>
        </p:sp>
      </p:grpSp>
      <p:grpSp>
        <p:nvGrpSpPr>
          <p:cNvPr name="Group 31" id="31"/>
          <p:cNvGrpSpPr/>
          <p:nvPr/>
        </p:nvGrpSpPr>
        <p:grpSpPr>
          <a:xfrm rot="0">
            <a:off x="1577340" y="6309360"/>
            <a:ext cx="1577340" cy="452628"/>
            <a:chOff x="0" y="0"/>
            <a:chExt cx="2103120" cy="603504"/>
          </a:xfrm>
        </p:grpSpPr>
        <p:sp>
          <p:nvSpPr>
            <p:cNvPr name="Freeform 32" id="32"/>
            <p:cNvSpPr/>
            <p:nvPr/>
          </p:nvSpPr>
          <p:spPr>
            <a:xfrm flipH="false" flipV="false" rot="0">
              <a:off x="0" y="0"/>
              <a:ext cx="2103120" cy="603504"/>
            </a:xfrm>
            <a:custGeom>
              <a:avLst/>
              <a:gdLst/>
              <a:ahLst/>
              <a:cxnLst/>
              <a:rect r="r" b="b" t="t" l="l"/>
              <a:pathLst>
                <a:path h="603504" w="2103120">
                  <a:moveTo>
                    <a:pt x="0" y="0"/>
                  </a:moveTo>
                  <a:lnTo>
                    <a:pt x="2103120" y="0"/>
                  </a:lnTo>
                  <a:lnTo>
                    <a:pt x="2103120" y="603504"/>
                  </a:lnTo>
                  <a:lnTo>
                    <a:pt x="0" y="603504"/>
                  </a:lnTo>
                  <a:close/>
                </a:path>
              </a:pathLst>
            </a:custGeom>
            <a:blipFill>
              <a:blip r:embed="rId3">
                <a:alphaModFix amt="0"/>
              </a:blip>
              <a:stretch>
                <a:fillRect l="0" t="-17902" r="0" b="-17902"/>
              </a:stretch>
            </a:blipFill>
          </p:spPr>
        </p:sp>
        <p:sp>
          <p:nvSpPr>
            <p:cNvPr name="TextBox 33" id="33"/>
            <p:cNvSpPr txBox="true"/>
            <p:nvPr/>
          </p:nvSpPr>
          <p:spPr>
            <a:xfrm>
              <a:off x="0" y="-28575"/>
              <a:ext cx="2103120" cy="632079"/>
            </a:xfrm>
            <a:prstGeom prst="rect">
              <a:avLst/>
            </a:prstGeom>
          </p:spPr>
          <p:txBody>
            <a:bodyPr anchor="ctr" rtlCol="false" tIns="0" lIns="0" bIns="0" rIns="0"/>
            <a:lstStyle/>
            <a:p>
              <a:pPr algn="ctr">
                <a:lnSpc>
                  <a:spcPts val="2220"/>
                </a:lnSpc>
              </a:pPr>
              <a:r>
                <a:rPr lang="en-US" sz="1850" b="true">
                  <a:solidFill>
                    <a:srgbClr val="1F8A55"/>
                  </a:solidFill>
                  <a:latin typeface="Arimo Bold"/>
                  <a:ea typeface="Arimo Bold"/>
                  <a:cs typeface="Arimo Bold"/>
                  <a:sym typeface="Arimo Bold"/>
                </a:rPr>
                <a:t>DONE</a:t>
              </a:r>
            </a:p>
          </p:txBody>
        </p:sp>
      </p:grpSp>
      <p:grpSp>
        <p:nvGrpSpPr>
          <p:cNvPr name="Group 34" id="34"/>
          <p:cNvGrpSpPr/>
          <p:nvPr/>
        </p:nvGrpSpPr>
        <p:grpSpPr>
          <a:xfrm rot="0">
            <a:off x="9052560" y="2606040"/>
            <a:ext cx="7680960" cy="6172200"/>
            <a:chOff x="0" y="0"/>
            <a:chExt cx="10241280" cy="8229600"/>
          </a:xfrm>
        </p:grpSpPr>
        <p:sp>
          <p:nvSpPr>
            <p:cNvPr name="Freeform 35" id="35"/>
            <p:cNvSpPr/>
            <p:nvPr/>
          </p:nvSpPr>
          <p:spPr>
            <a:xfrm flipH="false" flipV="false" rot="0">
              <a:off x="0" y="0"/>
              <a:ext cx="10241280" cy="8229600"/>
            </a:xfrm>
            <a:custGeom>
              <a:avLst/>
              <a:gdLst/>
              <a:ahLst/>
              <a:cxnLst/>
              <a:rect r="r" b="b" t="t" l="l"/>
              <a:pathLst>
                <a:path h="8229600" w="10241280">
                  <a:moveTo>
                    <a:pt x="0" y="182880"/>
                  </a:moveTo>
                  <a:cubicBezTo>
                    <a:pt x="0" y="81915"/>
                    <a:pt x="81915" y="0"/>
                    <a:pt x="182880" y="0"/>
                  </a:cubicBezTo>
                  <a:lnTo>
                    <a:pt x="10058400" y="0"/>
                  </a:lnTo>
                  <a:cubicBezTo>
                    <a:pt x="10159365" y="0"/>
                    <a:pt x="10241280" y="81915"/>
                    <a:pt x="10241280" y="182880"/>
                  </a:cubicBezTo>
                  <a:lnTo>
                    <a:pt x="10241280" y="8046720"/>
                  </a:lnTo>
                  <a:cubicBezTo>
                    <a:pt x="10241280" y="8147685"/>
                    <a:pt x="10159365" y="8229600"/>
                    <a:pt x="10058400" y="8229600"/>
                  </a:cubicBezTo>
                  <a:lnTo>
                    <a:pt x="182880" y="8229600"/>
                  </a:lnTo>
                  <a:cubicBezTo>
                    <a:pt x="81915" y="8229600"/>
                    <a:pt x="0" y="8147685"/>
                    <a:pt x="0" y="8046720"/>
                  </a:cubicBezTo>
                  <a:close/>
                </a:path>
              </a:pathLst>
            </a:custGeom>
            <a:solidFill>
              <a:srgbClr val="F3F6FD"/>
            </a:solidFill>
          </p:spPr>
        </p:sp>
      </p:grpSp>
      <p:grpSp>
        <p:nvGrpSpPr>
          <p:cNvPr name="Group 36" id="36"/>
          <p:cNvGrpSpPr/>
          <p:nvPr/>
        </p:nvGrpSpPr>
        <p:grpSpPr>
          <a:xfrm rot="0">
            <a:off x="9532620" y="2948940"/>
            <a:ext cx="6858000" cy="564777"/>
            <a:chOff x="0" y="0"/>
            <a:chExt cx="9144000" cy="753037"/>
          </a:xfrm>
        </p:grpSpPr>
        <p:sp>
          <p:nvSpPr>
            <p:cNvPr name="Freeform 37" id="37"/>
            <p:cNvSpPr/>
            <p:nvPr/>
          </p:nvSpPr>
          <p:spPr>
            <a:xfrm flipH="false" flipV="false" rot="0">
              <a:off x="0" y="0"/>
              <a:ext cx="9144000" cy="753037"/>
            </a:xfrm>
            <a:custGeom>
              <a:avLst/>
              <a:gdLst/>
              <a:ahLst/>
              <a:cxnLst/>
              <a:rect r="r" b="b" t="t" l="l"/>
              <a:pathLst>
                <a:path h="753037" w="9144000">
                  <a:moveTo>
                    <a:pt x="0" y="0"/>
                  </a:moveTo>
                  <a:lnTo>
                    <a:pt x="9144000" y="0"/>
                  </a:lnTo>
                  <a:lnTo>
                    <a:pt x="9144000" y="753037"/>
                  </a:lnTo>
                  <a:lnTo>
                    <a:pt x="0" y="753037"/>
                  </a:lnTo>
                  <a:close/>
                </a:path>
              </a:pathLst>
            </a:custGeom>
            <a:blipFill>
              <a:blip r:embed="rId3">
                <a:alphaModFix amt="0"/>
              </a:blip>
              <a:stretch>
                <a:fillRect l="0" t="-188032" r="0" b="-185174"/>
              </a:stretch>
            </a:blipFill>
          </p:spPr>
        </p:sp>
        <p:sp>
          <p:nvSpPr>
            <p:cNvPr name="TextBox 38" id="38"/>
            <p:cNvSpPr txBox="true"/>
            <p:nvPr/>
          </p:nvSpPr>
          <p:spPr>
            <a:xfrm>
              <a:off x="0" y="-19050"/>
              <a:ext cx="9144000" cy="772087"/>
            </a:xfrm>
            <a:prstGeom prst="rect">
              <a:avLst/>
            </a:prstGeom>
          </p:spPr>
          <p:txBody>
            <a:bodyPr anchor="ctr" rtlCol="false" tIns="0" lIns="0" bIns="0" rIns="0"/>
            <a:lstStyle/>
            <a:p>
              <a:pPr algn="l">
                <a:lnSpc>
                  <a:spcPts val="3359"/>
                </a:lnSpc>
              </a:pPr>
              <a:r>
                <a:rPr lang="en-US" sz="2799" b="true">
                  <a:solidFill>
                    <a:srgbClr val="1E2761"/>
                  </a:solidFill>
                  <a:latin typeface="Arimo Bold"/>
                  <a:ea typeface="Arimo Bold"/>
                  <a:cs typeface="Arimo Bold"/>
                  <a:sym typeface="Arimo Bold"/>
                </a:rPr>
                <a:t>Planned / Upcoming</a:t>
              </a:r>
            </a:p>
          </p:txBody>
        </p:sp>
      </p:grpSp>
      <p:grpSp>
        <p:nvGrpSpPr>
          <p:cNvPr name="Group 39" id="39"/>
          <p:cNvGrpSpPr/>
          <p:nvPr/>
        </p:nvGrpSpPr>
        <p:grpSpPr>
          <a:xfrm rot="0">
            <a:off x="9532620" y="3840480"/>
            <a:ext cx="6720840" cy="891540"/>
            <a:chOff x="0" y="0"/>
            <a:chExt cx="8961120" cy="1188720"/>
          </a:xfrm>
        </p:grpSpPr>
        <p:sp>
          <p:nvSpPr>
            <p:cNvPr name="Freeform 40" id="40"/>
            <p:cNvSpPr/>
            <p:nvPr/>
          </p:nvSpPr>
          <p:spPr>
            <a:xfrm flipH="false" flipV="false" rot="0">
              <a:off x="0" y="0"/>
              <a:ext cx="8961120" cy="1188720"/>
            </a:xfrm>
            <a:custGeom>
              <a:avLst/>
              <a:gdLst/>
              <a:ahLst/>
              <a:cxnLst/>
              <a:rect r="r" b="b" t="t" l="l"/>
              <a:pathLst>
                <a:path h="1188720" w="8961120">
                  <a:moveTo>
                    <a:pt x="0" y="109728"/>
                  </a:moveTo>
                  <a:cubicBezTo>
                    <a:pt x="0" y="49149"/>
                    <a:pt x="49149" y="0"/>
                    <a:pt x="109728" y="0"/>
                  </a:cubicBezTo>
                  <a:lnTo>
                    <a:pt x="8851392" y="0"/>
                  </a:lnTo>
                  <a:cubicBezTo>
                    <a:pt x="8911972" y="0"/>
                    <a:pt x="8961120" y="49149"/>
                    <a:pt x="8961120" y="109728"/>
                  </a:cubicBezTo>
                  <a:lnTo>
                    <a:pt x="8961120" y="1078992"/>
                  </a:lnTo>
                  <a:cubicBezTo>
                    <a:pt x="8961120" y="1139571"/>
                    <a:pt x="8911972" y="1188720"/>
                    <a:pt x="8851392" y="1188720"/>
                  </a:cubicBezTo>
                  <a:lnTo>
                    <a:pt x="109728" y="1188720"/>
                  </a:lnTo>
                  <a:cubicBezTo>
                    <a:pt x="49149" y="1188720"/>
                    <a:pt x="0" y="1139571"/>
                    <a:pt x="0" y="1078992"/>
                  </a:cubicBezTo>
                  <a:close/>
                </a:path>
              </a:pathLst>
            </a:custGeom>
            <a:solidFill>
              <a:srgbClr val="FFFFFF"/>
            </a:solidFill>
          </p:spPr>
        </p:sp>
      </p:grpSp>
      <p:grpSp>
        <p:nvGrpSpPr>
          <p:cNvPr name="Group 41" id="41"/>
          <p:cNvGrpSpPr/>
          <p:nvPr/>
        </p:nvGrpSpPr>
        <p:grpSpPr>
          <a:xfrm rot="0">
            <a:off x="11658600" y="3840480"/>
            <a:ext cx="4457700" cy="891540"/>
            <a:chOff x="0" y="0"/>
            <a:chExt cx="5943600" cy="1188720"/>
          </a:xfrm>
        </p:grpSpPr>
        <p:sp>
          <p:nvSpPr>
            <p:cNvPr name="Freeform 42" id="42"/>
            <p:cNvSpPr/>
            <p:nvPr/>
          </p:nvSpPr>
          <p:spPr>
            <a:xfrm flipH="false" flipV="false" rot="0">
              <a:off x="0" y="0"/>
              <a:ext cx="5943600" cy="1188720"/>
            </a:xfrm>
            <a:custGeom>
              <a:avLst/>
              <a:gdLst/>
              <a:ahLst/>
              <a:cxnLst/>
              <a:rect r="r" b="b" t="t" l="l"/>
              <a:pathLst>
                <a:path h="1188720" w="5943600">
                  <a:moveTo>
                    <a:pt x="0" y="0"/>
                  </a:moveTo>
                  <a:lnTo>
                    <a:pt x="5943600" y="0"/>
                  </a:lnTo>
                  <a:lnTo>
                    <a:pt x="5943600" y="1188720"/>
                  </a:lnTo>
                  <a:lnTo>
                    <a:pt x="0" y="1188720"/>
                  </a:lnTo>
                  <a:close/>
                </a:path>
              </a:pathLst>
            </a:custGeom>
            <a:blipFill>
              <a:blip r:embed="rId3">
                <a:alphaModFix amt="0"/>
              </a:blip>
              <a:stretch>
                <a:fillRect l="0" t="-47425" r="0" b="-47425"/>
              </a:stretch>
            </a:blipFill>
          </p:spPr>
        </p:sp>
        <p:sp>
          <p:nvSpPr>
            <p:cNvPr name="TextBox 43" id="43"/>
            <p:cNvSpPr txBox="true"/>
            <p:nvPr/>
          </p:nvSpPr>
          <p:spPr>
            <a:xfrm>
              <a:off x="0" y="-19050"/>
              <a:ext cx="5943600" cy="1207770"/>
            </a:xfrm>
            <a:prstGeom prst="rect">
              <a:avLst/>
            </a:prstGeom>
          </p:spPr>
          <p:txBody>
            <a:bodyPr anchor="ctr" rtlCol="false" tIns="0" lIns="0" bIns="0" rIns="0"/>
            <a:lstStyle/>
            <a:p>
              <a:pPr algn="l">
                <a:lnSpc>
                  <a:spcPts val="3419"/>
                </a:lnSpc>
              </a:pPr>
              <a:r>
                <a:rPr lang="en-US" sz="2849">
                  <a:solidFill>
                    <a:srgbClr val="1B1B2F"/>
                  </a:solidFill>
                  <a:latin typeface="Arimo"/>
                  <a:ea typeface="Arimo"/>
                  <a:cs typeface="Arimo"/>
                  <a:sym typeface="Arimo"/>
                </a:rPr>
                <a:t>Automated Reminders</a:t>
              </a:r>
            </a:p>
          </p:txBody>
        </p:sp>
      </p:grpSp>
      <p:grpSp>
        <p:nvGrpSpPr>
          <p:cNvPr name="Group 44" id="44"/>
          <p:cNvGrpSpPr/>
          <p:nvPr/>
        </p:nvGrpSpPr>
        <p:grpSpPr>
          <a:xfrm rot="0">
            <a:off x="9806940" y="4059936"/>
            <a:ext cx="1577340" cy="452628"/>
            <a:chOff x="0" y="0"/>
            <a:chExt cx="2103120" cy="603504"/>
          </a:xfrm>
        </p:grpSpPr>
        <p:sp>
          <p:nvSpPr>
            <p:cNvPr name="Freeform 45" id="45"/>
            <p:cNvSpPr/>
            <p:nvPr/>
          </p:nvSpPr>
          <p:spPr>
            <a:xfrm flipH="false" flipV="false" rot="0">
              <a:off x="0" y="0"/>
              <a:ext cx="2103120" cy="603504"/>
            </a:xfrm>
            <a:custGeom>
              <a:avLst/>
              <a:gdLst/>
              <a:ahLst/>
              <a:cxnLst/>
              <a:rect r="r" b="b" t="t" l="l"/>
              <a:pathLst>
                <a:path h="603504" w="2103120">
                  <a:moveTo>
                    <a:pt x="0" y="292608"/>
                  </a:moveTo>
                  <a:cubicBezTo>
                    <a:pt x="0" y="131064"/>
                    <a:pt x="131064" y="0"/>
                    <a:pt x="292608" y="0"/>
                  </a:cubicBezTo>
                  <a:lnTo>
                    <a:pt x="1810512" y="0"/>
                  </a:lnTo>
                  <a:cubicBezTo>
                    <a:pt x="1972056" y="0"/>
                    <a:pt x="2103120" y="131064"/>
                    <a:pt x="2103120" y="292608"/>
                  </a:cubicBezTo>
                  <a:lnTo>
                    <a:pt x="2103120" y="310896"/>
                  </a:lnTo>
                  <a:cubicBezTo>
                    <a:pt x="2103120" y="472440"/>
                    <a:pt x="1972056" y="603504"/>
                    <a:pt x="1810512" y="603504"/>
                  </a:cubicBezTo>
                  <a:lnTo>
                    <a:pt x="292608" y="603504"/>
                  </a:lnTo>
                  <a:cubicBezTo>
                    <a:pt x="131064" y="603504"/>
                    <a:pt x="0" y="472440"/>
                    <a:pt x="0" y="310896"/>
                  </a:cubicBezTo>
                  <a:close/>
                </a:path>
              </a:pathLst>
            </a:custGeom>
            <a:solidFill>
              <a:srgbClr val="FBF1DE"/>
            </a:solidFill>
          </p:spPr>
        </p:sp>
      </p:grpSp>
      <p:grpSp>
        <p:nvGrpSpPr>
          <p:cNvPr name="Group 46" id="46"/>
          <p:cNvGrpSpPr/>
          <p:nvPr/>
        </p:nvGrpSpPr>
        <p:grpSpPr>
          <a:xfrm rot="0">
            <a:off x="9806940" y="4059936"/>
            <a:ext cx="1577340" cy="452628"/>
            <a:chOff x="0" y="0"/>
            <a:chExt cx="2103120" cy="603504"/>
          </a:xfrm>
        </p:grpSpPr>
        <p:sp>
          <p:nvSpPr>
            <p:cNvPr name="Freeform 47" id="47"/>
            <p:cNvSpPr/>
            <p:nvPr/>
          </p:nvSpPr>
          <p:spPr>
            <a:xfrm flipH="false" flipV="false" rot="0">
              <a:off x="0" y="0"/>
              <a:ext cx="2103120" cy="603504"/>
            </a:xfrm>
            <a:custGeom>
              <a:avLst/>
              <a:gdLst/>
              <a:ahLst/>
              <a:cxnLst/>
              <a:rect r="r" b="b" t="t" l="l"/>
              <a:pathLst>
                <a:path h="603504" w="2103120">
                  <a:moveTo>
                    <a:pt x="0" y="0"/>
                  </a:moveTo>
                  <a:lnTo>
                    <a:pt x="2103120" y="0"/>
                  </a:lnTo>
                  <a:lnTo>
                    <a:pt x="2103120" y="603504"/>
                  </a:lnTo>
                  <a:lnTo>
                    <a:pt x="0" y="603504"/>
                  </a:lnTo>
                  <a:close/>
                </a:path>
              </a:pathLst>
            </a:custGeom>
            <a:blipFill>
              <a:blip r:embed="rId3">
                <a:alphaModFix amt="0"/>
              </a:blip>
              <a:stretch>
                <a:fillRect l="0" t="-17902" r="0" b="-17902"/>
              </a:stretch>
            </a:blipFill>
          </p:spPr>
        </p:sp>
        <p:sp>
          <p:nvSpPr>
            <p:cNvPr name="TextBox 48" id="48"/>
            <p:cNvSpPr txBox="true"/>
            <p:nvPr/>
          </p:nvSpPr>
          <p:spPr>
            <a:xfrm>
              <a:off x="0" y="-28575"/>
              <a:ext cx="2103120" cy="632079"/>
            </a:xfrm>
            <a:prstGeom prst="rect">
              <a:avLst/>
            </a:prstGeom>
          </p:spPr>
          <p:txBody>
            <a:bodyPr anchor="ctr" rtlCol="false" tIns="0" lIns="0" bIns="0" rIns="0"/>
            <a:lstStyle/>
            <a:p>
              <a:pPr algn="ctr">
                <a:lnSpc>
                  <a:spcPts val="2219"/>
                </a:lnSpc>
              </a:pPr>
              <a:r>
                <a:rPr lang="en-US" sz="1849" b="true">
                  <a:solidFill>
                    <a:srgbClr val="B4790E"/>
                  </a:solidFill>
                  <a:latin typeface="Arimo Bold"/>
                  <a:ea typeface="Arimo Bold"/>
                  <a:cs typeface="Arimo Bold"/>
                  <a:sym typeface="Arimo Bold"/>
                </a:rPr>
                <a:t>PLANNED</a:t>
              </a:r>
            </a:p>
          </p:txBody>
        </p:sp>
      </p:grpSp>
      <p:grpSp>
        <p:nvGrpSpPr>
          <p:cNvPr name="Group 49" id="49"/>
          <p:cNvGrpSpPr/>
          <p:nvPr/>
        </p:nvGrpSpPr>
        <p:grpSpPr>
          <a:xfrm rot="0">
            <a:off x="3566160" y="3869055"/>
            <a:ext cx="4457700" cy="891540"/>
            <a:chOff x="0" y="0"/>
            <a:chExt cx="5943600" cy="1188720"/>
          </a:xfrm>
        </p:grpSpPr>
        <p:sp>
          <p:nvSpPr>
            <p:cNvPr name="Freeform 50" id="50"/>
            <p:cNvSpPr/>
            <p:nvPr/>
          </p:nvSpPr>
          <p:spPr>
            <a:xfrm flipH="false" flipV="false" rot="0">
              <a:off x="0" y="0"/>
              <a:ext cx="5943600" cy="1188720"/>
            </a:xfrm>
            <a:custGeom>
              <a:avLst/>
              <a:gdLst/>
              <a:ahLst/>
              <a:cxnLst/>
              <a:rect r="r" b="b" t="t" l="l"/>
              <a:pathLst>
                <a:path h="1188720" w="5943600">
                  <a:moveTo>
                    <a:pt x="0" y="0"/>
                  </a:moveTo>
                  <a:lnTo>
                    <a:pt x="5943600" y="0"/>
                  </a:lnTo>
                  <a:lnTo>
                    <a:pt x="5943600" y="1188720"/>
                  </a:lnTo>
                  <a:lnTo>
                    <a:pt x="0" y="1188720"/>
                  </a:lnTo>
                  <a:close/>
                </a:path>
              </a:pathLst>
            </a:custGeom>
            <a:blipFill>
              <a:blip r:embed="rId3">
                <a:alphaModFix amt="0"/>
              </a:blip>
              <a:stretch>
                <a:fillRect l="0" t="-47425" r="0" b="-47425"/>
              </a:stretch>
            </a:blipFill>
          </p:spPr>
        </p:sp>
        <p:sp>
          <p:nvSpPr>
            <p:cNvPr name="TextBox 51" id="51"/>
            <p:cNvSpPr txBox="true"/>
            <p:nvPr/>
          </p:nvSpPr>
          <p:spPr>
            <a:xfrm>
              <a:off x="0" y="-19050"/>
              <a:ext cx="5943600" cy="1207770"/>
            </a:xfrm>
            <a:prstGeom prst="rect">
              <a:avLst/>
            </a:prstGeom>
          </p:spPr>
          <p:txBody>
            <a:bodyPr anchor="ctr" rtlCol="false" tIns="0" lIns="0" bIns="0" rIns="0"/>
            <a:lstStyle/>
            <a:p>
              <a:pPr algn="l">
                <a:lnSpc>
                  <a:spcPts val="3419"/>
                </a:lnSpc>
              </a:pPr>
              <a:r>
                <a:rPr lang="en-US" sz="2849">
                  <a:solidFill>
                    <a:srgbClr val="1B1B2F"/>
                  </a:solidFill>
                  <a:latin typeface="Arimo"/>
                  <a:ea typeface="Arimo"/>
                  <a:cs typeface="Arimo"/>
                  <a:sym typeface="Arimo"/>
                </a:rPr>
                <a:t>Appointment Booking</a:t>
              </a:r>
            </a:p>
          </p:txBody>
        </p:sp>
      </p:grpSp>
      <p:grpSp>
        <p:nvGrpSpPr>
          <p:cNvPr name="Group 52" id="52"/>
          <p:cNvGrpSpPr/>
          <p:nvPr/>
        </p:nvGrpSpPr>
        <p:grpSpPr>
          <a:xfrm rot="0">
            <a:off x="9532620" y="4965192"/>
            <a:ext cx="6720840" cy="891540"/>
            <a:chOff x="0" y="0"/>
            <a:chExt cx="8961120" cy="1188720"/>
          </a:xfrm>
        </p:grpSpPr>
        <p:sp>
          <p:nvSpPr>
            <p:cNvPr name="Freeform 53" id="53"/>
            <p:cNvSpPr/>
            <p:nvPr/>
          </p:nvSpPr>
          <p:spPr>
            <a:xfrm flipH="false" flipV="false" rot="0">
              <a:off x="0" y="0"/>
              <a:ext cx="8961120" cy="1188720"/>
            </a:xfrm>
            <a:custGeom>
              <a:avLst/>
              <a:gdLst/>
              <a:ahLst/>
              <a:cxnLst/>
              <a:rect r="r" b="b" t="t" l="l"/>
              <a:pathLst>
                <a:path h="1188720" w="8961120">
                  <a:moveTo>
                    <a:pt x="0" y="109728"/>
                  </a:moveTo>
                  <a:cubicBezTo>
                    <a:pt x="0" y="49149"/>
                    <a:pt x="49149" y="0"/>
                    <a:pt x="109728" y="0"/>
                  </a:cubicBezTo>
                  <a:lnTo>
                    <a:pt x="8851392" y="0"/>
                  </a:lnTo>
                  <a:cubicBezTo>
                    <a:pt x="8911972" y="0"/>
                    <a:pt x="8961120" y="49149"/>
                    <a:pt x="8961120" y="109728"/>
                  </a:cubicBezTo>
                  <a:lnTo>
                    <a:pt x="8961120" y="1078992"/>
                  </a:lnTo>
                  <a:cubicBezTo>
                    <a:pt x="8961120" y="1139571"/>
                    <a:pt x="8911972" y="1188720"/>
                    <a:pt x="8851392" y="1188720"/>
                  </a:cubicBezTo>
                  <a:lnTo>
                    <a:pt x="109728" y="1188720"/>
                  </a:lnTo>
                  <a:cubicBezTo>
                    <a:pt x="49149" y="1188720"/>
                    <a:pt x="0" y="1139571"/>
                    <a:pt x="0" y="1078992"/>
                  </a:cubicBezTo>
                  <a:close/>
                </a:path>
              </a:pathLst>
            </a:custGeom>
            <a:solidFill>
              <a:srgbClr val="FFFFFF"/>
            </a:solidFill>
          </p:spPr>
        </p:sp>
      </p:grpSp>
      <p:grpSp>
        <p:nvGrpSpPr>
          <p:cNvPr name="Group 54" id="54"/>
          <p:cNvGrpSpPr/>
          <p:nvPr/>
        </p:nvGrpSpPr>
        <p:grpSpPr>
          <a:xfrm rot="0">
            <a:off x="11658600" y="4965192"/>
            <a:ext cx="4457700" cy="891540"/>
            <a:chOff x="0" y="0"/>
            <a:chExt cx="5943600" cy="1188720"/>
          </a:xfrm>
        </p:grpSpPr>
        <p:sp>
          <p:nvSpPr>
            <p:cNvPr name="Freeform 55" id="55"/>
            <p:cNvSpPr/>
            <p:nvPr/>
          </p:nvSpPr>
          <p:spPr>
            <a:xfrm flipH="false" flipV="false" rot="0">
              <a:off x="0" y="0"/>
              <a:ext cx="5943600" cy="1188720"/>
            </a:xfrm>
            <a:custGeom>
              <a:avLst/>
              <a:gdLst/>
              <a:ahLst/>
              <a:cxnLst/>
              <a:rect r="r" b="b" t="t" l="l"/>
              <a:pathLst>
                <a:path h="1188720" w="5943600">
                  <a:moveTo>
                    <a:pt x="0" y="0"/>
                  </a:moveTo>
                  <a:lnTo>
                    <a:pt x="5943600" y="0"/>
                  </a:lnTo>
                  <a:lnTo>
                    <a:pt x="5943600" y="1188720"/>
                  </a:lnTo>
                  <a:lnTo>
                    <a:pt x="0" y="1188720"/>
                  </a:lnTo>
                  <a:close/>
                </a:path>
              </a:pathLst>
            </a:custGeom>
            <a:blipFill>
              <a:blip r:embed="rId3">
                <a:alphaModFix amt="0"/>
              </a:blip>
              <a:stretch>
                <a:fillRect l="0" t="-47425" r="0" b="-47425"/>
              </a:stretch>
            </a:blipFill>
          </p:spPr>
        </p:sp>
        <p:sp>
          <p:nvSpPr>
            <p:cNvPr name="TextBox 56" id="56"/>
            <p:cNvSpPr txBox="true"/>
            <p:nvPr/>
          </p:nvSpPr>
          <p:spPr>
            <a:xfrm>
              <a:off x="0" y="-19050"/>
              <a:ext cx="5943600" cy="1207770"/>
            </a:xfrm>
            <a:prstGeom prst="rect">
              <a:avLst/>
            </a:prstGeom>
          </p:spPr>
          <p:txBody>
            <a:bodyPr anchor="ctr" rtlCol="false" tIns="0" lIns="0" bIns="0" rIns="0"/>
            <a:lstStyle/>
            <a:p>
              <a:pPr algn="l">
                <a:lnSpc>
                  <a:spcPts val="3419"/>
                </a:lnSpc>
              </a:pPr>
              <a:r>
                <a:rPr lang="en-US" sz="2849">
                  <a:solidFill>
                    <a:srgbClr val="1B1B2F"/>
                  </a:solidFill>
                  <a:latin typeface="Arimo"/>
                  <a:ea typeface="Arimo"/>
                  <a:cs typeface="Arimo"/>
                  <a:sym typeface="Arimo"/>
                </a:rPr>
                <a:t>Unified Medical History</a:t>
              </a:r>
            </a:p>
          </p:txBody>
        </p:sp>
      </p:grpSp>
      <p:grpSp>
        <p:nvGrpSpPr>
          <p:cNvPr name="Group 57" id="57"/>
          <p:cNvGrpSpPr/>
          <p:nvPr/>
        </p:nvGrpSpPr>
        <p:grpSpPr>
          <a:xfrm rot="0">
            <a:off x="9806940" y="5184648"/>
            <a:ext cx="1577340" cy="452628"/>
            <a:chOff x="0" y="0"/>
            <a:chExt cx="2103120" cy="603504"/>
          </a:xfrm>
        </p:grpSpPr>
        <p:sp>
          <p:nvSpPr>
            <p:cNvPr name="Freeform 58" id="58"/>
            <p:cNvSpPr/>
            <p:nvPr/>
          </p:nvSpPr>
          <p:spPr>
            <a:xfrm flipH="false" flipV="false" rot="0">
              <a:off x="0" y="0"/>
              <a:ext cx="2103120" cy="603504"/>
            </a:xfrm>
            <a:custGeom>
              <a:avLst/>
              <a:gdLst/>
              <a:ahLst/>
              <a:cxnLst/>
              <a:rect r="r" b="b" t="t" l="l"/>
              <a:pathLst>
                <a:path h="603504" w="2103120">
                  <a:moveTo>
                    <a:pt x="0" y="292608"/>
                  </a:moveTo>
                  <a:cubicBezTo>
                    <a:pt x="0" y="131064"/>
                    <a:pt x="131064" y="0"/>
                    <a:pt x="292608" y="0"/>
                  </a:cubicBezTo>
                  <a:lnTo>
                    <a:pt x="1810512" y="0"/>
                  </a:lnTo>
                  <a:cubicBezTo>
                    <a:pt x="1972056" y="0"/>
                    <a:pt x="2103120" y="131064"/>
                    <a:pt x="2103120" y="292608"/>
                  </a:cubicBezTo>
                  <a:lnTo>
                    <a:pt x="2103120" y="310896"/>
                  </a:lnTo>
                  <a:cubicBezTo>
                    <a:pt x="2103120" y="472440"/>
                    <a:pt x="1972056" y="603504"/>
                    <a:pt x="1810512" y="603504"/>
                  </a:cubicBezTo>
                  <a:lnTo>
                    <a:pt x="292608" y="603504"/>
                  </a:lnTo>
                  <a:cubicBezTo>
                    <a:pt x="131064" y="603504"/>
                    <a:pt x="0" y="472440"/>
                    <a:pt x="0" y="310896"/>
                  </a:cubicBezTo>
                  <a:close/>
                </a:path>
              </a:pathLst>
            </a:custGeom>
            <a:solidFill>
              <a:srgbClr val="FBF1DE"/>
            </a:solidFill>
          </p:spPr>
        </p:sp>
      </p:grpSp>
      <p:grpSp>
        <p:nvGrpSpPr>
          <p:cNvPr name="Group 59" id="59"/>
          <p:cNvGrpSpPr/>
          <p:nvPr/>
        </p:nvGrpSpPr>
        <p:grpSpPr>
          <a:xfrm rot="0">
            <a:off x="9806940" y="5184648"/>
            <a:ext cx="1577340" cy="452628"/>
            <a:chOff x="0" y="0"/>
            <a:chExt cx="2103120" cy="603504"/>
          </a:xfrm>
        </p:grpSpPr>
        <p:sp>
          <p:nvSpPr>
            <p:cNvPr name="Freeform 60" id="60"/>
            <p:cNvSpPr/>
            <p:nvPr/>
          </p:nvSpPr>
          <p:spPr>
            <a:xfrm flipH="false" flipV="false" rot="0">
              <a:off x="0" y="0"/>
              <a:ext cx="2103120" cy="603504"/>
            </a:xfrm>
            <a:custGeom>
              <a:avLst/>
              <a:gdLst/>
              <a:ahLst/>
              <a:cxnLst/>
              <a:rect r="r" b="b" t="t" l="l"/>
              <a:pathLst>
                <a:path h="603504" w="2103120">
                  <a:moveTo>
                    <a:pt x="0" y="0"/>
                  </a:moveTo>
                  <a:lnTo>
                    <a:pt x="2103120" y="0"/>
                  </a:lnTo>
                  <a:lnTo>
                    <a:pt x="2103120" y="603504"/>
                  </a:lnTo>
                  <a:lnTo>
                    <a:pt x="0" y="603504"/>
                  </a:lnTo>
                  <a:close/>
                </a:path>
              </a:pathLst>
            </a:custGeom>
            <a:blipFill>
              <a:blip r:embed="rId3">
                <a:alphaModFix amt="0"/>
              </a:blip>
              <a:stretch>
                <a:fillRect l="0" t="-17902" r="0" b="-17902"/>
              </a:stretch>
            </a:blipFill>
          </p:spPr>
        </p:sp>
        <p:sp>
          <p:nvSpPr>
            <p:cNvPr name="TextBox 61" id="61"/>
            <p:cNvSpPr txBox="true"/>
            <p:nvPr/>
          </p:nvSpPr>
          <p:spPr>
            <a:xfrm>
              <a:off x="0" y="-28575"/>
              <a:ext cx="2103120" cy="632079"/>
            </a:xfrm>
            <a:prstGeom prst="rect">
              <a:avLst/>
            </a:prstGeom>
          </p:spPr>
          <p:txBody>
            <a:bodyPr anchor="ctr" rtlCol="false" tIns="0" lIns="0" bIns="0" rIns="0"/>
            <a:lstStyle/>
            <a:p>
              <a:pPr algn="ctr">
                <a:lnSpc>
                  <a:spcPts val="2220"/>
                </a:lnSpc>
              </a:pPr>
              <a:r>
                <a:rPr lang="en-US" sz="1850" b="true">
                  <a:solidFill>
                    <a:srgbClr val="B4790E"/>
                  </a:solidFill>
                  <a:latin typeface="Arimo Bold"/>
                  <a:ea typeface="Arimo Bold"/>
                  <a:cs typeface="Arimo Bold"/>
                  <a:sym typeface="Arimo Bold"/>
                </a:rPr>
                <a:t>PLANNED</a:t>
              </a:r>
            </a:p>
          </p:txBody>
        </p:sp>
      </p:grpSp>
      <p:grpSp>
        <p:nvGrpSpPr>
          <p:cNvPr name="Group 62" id="62"/>
          <p:cNvGrpSpPr/>
          <p:nvPr/>
        </p:nvGrpSpPr>
        <p:grpSpPr>
          <a:xfrm rot="0">
            <a:off x="3566160" y="4965192"/>
            <a:ext cx="4457700" cy="891540"/>
            <a:chOff x="0" y="0"/>
            <a:chExt cx="5943600" cy="1188720"/>
          </a:xfrm>
        </p:grpSpPr>
        <p:sp>
          <p:nvSpPr>
            <p:cNvPr name="Freeform 63" id="63"/>
            <p:cNvSpPr/>
            <p:nvPr/>
          </p:nvSpPr>
          <p:spPr>
            <a:xfrm flipH="false" flipV="false" rot="0">
              <a:off x="0" y="0"/>
              <a:ext cx="5943600" cy="1188720"/>
            </a:xfrm>
            <a:custGeom>
              <a:avLst/>
              <a:gdLst/>
              <a:ahLst/>
              <a:cxnLst/>
              <a:rect r="r" b="b" t="t" l="l"/>
              <a:pathLst>
                <a:path h="1188720" w="5943600">
                  <a:moveTo>
                    <a:pt x="0" y="0"/>
                  </a:moveTo>
                  <a:lnTo>
                    <a:pt x="5943600" y="0"/>
                  </a:lnTo>
                  <a:lnTo>
                    <a:pt x="5943600" y="1188720"/>
                  </a:lnTo>
                  <a:lnTo>
                    <a:pt x="0" y="1188720"/>
                  </a:lnTo>
                  <a:close/>
                </a:path>
              </a:pathLst>
            </a:custGeom>
            <a:blipFill>
              <a:blip r:embed="rId3">
                <a:alphaModFix amt="0"/>
              </a:blip>
              <a:stretch>
                <a:fillRect l="0" t="-47425" r="0" b="-47425"/>
              </a:stretch>
            </a:blipFill>
          </p:spPr>
        </p:sp>
        <p:sp>
          <p:nvSpPr>
            <p:cNvPr name="TextBox 64" id="64"/>
            <p:cNvSpPr txBox="true"/>
            <p:nvPr/>
          </p:nvSpPr>
          <p:spPr>
            <a:xfrm>
              <a:off x="0" y="-19050"/>
              <a:ext cx="5943600" cy="1207770"/>
            </a:xfrm>
            <a:prstGeom prst="rect">
              <a:avLst/>
            </a:prstGeom>
          </p:spPr>
          <p:txBody>
            <a:bodyPr anchor="ctr" rtlCol="false" tIns="0" lIns="0" bIns="0" rIns="0"/>
            <a:lstStyle/>
            <a:p>
              <a:pPr algn="l">
                <a:lnSpc>
                  <a:spcPts val="3419"/>
                </a:lnSpc>
              </a:pPr>
              <a:r>
                <a:rPr lang="en-US" sz="2849">
                  <a:solidFill>
                    <a:srgbClr val="1B1B2F"/>
                  </a:solidFill>
                  <a:latin typeface="Arimo"/>
                  <a:ea typeface="Arimo"/>
                  <a:cs typeface="Arimo"/>
                  <a:sym typeface="Arimo"/>
                </a:rPr>
                <a:t>Government ID Integration</a:t>
              </a:r>
            </a:p>
          </p:txBody>
        </p:sp>
      </p:grpSp>
      <p:grpSp>
        <p:nvGrpSpPr>
          <p:cNvPr name="Group 65" id="65"/>
          <p:cNvGrpSpPr/>
          <p:nvPr/>
        </p:nvGrpSpPr>
        <p:grpSpPr>
          <a:xfrm rot="0">
            <a:off x="9532620" y="6089904"/>
            <a:ext cx="6720840" cy="891540"/>
            <a:chOff x="0" y="0"/>
            <a:chExt cx="8961120" cy="1188720"/>
          </a:xfrm>
        </p:grpSpPr>
        <p:sp>
          <p:nvSpPr>
            <p:cNvPr name="Freeform 66" id="66"/>
            <p:cNvSpPr/>
            <p:nvPr/>
          </p:nvSpPr>
          <p:spPr>
            <a:xfrm flipH="false" flipV="false" rot="0">
              <a:off x="0" y="0"/>
              <a:ext cx="8961120" cy="1188720"/>
            </a:xfrm>
            <a:custGeom>
              <a:avLst/>
              <a:gdLst/>
              <a:ahLst/>
              <a:cxnLst/>
              <a:rect r="r" b="b" t="t" l="l"/>
              <a:pathLst>
                <a:path h="1188720" w="8961120">
                  <a:moveTo>
                    <a:pt x="0" y="109728"/>
                  </a:moveTo>
                  <a:cubicBezTo>
                    <a:pt x="0" y="49149"/>
                    <a:pt x="49149" y="0"/>
                    <a:pt x="109728" y="0"/>
                  </a:cubicBezTo>
                  <a:lnTo>
                    <a:pt x="8851392" y="0"/>
                  </a:lnTo>
                  <a:cubicBezTo>
                    <a:pt x="8911972" y="0"/>
                    <a:pt x="8961120" y="49149"/>
                    <a:pt x="8961120" y="109728"/>
                  </a:cubicBezTo>
                  <a:lnTo>
                    <a:pt x="8961120" y="1078992"/>
                  </a:lnTo>
                  <a:cubicBezTo>
                    <a:pt x="8961120" y="1139571"/>
                    <a:pt x="8911972" y="1188720"/>
                    <a:pt x="8851392" y="1188720"/>
                  </a:cubicBezTo>
                  <a:lnTo>
                    <a:pt x="109728" y="1188720"/>
                  </a:lnTo>
                  <a:cubicBezTo>
                    <a:pt x="49149" y="1188720"/>
                    <a:pt x="0" y="1139571"/>
                    <a:pt x="0" y="1078992"/>
                  </a:cubicBezTo>
                  <a:close/>
                </a:path>
              </a:pathLst>
            </a:custGeom>
            <a:solidFill>
              <a:srgbClr val="FFFFFF"/>
            </a:solidFill>
          </p:spPr>
        </p:sp>
      </p:grpSp>
      <p:grpSp>
        <p:nvGrpSpPr>
          <p:cNvPr name="Group 67" id="67"/>
          <p:cNvGrpSpPr/>
          <p:nvPr/>
        </p:nvGrpSpPr>
        <p:grpSpPr>
          <a:xfrm rot="0">
            <a:off x="11658600" y="6085332"/>
            <a:ext cx="4457700" cy="891540"/>
            <a:chOff x="0" y="0"/>
            <a:chExt cx="5943600" cy="1188720"/>
          </a:xfrm>
        </p:grpSpPr>
        <p:sp>
          <p:nvSpPr>
            <p:cNvPr name="Freeform 68" id="68"/>
            <p:cNvSpPr/>
            <p:nvPr/>
          </p:nvSpPr>
          <p:spPr>
            <a:xfrm flipH="false" flipV="false" rot="0">
              <a:off x="0" y="0"/>
              <a:ext cx="5943600" cy="1188720"/>
            </a:xfrm>
            <a:custGeom>
              <a:avLst/>
              <a:gdLst/>
              <a:ahLst/>
              <a:cxnLst/>
              <a:rect r="r" b="b" t="t" l="l"/>
              <a:pathLst>
                <a:path h="1188720" w="5943600">
                  <a:moveTo>
                    <a:pt x="0" y="0"/>
                  </a:moveTo>
                  <a:lnTo>
                    <a:pt x="5943600" y="0"/>
                  </a:lnTo>
                  <a:lnTo>
                    <a:pt x="5943600" y="1188720"/>
                  </a:lnTo>
                  <a:lnTo>
                    <a:pt x="0" y="1188720"/>
                  </a:lnTo>
                  <a:close/>
                </a:path>
              </a:pathLst>
            </a:custGeom>
            <a:blipFill>
              <a:blip r:embed="rId3">
                <a:alphaModFix amt="0"/>
              </a:blip>
              <a:stretch>
                <a:fillRect l="0" t="-47425" r="0" b="-47425"/>
              </a:stretch>
            </a:blipFill>
          </p:spPr>
        </p:sp>
        <p:sp>
          <p:nvSpPr>
            <p:cNvPr name="TextBox 69" id="69"/>
            <p:cNvSpPr txBox="true"/>
            <p:nvPr/>
          </p:nvSpPr>
          <p:spPr>
            <a:xfrm>
              <a:off x="0" y="-19050"/>
              <a:ext cx="5943600" cy="1207770"/>
            </a:xfrm>
            <a:prstGeom prst="rect">
              <a:avLst/>
            </a:prstGeom>
          </p:spPr>
          <p:txBody>
            <a:bodyPr anchor="ctr" rtlCol="false" tIns="0" lIns="0" bIns="0" rIns="0"/>
            <a:lstStyle/>
            <a:p>
              <a:pPr algn="l">
                <a:lnSpc>
                  <a:spcPts val="3419"/>
                </a:lnSpc>
              </a:pPr>
              <a:r>
                <a:rPr lang="en-US" sz="2849">
                  <a:solidFill>
                    <a:srgbClr val="1B1B2F"/>
                  </a:solidFill>
                  <a:latin typeface="Arimo"/>
                  <a:ea typeface="Arimo"/>
                  <a:cs typeface="Arimo"/>
                  <a:sym typeface="Arimo"/>
                </a:rPr>
                <a:t>Emergency Data Transfer</a:t>
              </a:r>
            </a:p>
          </p:txBody>
        </p:sp>
      </p:grpSp>
      <p:grpSp>
        <p:nvGrpSpPr>
          <p:cNvPr name="Group 70" id="70"/>
          <p:cNvGrpSpPr/>
          <p:nvPr/>
        </p:nvGrpSpPr>
        <p:grpSpPr>
          <a:xfrm rot="0">
            <a:off x="9806940" y="6309360"/>
            <a:ext cx="1577340" cy="452628"/>
            <a:chOff x="0" y="0"/>
            <a:chExt cx="2103120" cy="603504"/>
          </a:xfrm>
        </p:grpSpPr>
        <p:sp>
          <p:nvSpPr>
            <p:cNvPr name="Freeform 71" id="71"/>
            <p:cNvSpPr/>
            <p:nvPr/>
          </p:nvSpPr>
          <p:spPr>
            <a:xfrm flipH="false" flipV="false" rot="0">
              <a:off x="0" y="0"/>
              <a:ext cx="2103120" cy="603504"/>
            </a:xfrm>
            <a:custGeom>
              <a:avLst/>
              <a:gdLst/>
              <a:ahLst/>
              <a:cxnLst/>
              <a:rect r="r" b="b" t="t" l="l"/>
              <a:pathLst>
                <a:path h="603504" w="2103120">
                  <a:moveTo>
                    <a:pt x="0" y="292608"/>
                  </a:moveTo>
                  <a:cubicBezTo>
                    <a:pt x="0" y="131064"/>
                    <a:pt x="131064" y="0"/>
                    <a:pt x="292608" y="0"/>
                  </a:cubicBezTo>
                  <a:lnTo>
                    <a:pt x="1810512" y="0"/>
                  </a:lnTo>
                  <a:cubicBezTo>
                    <a:pt x="1972056" y="0"/>
                    <a:pt x="2103120" y="131064"/>
                    <a:pt x="2103120" y="292608"/>
                  </a:cubicBezTo>
                  <a:lnTo>
                    <a:pt x="2103120" y="310896"/>
                  </a:lnTo>
                  <a:cubicBezTo>
                    <a:pt x="2103120" y="472440"/>
                    <a:pt x="1972056" y="603504"/>
                    <a:pt x="1810512" y="603504"/>
                  </a:cubicBezTo>
                  <a:lnTo>
                    <a:pt x="292608" y="603504"/>
                  </a:lnTo>
                  <a:cubicBezTo>
                    <a:pt x="131064" y="603504"/>
                    <a:pt x="0" y="472440"/>
                    <a:pt x="0" y="310896"/>
                  </a:cubicBezTo>
                  <a:close/>
                </a:path>
              </a:pathLst>
            </a:custGeom>
            <a:solidFill>
              <a:srgbClr val="FBF1DE"/>
            </a:solidFill>
          </p:spPr>
        </p:sp>
      </p:grpSp>
      <p:grpSp>
        <p:nvGrpSpPr>
          <p:cNvPr name="Group 72" id="72"/>
          <p:cNvGrpSpPr/>
          <p:nvPr/>
        </p:nvGrpSpPr>
        <p:grpSpPr>
          <a:xfrm rot="0">
            <a:off x="9806940" y="6309360"/>
            <a:ext cx="1577340" cy="452628"/>
            <a:chOff x="0" y="0"/>
            <a:chExt cx="2103120" cy="603504"/>
          </a:xfrm>
        </p:grpSpPr>
        <p:sp>
          <p:nvSpPr>
            <p:cNvPr name="Freeform 73" id="73"/>
            <p:cNvSpPr/>
            <p:nvPr/>
          </p:nvSpPr>
          <p:spPr>
            <a:xfrm flipH="false" flipV="false" rot="0">
              <a:off x="0" y="0"/>
              <a:ext cx="2103120" cy="603504"/>
            </a:xfrm>
            <a:custGeom>
              <a:avLst/>
              <a:gdLst/>
              <a:ahLst/>
              <a:cxnLst/>
              <a:rect r="r" b="b" t="t" l="l"/>
              <a:pathLst>
                <a:path h="603504" w="2103120">
                  <a:moveTo>
                    <a:pt x="0" y="0"/>
                  </a:moveTo>
                  <a:lnTo>
                    <a:pt x="2103120" y="0"/>
                  </a:lnTo>
                  <a:lnTo>
                    <a:pt x="2103120" y="603504"/>
                  </a:lnTo>
                  <a:lnTo>
                    <a:pt x="0" y="603504"/>
                  </a:lnTo>
                  <a:close/>
                </a:path>
              </a:pathLst>
            </a:custGeom>
            <a:blipFill>
              <a:blip r:embed="rId3">
                <a:alphaModFix amt="0"/>
              </a:blip>
              <a:stretch>
                <a:fillRect l="0" t="-17902" r="0" b="-17902"/>
              </a:stretch>
            </a:blipFill>
          </p:spPr>
        </p:sp>
        <p:sp>
          <p:nvSpPr>
            <p:cNvPr name="TextBox 74" id="74"/>
            <p:cNvSpPr txBox="true"/>
            <p:nvPr/>
          </p:nvSpPr>
          <p:spPr>
            <a:xfrm>
              <a:off x="0" y="-28575"/>
              <a:ext cx="2103120" cy="632079"/>
            </a:xfrm>
            <a:prstGeom prst="rect">
              <a:avLst/>
            </a:prstGeom>
          </p:spPr>
          <p:txBody>
            <a:bodyPr anchor="ctr" rtlCol="false" tIns="0" lIns="0" bIns="0" rIns="0"/>
            <a:lstStyle/>
            <a:p>
              <a:pPr algn="ctr">
                <a:lnSpc>
                  <a:spcPts val="2220"/>
                </a:lnSpc>
              </a:pPr>
              <a:r>
                <a:rPr lang="en-US" sz="1850" b="true">
                  <a:solidFill>
                    <a:srgbClr val="B4790E"/>
                  </a:solidFill>
                  <a:latin typeface="Arimo Bold"/>
                  <a:ea typeface="Arimo Bold"/>
                  <a:cs typeface="Arimo Bold"/>
                  <a:sym typeface="Arimo Bold"/>
                </a:rPr>
                <a:t>PLANNED</a:t>
              </a:r>
            </a:p>
          </p:txBody>
        </p:sp>
      </p:grpSp>
      <p:grpSp>
        <p:nvGrpSpPr>
          <p:cNvPr name="Group 75" id="75"/>
          <p:cNvGrpSpPr/>
          <p:nvPr/>
        </p:nvGrpSpPr>
        <p:grpSpPr>
          <a:xfrm rot="0">
            <a:off x="3566160" y="6056757"/>
            <a:ext cx="4457700" cy="891540"/>
            <a:chOff x="0" y="0"/>
            <a:chExt cx="5943600" cy="1188720"/>
          </a:xfrm>
        </p:grpSpPr>
        <p:sp>
          <p:nvSpPr>
            <p:cNvPr name="Freeform 76" id="76"/>
            <p:cNvSpPr/>
            <p:nvPr/>
          </p:nvSpPr>
          <p:spPr>
            <a:xfrm flipH="false" flipV="false" rot="0">
              <a:off x="0" y="0"/>
              <a:ext cx="5943600" cy="1188720"/>
            </a:xfrm>
            <a:custGeom>
              <a:avLst/>
              <a:gdLst/>
              <a:ahLst/>
              <a:cxnLst/>
              <a:rect r="r" b="b" t="t" l="l"/>
              <a:pathLst>
                <a:path h="1188720" w="5943600">
                  <a:moveTo>
                    <a:pt x="0" y="0"/>
                  </a:moveTo>
                  <a:lnTo>
                    <a:pt x="5943600" y="0"/>
                  </a:lnTo>
                  <a:lnTo>
                    <a:pt x="5943600" y="1188720"/>
                  </a:lnTo>
                  <a:lnTo>
                    <a:pt x="0" y="1188720"/>
                  </a:lnTo>
                  <a:close/>
                </a:path>
              </a:pathLst>
            </a:custGeom>
            <a:blipFill>
              <a:blip r:embed="rId3">
                <a:alphaModFix amt="0"/>
              </a:blip>
              <a:stretch>
                <a:fillRect l="0" t="-47425" r="0" b="-47425"/>
              </a:stretch>
            </a:blipFill>
          </p:spPr>
        </p:sp>
        <p:sp>
          <p:nvSpPr>
            <p:cNvPr name="TextBox 77" id="77"/>
            <p:cNvSpPr txBox="true"/>
            <p:nvPr/>
          </p:nvSpPr>
          <p:spPr>
            <a:xfrm>
              <a:off x="0" y="-19050"/>
              <a:ext cx="5943600" cy="1207770"/>
            </a:xfrm>
            <a:prstGeom prst="rect">
              <a:avLst/>
            </a:prstGeom>
          </p:spPr>
          <p:txBody>
            <a:bodyPr anchor="ctr" rtlCol="false" tIns="0" lIns="0" bIns="0" rIns="0"/>
            <a:lstStyle/>
            <a:p>
              <a:pPr algn="l">
                <a:lnSpc>
                  <a:spcPts val="3419"/>
                </a:lnSpc>
              </a:pPr>
              <a:r>
                <a:rPr lang="en-US" sz="2849">
                  <a:solidFill>
                    <a:srgbClr val="1B1B2F"/>
                  </a:solidFill>
                  <a:latin typeface="Arimo"/>
                  <a:ea typeface="Arimo"/>
                  <a:cs typeface="Arimo"/>
                  <a:sym typeface="Arimo"/>
                </a:rPr>
                <a:t>Hospital Dashboard</a:t>
              </a:r>
            </a:p>
          </p:txBody>
        </p:sp>
      </p:grpSp>
      <p:grpSp>
        <p:nvGrpSpPr>
          <p:cNvPr name="Group 78" id="78"/>
          <p:cNvGrpSpPr/>
          <p:nvPr/>
        </p:nvGrpSpPr>
        <p:grpSpPr>
          <a:xfrm rot="0">
            <a:off x="822960" y="9820656"/>
            <a:ext cx="12344400" cy="411480"/>
            <a:chOff x="0" y="0"/>
            <a:chExt cx="16459200" cy="548640"/>
          </a:xfrm>
        </p:grpSpPr>
        <p:sp>
          <p:nvSpPr>
            <p:cNvPr name="Freeform 79" id="79"/>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80" id="80"/>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81" id="81"/>
          <p:cNvGrpSpPr/>
          <p:nvPr/>
        </p:nvGrpSpPr>
        <p:grpSpPr>
          <a:xfrm rot="0">
            <a:off x="16915943" y="9820656"/>
            <a:ext cx="548640" cy="411480"/>
            <a:chOff x="0" y="0"/>
            <a:chExt cx="731520" cy="548640"/>
          </a:xfrm>
        </p:grpSpPr>
        <p:sp>
          <p:nvSpPr>
            <p:cNvPr name="Freeform 82" id="8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83" id="83"/>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6</a:t>
              </a:r>
            </a:p>
          </p:txBody>
        </p:sp>
      </p:grpSp>
      <p:grpSp>
        <p:nvGrpSpPr>
          <p:cNvPr name="Group 84" id="84"/>
          <p:cNvGrpSpPr/>
          <p:nvPr/>
        </p:nvGrpSpPr>
        <p:grpSpPr>
          <a:xfrm rot="0">
            <a:off x="1322070" y="7243191"/>
            <a:ext cx="6720840" cy="891540"/>
            <a:chOff x="0" y="0"/>
            <a:chExt cx="8961120" cy="1188720"/>
          </a:xfrm>
        </p:grpSpPr>
        <p:sp>
          <p:nvSpPr>
            <p:cNvPr name="Freeform 85" id="85"/>
            <p:cNvSpPr/>
            <p:nvPr/>
          </p:nvSpPr>
          <p:spPr>
            <a:xfrm flipH="false" flipV="false" rot="0">
              <a:off x="0" y="0"/>
              <a:ext cx="8961120" cy="1188720"/>
            </a:xfrm>
            <a:custGeom>
              <a:avLst/>
              <a:gdLst/>
              <a:ahLst/>
              <a:cxnLst/>
              <a:rect r="r" b="b" t="t" l="l"/>
              <a:pathLst>
                <a:path h="1188720" w="8961120">
                  <a:moveTo>
                    <a:pt x="0" y="109728"/>
                  </a:moveTo>
                  <a:cubicBezTo>
                    <a:pt x="0" y="49149"/>
                    <a:pt x="49149" y="0"/>
                    <a:pt x="109728" y="0"/>
                  </a:cubicBezTo>
                  <a:lnTo>
                    <a:pt x="8851392" y="0"/>
                  </a:lnTo>
                  <a:cubicBezTo>
                    <a:pt x="8911972" y="0"/>
                    <a:pt x="8961120" y="49149"/>
                    <a:pt x="8961120" y="109728"/>
                  </a:cubicBezTo>
                  <a:lnTo>
                    <a:pt x="8961120" y="1078992"/>
                  </a:lnTo>
                  <a:cubicBezTo>
                    <a:pt x="8961120" y="1139571"/>
                    <a:pt x="8911972" y="1188720"/>
                    <a:pt x="8851392" y="1188720"/>
                  </a:cubicBezTo>
                  <a:lnTo>
                    <a:pt x="109728" y="1188720"/>
                  </a:lnTo>
                  <a:cubicBezTo>
                    <a:pt x="49149" y="1188720"/>
                    <a:pt x="0" y="1139571"/>
                    <a:pt x="0" y="1078992"/>
                  </a:cubicBezTo>
                  <a:close/>
                </a:path>
              </a:pathLst>
            </a:custGeom>
            <a:solidFill>
              <a:srgbClr val="FFFFFF"/>
            </a:solidFill>
          </p:spPr>
        </p:sp>
      </p:grpSp>
      <p:grpSp>
        <p:nvGrpSpPr>
          <p:cNvPr name="Group 86" id="86"/>
          <p:cNvGrpSpPr/>
          <p:nvPr/>
        </p:nvGrpSpPr>
        <p:grpSpPr>
          <a:xfrm rot="0">
            <a:off x="1596390" y="7462647"/>
            <a:ext cx="1577340" cy="452628"/>
            <a:chOff x="0" y="0"/>
            <a:chExt cx="2103120" cy="603504"/>
          </a:xfrm>
        </p:grpSpPr>
        <p:sp>
          <p:nvSpPr>
            <p:cNvPr name="Freeform 87" id="87"/>
            <p:cNvSpPr/>
            <p:nvPr/>
          </p:nvSpPr>
          <p:spPr>
            <a:xfrm flipH="false" flipV="false" rot="0">
              <a:off x="0" y="0"/>
              <a:ext cx="2103120" cy="603504"/>
            </a:xfrm>
            <a:custGeom>
              <a:avLst/>
              <a:gdLst/>
              <a:ahLst/>
              <a:cxnLst/>
              <a:rect r="r" b="b" t="t" l="l"/>
              <a:pathLst>
                <a:path h="603504" w="2103120">
                  <a:moveTo>
                    <a:pt x="0" y="292608"/>
                  </a:moveTo>
                  <a:cubicBezTo>
                    <a:pt x="0" y="131064"/>
                    <a:pt x="131064" y="0"/>
                    <a:pt x="292608" y="0"/>
                  </a:cubicBezTo>
                  <a:lnTo>
                    <a:pt x="1810512" y="0"/>
                  </a:lnTo>
                  <a:cubicBezTo>
                    <a:pt x="1972056" y="0"/>
                    <a:pt x="2103120" y="131064"/>
                    <a:pt x="2103120" y="292608"/>
                  </a:cubicBezTo>
                  <a:lnTo>
                    <a:pt x="2103120" y="310896"/>
                  </a:lnTo>
                  <a:cubicBezTo>
                    <a:pt x="2103120" y="472440"/>
                    <a:pt x="1972056" y="603504"/>
                    <a:pt x="1810512" y="603504"/>
                  </a:cubicBezTo>
                  <a:lnTo>
                    <a:pt x="292608" y="603504"/>
                  </a:lnTo>
                  <a:cubicBezTo>
                    <a:pt x="131064" y="603504"/>
                    <a:pt x="0" y="472440"/>
                    <a:pt x="0" y="310896"/>
                  </a:cubicBezTo>
                  <a:close/>
                </a:path>
              </a:pathLst>
            </a:custGeom>
            <a:solidFill>
              <a:srgbClr val="E4F5EC"/>
            </a:solidFill>
          </p:spPr>
        </p:sp>
      </p:grpSp>
      <p:grpSp>
        <p:nvGrpSpPr>
          <p:cNvPr name="Group 88" id="88"/>
          <p:cNvGrpSpPr/>
          <p:nvPr/>
        </p:nvGrpSpPr>
        <p:grpSpPr>
          <a:xfrm rot="0">
            <a:off x="1596390" y="7462647"/>
            <a:ext cx="1577340" cy="452628"/>
            <a:chOff x="0" y="0"/>
            <a:chExt cx="2103120" cy="603504"/>
          </a:xfrm>
        </p:grpSpPr>
        <p:sp>
          <p:nvSpPr>
            <p:cNvPr name="Freeform 89" id="89"/>
            <p:cNvSpPr/>
            <p:nvPr/>
          </p:nvSpPr>
          <p:spPr>
            <a:xfrm flipH="false" flipV="false" rot="0">
              <a:off x="0" y="0"/>
              <a:ext cx="2103120" cy="603504"/>
            </a:xfrm>
            <a:custGeom>
              <a:avLst/>
              <a:gdLst/>
              <a:ahLst/>
              <a:cxnLst/>
              <a:rect r="r" b="b" t="t" l="l"/>
              <a:pathLst>
                <a:path h="603504" w="2103120">
                  <a:moveTo>
                    <a:pt x="0" y="0"/>
                  </a:moveTo>
                  <a:lnTo>
                    <a:pt x="2103120" y="0"/>
                  </a:lnTo>
                  <a:lnTo>
                    <a:pt x="2103120" y="603504"/>
                  </a:lnTo>
                  <a:lnTo>
                    <a:pt x="0" y="603504"/>
                  </a:lnTo>
                  <a:close/>
                </a:path>
              </a:pathLst>
            </a:custGeom>
            <a:blipFill>
              <a:blip r:embed="rId3">
                <a:alphaModFix amt="0"/>
              </a:blip>
              <a:stretch>
                <a:fillRect l="0" t="-17902" r="0" b="-17902"/>
              </a:stretch>
            </a:blipFill>
          </p:spPr>
        </p:sp>
        <p:sp>
          <p:nvSpPr>
            <p:cNvPr name="TextBox 90" id="90"/>
            <p:cNvSpPr txBox="true"/>
            <p:nvPr/>
          </p:nvSpPr>
          <p:spPr>
            <a:xfrm>
              <a:off x="0" y="-28575"/>
              <a:ext cx="2103120" cy="632079"/>
            </a:xfrm>
            <a:prstGeom prst="rect">
              <a:avLst/>
            </a:prstGeom>
          </p:spPr>
          <p:txBody>
            <a:bodyPr anchor="ctr" rtlCol="false" tIns="0" lIns="0" bIns="0" rIns="0"/>
            <a:lstStyle/>
            <a:p>
              <a:pPr algn="ctr">
                <a:lnSpc>
                  <a:spcPts val="2220"/>
                </a:lnSpc>
              </a:pPr>
              <a:r>
                <a:rPr lang="en-US" sz="1850" b="true">
                  <a:solidFill>
                    <a:srgbClr val="1F8A55"/>
                  </a:solidFill>
                  <a:latin typeface="Arimo Bold"/>
                  <a:ea typeface="Arimo Bold"/>
                  <a:cs typeface="Arimo Bold"/>
                  <a:sym typeface="Arimo Bold"/>
                </a:rPr>
                <a:t>DONE</a:t>
              </a:r>
            </a:p>
          </p:txBody>
        </p:sp>
      </p:grpSp>
      <p:grpSp>
        <p:nvGrpSpPr>
          <p:cNvPr name="Group 91" id="91"/>
          <p:cNvGrpSpPr/>
          <p:nvPr/>
        </p:nvGrpSpPr>
        <p:grpSpPr>
          <a:xfrm rot="0">
            <a:off x="3585210" y="7210044"/>
            <a:ext cx="4457700" cy="891540"/>
            <a:chOff x="0" y="0"/>
            <a:chExt cx="5943600" cy="1188720"/>
          </a:xfrm>
        </p:grpSpPr>
        <p:sp>
          <p:nvSpPr>
            <p:cNvPr name="Freeform 92" id="92"/>
            <p:cNvSpPr/>
            <p:nvPr/>
          </p:nvSpPr>
          <p:spPr>
            <a:xfrm flipH="false" flipV="false" rot="0">
              <a:off x="0" y="0"/>
              <a:ext cx="5943600" cy="1188720"/>
            </a:xfrm>
            <a:custGeom>
              <a:avLst/>
              <a:gdLst/>
              <a:ahLst/>
              <a:cxnLst/>
              <a:rect r="r" b="b" t="t" l="l"/>
              <a:pathLst>
                <a:path h="1188720" w="5943600">
                  <a:moveTo>
                    <a:pt x="0" y="0"/>
                  </a:moveTo>
                  <a:lnTo>
                    <a:pt x="5943600" y="0"/>
                  </a:lnTo>
                  <a:lnTo>
                    <a:pt x="5943600" y="1188720"/>
                  </a:lnTo>
                  <a:lnTo>
                    <a:pt x="0" y="1188720"/>
                  </a:lnTo>
                  <a:close/>
                </a:path>
              </a:pathLst>
            </a:custGeom>
            <a:blipFill>
              <a:blip r:embed="rId3">
                <a:alphaModFix amt="0"/>
              </a:blip>
              <a:stretch>
                <a:fillRect l="0" t="-47425" r="0" b="-47425"/>
              </a:stretch>
            </a:blipFill>
          </p:spPr>
        </p:sp>
        <p:sp>
          <p:nvSpPr>
            <p:cNvPr name="TextBox 93" id="93"/>
            <p:cNvSpPr txBox="true"/>
            <p:nvPr/>
          </p:nvSpPr>
          <p:spPr>
            <a:xfrm>
              <a:off x="0" y="-19050"/>
              <a:ext cx="5943600" cy="1207770"/>
            </a:xfrm>
            <a:prstGeom prst="rect">
              <a:avLst/>
            </a:prstGeom>
          </p:spPr>
          <p:txBody>
            <a:bodyPr anchor="ctr" rtlCol="false" tIns="0" lIns="0" bIns="0" rIns="0"/>
            <a:lstStyle/>
            <a:p>
              <a:pPr algn="l">
                <a:lnSpc>
                  <a:spcPts val="3419"/>
                </a:lnSpc>
              </a:pPr>
              <a:r>
                <a:rPr lang="en-US" sz="2849">
                  <a:solidFill>
                    <a:srgbClr val="1B1B2F"/>
                  </a:solidFill>
                  <a:latin typeface="Arimo"/>
                  <a:ea typeface="Arimo"/>
                  <a:cs typeface="Arimo"/>
                  <a:sym typeface="Arimo"/>
                </a:rPr>
                <a:t>Immunization Records</a:t>
              </a:r>
            </a:p>
          </p:txBody>
        </p:sp>
      </p:grpSp>
      <p:grpSp>
        <p:nvGrpSpPr>
          <p:cNvPr name="Group 94" id="94"/>
          <p:cNvGrpSpPr/>
          <p:nvPr/>
        </p:nvGrpSpPr>
        <p:grpSpPr>
          <a:xfrm rot="0">
            <a:off x="1371600" y="8396478"/>
            <a:ext cx="6720840" cy="891540"/>
            <a:chOff x="0" y="0"/>
            <a:chExt cx="8961120" cy="1188720"/>
          </a:xfrm>
        </p:grpSpPr>
        <p:sp>
          <p:nvSpPr>
            <p:cNvPr name="Freeform 95" id="95"/>
            <p:cNvSpPr/>
            <p:nvPr/>
          </p:nvSpPr>
          <p:spPr>
            <a:xfrm flipH="false" flipV="false" rot="0">
              <a:off x="0" y="0"/>
              <a:ext cx="8961120" cy="1188720"/>
            </a:xfrm>
            <a:custGeom>
              <a:avLst/>
              <a:gdLst/>
              <a:ahLst/>
              <a:cxnLst/>
              <a:rect r="r" b="b" t="t" l="l"/>
              <a:pathLst>
                <a:path h="1188720" w="8961120">
                  <a:moveTo>
                    <a:pt x="0" y="109728"/>
                  </a:moveTo>
                  <a:cubicBezTo>
                    <a:pt x="0" y="49149"/>
                    <a:pt x="49149" y="0"/>
                    <a:pt x="109728" y="0"/>
                  </a:cubicBezTo>
                  <a:lnTo>
                    <a:pt x="8851392" y="0"/>
                  </a:lnTo>
                  <a:cubicBezTo>
                    <a:pt x="8911972" y="0"/>
                    <a:pt x="8961120" y="49149"/>
                    <a:pt x="8961120" y="109728"/>
                  </a:cubicBezTo>
                  <a:lnTo>
                    <a:pt x="8961120" y="1078992"/>
                  </a:lnTo>
                  <a:cubicBezTo>
                    <a:pt x="8961120" y="1139571"/>
                    <a:pt x="8911972" y="1188720"/>
                    <a:pt x="8851392" y="1188720"/>
                  </a:cubicBezTo>
                  <a:lnTo>
                    <a:pt x="109728" y="1188720"/>
                  </a:lnTo>
                  <a:cubicBezTo>
                    <a:pt x="49149" y="1188720"/>
                    <a:pt x="0" y="1139571"/>
                    <a:pt x="0" y="1078992"/>
                  </a:cubicBezTo>
                  <a:close/>
                </a:path>
              </a:pathLst>
            </a:custGeom>
            <a:solidFill>
              <a:srgbClr val="FFFFFF"/>
            </a:solidFill>
          </p:spPr>
        </p:sp>
      </p:grpSp>
      <p:grpSp>
        <p:nvGrpSpPr>
          <p:cNvPr name="Group 96" id="96"/>
          <p:cNvGrpSpPr/>
          <p:nvPr/>
        </p:nvGrpSpPr>
        <p:grpSpPr>
          <a:xfrm rot="0">
            <a:off x="1645920" y="8615934"/>
            <a:ext cx="1577340" cy="452628"/>
            <a:chOff x="0" y="0"/>
            <a:chExt cx="2103120" cy="603504"/>
          </a:xfrm>
        </p:grpSpPr>
        <p:sp>
          <p:nvSpPr>
            <p:cNvPr name="Freeform 97" id="97"/>
            <p:cNvSpPr/>
            <p:nvPr/>
          </p:nvSpPr>
          <p:spPr>
            <a:xfrm flipH="false" flipV="false" rot="0">
              <a:off x="0" y="0"/>
              <a:ext cx="2103120" cy="603504"/>
            </a:xfrm>
            <a:custGeom>
              <a:avLst/>
              <a:gdLst/>
              <a:ahLst/>
              <a:cxnLst/>
              <a:rect r="r" b="b" t="t" l="l"/>
              <a:pathLst>
                <a:path h="603504" w="2103120">
                  <a:moveTo>
                    <a:pt x="0" y="292608"/>
                  </a:moveTo>
                  <a:cubicBezTo>
                    <a:pt x="0" y="131064"/>
                    <a:pt x="131064" y="0"/>
                    <a:pt x="292608" y="0"/>
                  </a:cubicBezTo>
                  <a:lnTo>
                    <a:pt x="1810512" y="0"/>
                  </a:lnTo>
                  <a:cubicBezTo>
                    <a:pt x="1972056" y="0"/>
                    <a:pt x="2103120" y="131064"/>
                    <a:pt x="2103120" y="292608"/>
                  </a:cubicBezTo>
                  <a:lnTo>
                    <a:pt x="2103120" y="310896"/>
                  </a:lnTo>
                  <a:cubicBezTo>
                    <a:pt x="2103120" y="472440"/>
                    <a:pt x="1972056" y="603504"/>
                    <a:pt x="1810512" y="603504"/>
                  </a:cubicBezTo>
                  <a:lnTo>
                    <a:pt x="292608" y="603504"/>
                  </a:lnTo>
                  <a:cubicBezTo>
                    <a:pt x="131064" y="603504"/>
                    <a:pt x="0" y="472440"/>
                    <a:pt x="0" y="310896"/>
                  </a:cubicBezTo>
                  <a:close/>
                </a:path>
              </a:pathLst>
            </a:custGeom>
            <a:solidFill>
              <a:srgbClr val="E4F5EC"/>
            </a:solidFill>
          </p:spPr>
        </p:sp>
      </p:grpSp>
      <p:grpSp>
        <p:nvGrpSpPr>
          <p:cNvPr name="Group 98" id="98"/>
          <p:cNvGrpSpPr/>
          <p:nvPr/>
        </p:nvGrpSpPr>
        <p:grpSpPr>
          <a:xfrm rot="0">
            <a:off x="1645920" y="8615934"/>
            <a:ext cx="1577340" cy="452628"/>
            <a:chOff x="0" y="0"/>
            <a:chExt cx="2103120" cy="603504"/>
          </a:xfrm>
        </p:grpSpPr>
        <p:sp>
          <p:nvSpPr>
            <p:cNvPr name="Freeform 99" id="99"/>
            <p:cNvSpPr/>
            <p:nvPr/>
          </p:nvSpPr>
          <p:spPr>
            <a:xfrm flipH="false" flipV="false" rot="0">
              <a:off x="0" y="0"/>
              <a:ext cx="2103120" cy="603504"/>
            </a:xfrm>
            <a:custGeom>
              <a:avLst/>
              <a:gdLst/>
              <a:ahLst/>
              <a:cxnLst/>
              <a:rect r="r" b="b" t="t" l="l"/>
              <a:pathLst>
                <a:path h="603504" w="2103120">
                  <a:moveTo>
                    <a:pt x="0" y="0"/>
                  </a:moveTo>
                  <a:lnTo>
                    <a:pt x="2103120" y="0"/>
                  </a:lnTo>
                  <a:lnTo>
                    <a:pt x="2103120" y="603504"/>
                  </a:lnTo>
                  <a:lnTo>
                    <a:pt x="0" y="603504"/>
                  </a:lnTo>
                  <a:close/>
                </a:path>
              </a:pathLst>
            </a:custGeom>
            <a:blipFill>
              <a:blip r:embed="rId3">
                <a:alphaModFix amt="0"/>
              </a:blip>
              <a:stretch>
                <a:fillRect l="0" t="-17902" r="0" b="-17902"/>
              </a:stretch>
            </a:blipFill>
          </p:spPr>
        </p:sp>
        <p:sp>
          <p:nvSpPr>
            <p:cNvPr name="TextBox 100" id="100"/>
            <p:cNvSpPr txBox="true"/>
            <p:nvPr/>
          </p:nvSpPr>
          <p:spPr>
            <a:xfrm>
              <a:off x="0" y="-28575"/>
              <a:ext cx="2103120" cy="632079"/>
            </a:xfrm>
            <a:prstGeom prst="rect">
              <a:avLst/>
            </a:prstGeom>
          </p:spPr>
          <p:txBody>
            <a:bodyPr anchor="ctr" rtlCol="false" tIns="0" lIns="0" bIns="0" rIns="0"/>
            <a:lstStyle/>
            <a:p>
              <a:pPr algn="ctr">
                <a:lnSpc>
                  <a:spcPts val="2220"/>
                </a:lnSpc>
              </a:pPr>
              <a:r>
                <a:rPr lang="en-US" sz="1850" b="true">
                  <a:solidFill>
                    <a:srgbClr val="1F8A55"/>
                  </a:solidFill>
                  <a:latin typeface="Arimo Bold"/>
                  <a:ea typeface="Arimo Bold"/>
                  <a:cs typeface="Arimo Bold"/>
                  <a:sym typeface="Arimo Bold"/>
                </a:rPr>
                <a:t>DONE</a:t>
              </a:r>
            </a:p>
          </p:txBody>
        </p:sp>
      </p:grpSp>
      <p:grpSp>
        <p:nvGrpSpPr>
          <p:cNvPr name="Group 101" id="101"/>
          <p:cNvGrpSpPr/>
          <p:nvPr/>
        </p:nvGrpSpPr>
        <p:grpSpPr>
          <a:xfrm rot="0">
            <a:off x="3634740" y="8363331"/>
            <a:ext cx="4457700" cy="891540"/>
            <a:chOff x="0" y="0"/>
            <a:chExt cx="5943600" cy="1188720"/>
          </a:xfrm>
        </p:grpSpPr>
        <p:sp>
          <p:nvSpPr>
            <p:cNvPr name="Freeform 102" id="102"/>
            <p:cNvSpPr/>
            <p:nvPr/>
          </p:nvSpPr>
          <p:spPr>
            <a:xfrm flipH="false" flipV="false" rot="0">
              <a:off x="0" y="0"/>
              <a:ext cx="5943600" cy="1188720"/>
            </a:xfrm>
            <a:custGeom>
              <a:avLst/>
              <a:gdLst/>
              <a:ahLst/>
              <a:cxnLst/>
              <a:rect r="r" b="b" t="t" l="l"/>
              <a:pathLst>
                <a:path h="1188720" w="5943600">
                  <a:moveTo>
                    <a:pt x="0" y="0"/>
                  </a:moveTo>
                  <a:lnTo>
                    <a:pt x="5943600" y="0"/>
                  </a:lnTo>
                  <a:lnTo>
                    <a:pt x="5943600" y="1188720"/>
                  </a:lnTo>
                  <a:lnTo>
                    <a:pt x="0" y="1188720"/>
                  </a:lnTo>
                  <a:close/>
                </a:path>
              </a:pathLst>
            </a:custGeom>
            <a:blipFill>
              <a:blip r:embed="rId3">
                <a:alphaModFix amt="0"/>
              </a:blip>
              <a:stretch>
                <a:fillRect l="0" t="-47425" r="0" b="-47425"/>
              </a:stretch>
            </a:blipFill>
          </p:spPr>
        </p:sp>
        <p:sp>
          <p:nvSpPr>
            <p:cNvPr name="TextBox 103" id="103"/>
            <p:cNvSpPr txBox="true"/>
            <p:nvPr/>
          </p:nvSpPr>
          <p:spPr>
            <a:xfrm>
              <a:off x="0" y="-19050"/>
              <a:ext cx="5943600" cy="1207770"/>
            </a:xfrm>
            <a:prstGeom prst="rect">
              <a:avLst/>
            </a:prstGeom>
          </p:spPr>
          <p:txBody>
            <a:bodyPr anchor="ctr" rtlCol="false" tIns="0" lIns="0" bIns="0" rIns="0"/>
            <a:lstStyle/>
            <a:p>
              <a:pPr algn="l">
                <a:lnSpc>
                  <a:spcPts val="3419"/>
                </a:lnSpc>
              </a:pPr>
              <a:r>
                <a:rPr lang="en-US" sz="2849">
                  <a:solidFill>
                    <a:srgbClr val="1B1B2F"/>
                  </a:solidFill>
                  <a:latin typeface="Arimo"/>
                  <a:ea typeface="Arimo"/>
                  <a:cs typeface="Arimo"/>
                  <a:sym typeface="Arimo"/>
                </a:rPr>
                <a:t>ML Integration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PROGRESS</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Completed Modules</a:t>
              </a:r>
            </a:p>
          </p:txBody>
        </p:sp>
      </p:grpSp>
      <p:grpSp>
        <p:nvGrpSpPr>
          <p:cNvPr name="Group 8" id="8"/>
          <p:cNvGrpSpPr/>
          <p:nvPr/>
        </p:nvGrpSpPr>
        <p:grpSpPr>
          <a:xfrm rot="0">
            <a:off x="822960" y="2674620"/>
            <a:ext cx="5006340" cy="4526280"/>
            <a:chOff x="0" y="0"/>
            <a:chExt cx="6675120" cy="6035040"/>
          </a:xfrm>
        </p:grpSpPr>
        <p:sp>
          <p:nvSpPr>
            <p:cNvPr name="Freeform 9" id="9"/>
            <p:cNvSpPr/>
            <p:nvPr/>
          </p:nvSpPr>
          <p:spPr>
            <a:xfrm flipH="false" flipV="false" rot="0">
              <a:off x="0" y="0"/>
              <a:ext cx="6675120" cy="6035040"/>
            </a:xfrm>
            <a:custGeom>
              <a:avLst/>
              <a:gdLst/>
              <a:ahLst/>
              <a:cxnLst/>
              <a:rect r="r" b="b" t="t" l="l"/>
              <a:pathLst>
                <a:path h="6035040" w="6675120">
                  <a:moveTo>
                    <a:pt x="0" y="164592"/>
                  </a:moveTo>
                  <a:cubicBezTo>
                    <a:pt x="0" y="73660"/>
                    <a:pt x="73660" y="0"/>
                    <a:pt x="164592" y="0"/>
                  </a:cubicBezTo>
                  <a:lnTo>
                    <a:pt x="6510528" y="0"/>
                  </a:lnTo>
                  <a:cubicBezTo>
                    <a:pt x="6601460" y="0"/>
                    <a:pt x="6675120" y="73660"/>
                    <a:pt x="6675120" y="164592"/>
                  </a:cubicBezTo>
                  <a:lnTo>
                    <a:pt x="6675120" y="5870448"/>
                  </a:lnTo>
                  <a:cubicBezTo>
                    <a:pt x="6675120" y="5961380"/>
                    <a:pt x="6601460" y="6035040"/>
                    <a:pt x="6510528" y="6035040"/>
                  </a:cubicBezTo>
                  <a:lnTo>
                    <a:pt x="164592" y="6035040"/>
                  </a:lnTo>
                  <a:cubicBezTo>
                    <a:pt x="73660" y="6035040"/>
                    <a:pt x="0" y="5961380"/>
                    <a:pt x="0" y="5870448"/>
                  </a:cubicBezTo>
                  <a:close/>
                </a:path>
              </a:pathLst>
            </a:custGeom>
            <a:solidFill>
              <a:srgbClr val="F3F6FD"/>
            </a:solidFill>
          </p:spPr>
        </p:sp>
      </p:grpSp>
      <p:grpSp>
        <p:nvGrpSpPr>
          <p:cNvPr name="Group 10" id="10"/>
          <p:cNvGrpSpPr/>
          <p:nvPr/>
        </p:nvGrpSpPr>
        <p:grpSpPr>
          <a:xfrm rot="0">
            <a:off x="1234440" y="3086100"/>
            <a:ext cx="1234440" cy="438912"/>
            <a:chOff x="0" y="0"/>
            <a:chExt cx="1645920" cy="585216"/>
          </a:xfrm>
        </p:grpSpPr>
        <p:sp>
          <p:nvSpPr>
            <p:cNvPr name="Freeform 11" id="11"/>
            <p:cNvSpPr/>
            <p:nvPr/>
          </p:nvSpPr>
          <p:spPr>
            <a:xfrm flipH="false" flipV="false" rot="0">
              <a:off x="0" y="0"/>
              <a:ext cx="1645920" cy="585216"/>
            </a:xfrm>
            <a:custGeom>
              <a:avLst/>
              <a:gdLst/>
              <a:ahLst/>
              <a:cxnLst/>
              <a:rect r="r" b="b" t="t" l="l"/>
              <a:pathLst>
                <a:path h="585216" w="1645920">
                  <a:moveTo>
                    <a:pt x="0" y="292608"/>
                  </a:moveTo>
                  <a:cubicBezTo>
                    <a:pt x="0" y="131064"/>
                    <a:pt x="131064" y="0"/>
                    <a:pt x="292608" y="0"/>
                  </a:cubicBezTo>
                  <a:lnTo>
                    <a:pt x="1353312" y="0"/>
                  </a:lnTo>
                  <a:cubicBezTo>
                    <a:pt x="1514856" y="0"/>
                    <a:pt x="1645920" y="131064"/>
                    <a:pt x="1645920" y="292608"/>
                  </a:cubicBezTo>
                  <a:cubicBezTo>
                    <a:pt x="1645920" y="454152"/>
                    <a:pt x="1514856" y="585216"/>
                    <a:pt x="1353312" y="585216"/>
                  </a:cubicBezTo>
                  <a:lnTo>
                    <a:pt x="292608" y="585216"/>
                  </a:lnTo>
                  <a:cubicBezTo>
                    <a:pt x="131064" y="585216"/>
                    <a:pt x="0" y="454152"/>
                    <a:pt x="0" y="292608"/>
                  </a:cubicBezTo>
                  <a:close/>
                </a:path>
              </a:pathLst>
            </a:custGeom>
            <a:solidFill>
              <a:srgbClr val="E4F5EC"/>
            </a:solidFill>
          </p:spPr>
        </p:sp>
      </p:grpSp>
      <p:grpSp>
        <p:nvGrpSpPr>
          <p:cNvPr name="Group 12" id="12"/>
          <p:cNvGrpSpPr/>
          <p:nvPr/>
        </p:nvGrpSpPr>
        <p:grpSpPr>
          <a:xfrm rot="0">
            <a:off x="1234440" y="3086100"/>
            <a:ext cx="1234440" cy="438912"/>
            <a:chOff x="0" y="0"/>
            <a:chExt cx="1645920" cy="585216"/>
          </a:xfrm>
        </p:grpSpPr>
        <p:sp>
          <p:nvSpPr>
            <p:cNvPr name="Freeform 13" id="13"/>
            <p:cNvSpPr/>
            <p:nvPr/>
          </p:nvSpPr>
          <p:spPr>
            <a:xfrm flipH="false" flipV="false" rot="0">
              <a:off x="0" y="0"/>
              <a:ext cx="1645920" cy="585216"/>
            </a:xfrm>
            <a:custGeom>
              <a:avLst/>
              <a:gdLst/>
              <a:ahLst/>
              <a:cxnLst/>
              <a:rect r="r" b="b" t="t" l="l"/>
              <a:pathLst>
                <a:path h="585216" w="1645920">
                  <a:moveTo>
                    <a:pt x="0" y="0"/>
                  </a:moveTo>
                  <a:lnTo>
                    <a:pt x="1645920" y="0"/>
                  </a:lnTo>
                  <a:lnTo>
                    <a:pt x="1645920" y="585216"/>
                  </a:lnTo>
                  <a:lnTo>
                    <a:pt x="0" y="585216"/>
                  </a:lnTo>
                  <a:close/>
                </a:path>
              </a:pathLst>
            </a:custGeom>
            <a:blipFill>
              <a:blip r:embed="rId3">
                <a:alphaModFix amt="0"/>
              </a:blip>
              <a:stretch>
                <a:fillRect l="0" t="-4801" r="0" b="-4801"/>
              </a:stretch>
            </a:blipFill>
          </p:spPr>
        </p:sp>
        <p:sp>
          <p:nvSpPr>
            <p:cNvPr name="TextBox 14" id="14"/>
            <p:cNvSpPr txBox="true"/>
            <p:nvPr/>
          </p:nvSpPr>
          <p:spPr>
            <a:xfrm>
              <a:off x="0" y="-28575"/>
              <a:ext cx="1645920" cy="613791"/>
            </a:xfrm>
            <a:prstGeom prst="rect">
              <a:avLst/>
            </a:prstGeom>
          </p:spPr>
          <p:txBody>
            <a:bodyPr anchor="ctr" rtlCol="false" tIns="0" lIns="0" bIns="0" rIns="0"/>
            <a:lstStyle/>
            <a:p>
              <a:pPr algn="ctr">
                <a:lnSpc>
                  <a:spcPts val="2219"/>
                </a:lnSpc>
              </a:pPr>
              <a:r>
                <a:rPr lang="en-US" sz="1849" b="true">
                  <a:solidFill>
                    <a:srgbClr val="1F8A55"/>
                  </a:solidFill>
                  <a:latin typeface="Arimo Bold"/>
                  <a:ea typeface="Arimo Bold"/>
                  <a:cs typeface="Arimo Bold"/>
                  <a:sym typeface="Arimo Bold"/>
                </a:rPr>
                <a:t>DONE</a:t>
              </a:r>
            </a:p>
          </p:txBody>
        </p:sp>
      </p:grpSp>
      <p:grpSp>
        <p:nvGrpSpPr>
          <p:cNvPr name="Group 15" id="15"/>
          <p:cNvGrpSpPr/>
          <p:nvPr/>
        </p:nvGrpSpPr>
        <p:grpSpPr>
          <a:xfrm rot="0">
            <a:off x="1234440" y="3032195"/>
            <a:ext cx="4310061" cy="2049214"/>
            <a:chOff x="0" y="0"/>
            <a:chExt cx="5746748" cy="2732285"/>
          </a:xfrm>
        </p:grpSpPr>
        <p:sp>
          <p:nvSpPr>
            <p:cNvPr name="Freeform 16" id="16"/>
            <p:cNvSpPr/>
            <p:nvPr/>
          </p:nvSpPr>
          <p:spPr>
            <a:xfrm flipH="false" flipV="false" rot="0">
              <a:off x="0" y="0"/>
              <a:ext cx="5746748" cy="2732285"/>
            </a:xfrm>
            <a:custGeom>
              <a:avLst/>
              <a:gdLst/>
              <a:ahLst/>
              <a:cxnLst/>
              <a:rect r="r" b="b" t="t" l="l"/>
              <a:pathLst>
                <a:path h="2732285" w="5746748">
                  <a:moveTo>
                    <a:pt x="0" y="0"/>
                  </a:moveTo>
                  <a:lnTo>
                    <a:pt x="5746748" y="0"/>
                  </a:lnTo>
                  <a:lnTo>
                    <a:pt x="5746748" y="2732285"/>
                  </a:lnTo>
                  <a:lnTo>
                    <a:pt x="0" y="2732285"/>
                  </a:lnTo>
                  <a:close/>
                </a:path>
              </a:pathLst>
            </a:custGeom>
            <a:blipFill>
              <a:blip r:embed="rId3">
                <a:alphaModFix amt="0"/>
              </a:blip>
              <a:stretch>
                <a:fillRect l="0" t="-16351" r="2939" b="36795"/>
              </a:stretch>
            </a:blipFill>
          </p:spPr>
        </p:sp>
        <p:sp>
          <p:nvSpPr>
            <p:cNvPr name="TextBox 17" id="17"/>
            <p:cNvSpPr txBox="true"/>
            <p:nvPr/>
          </p:nvSpPr>
          <p:spPr>
            <a:xfrm>
              <a:off x="0" y="-19050"/>
              <a:ext cx="5746748" cy="2751335"/>
            </a:xfrm>
            <a:prstGeom prst="rect">
              <a:avLst/>
            </a:prstGeom>
          </p:spPr>
          <p:txBody>
            <a:bodyPr anchor="ctr" rtlCol="false" tIns="0" lIns="0" bIns="0" rIns="0"/>
            <a:lstStyle/>
            <a:p>
              <a:pPr algn="l">
                <a:lnSpc>
                  <a:spcPts val="3499"/>
                </a:lnSpc>
              </a:pPr>
              <a:r>
                <a:rPr lang="en-US" sz="2799" b="true">
                  <a:solidFill>
                    <a:srgbClr val="1E2761"/>
                  </a:solidFill>
                  <a:latin typeface="Cambria Bold"/>
                  <a:ea typeface="Cambria Bold"/>
                  <a:cs typeface="Cambria Bold"/>
                  <a:sym typeface="Cambria Bold"/>
                </a:rPr>
                <a:t>Appointment Booking</a:t>
              </a:r>
            </a:p>
          </p:txBody>
        </p:sp>
      </p:grpSp>
      <p:grpSp>
        <p:nvGrpSpPr>
          <p:cNvPr name="Group 18" id="18"/>
          <p:cNvGrpSpPr/>
          <p:nvPr/>
        </p:nvGrpSpPr>
        <p:grpSpPr>
          <a:xfrm rot="0">
            <a:off x="1234440" y="4525137"/>
            <a:ext cx="4183380" cy="3088745"/>
            <a:chOff x="0" y="0"/>
            <a:chExt cx="5577840" cy="4118326"/>
          </a:xfrm>
        </p:grpSpPr>
        <p:sp>
          <p:nvSpPr>
            <p:cNvPr name="Freeform 19" id="19"/>
            <p:cNvSpPr/>
            <p:nvPr/>
          </p:nvSpPr>
          <p:spPr>
            <a:xfrm flipH="false" flipV="false" rot="0">
              <a:off x="0" y="0"/>
              <a:ext cx="5577840" cy="4118326"/>
            </a:xfrm>
            <a:custGeom>
              <a:avLst/>
              <a:gdLst/>
              <a:ahLst/>
              <a:cxnLst/>
              <a:rect r="r" b="b" t="t" l="l"/>
              <a:pathLst>
                <a:path h="4118326" w="5577840">
                  <a:moveTo>
                    <a:pt x="0" y="0"/>
                  </a:moveTo>
                  <a:lnTo>
                    <a:pt x="5577840" y="0"/>
                  </a:lnTo>
                  <a:lnTo>
                    <a:pt x="5577840" y="4118326"/>
                  </a:lnTo>
                  <a:lnTo>
                    <a:pt x="0" y="4118326"/>
                  </a:lnTo>
                  <a:close/>
                </a:path>
              </a:pathLst>
            </a:custGeom>
            <a:blipFill>
              <a:blip r:embed="rId3">
                <a:alphaModFix amt="0"/>
              </a:blip>
              <a:stretch>
                <a:fillRect l="-17306" t="0" r="-17306" b="28949"/>
              </a:stretch>
            </a:blipFill>
          </p:spPr>
        </p:sp>
        <p:sp>
          <p:nvSpPr>
            <p:cNvPr name="TextBox 20" id="20"/>
            <p:cNvSpPr txBox="true"/>
            <p:nvPr/>
          </p:nvSpPr>
          <p:spPr>
            <a:xfrm>
              <a:off x="0" y="-76200"/>
              <a:ext cx="5577840" cy="4194526"/>
            </a:xfrm>
            <a:prstGeom prst="rect">
              <a:avLst/>
            </a:prstGeom>
          </p:spPr>
          <p:txBody>
            <a:bodyPr anchor="ctr" rtlCol="false" tIns="0" lIns="0" bIns="0" rIns="0"/>
            <a:lstStyle/>
            <a:p>
              <a:pPr algn="l">
                <a:lnSpc>
                  <a:spcPts val="3995"/>
                </a:lnSpc>
              </a:pPr>
              <a:r>
                <a:rPr lang="en-US" sz="2774">
                  <a:solidFill>
                    <a:srgbClr val="1B1B2F"/>
                  </a:solidFill>
                  <a:latin typeface="Arimo"/>
                  <a:ea typeface="Arimo"/>
                  <a:cs typeface="Arimo"/>
                  <a:sym typeface="Arimo"/>
                </a:rPr>
                <a:t>P</a:t>
              </a:r>
              <a:r>
                <a:rPr lang="en-US" sz="2774">
                  <a:solidFill>
                    <a:srgbClr val="1B1B2F"/>
                  </a:solidFill>
                  <a:latin typeface="Arimo"/>
                  <a:ea typeface="Arimo"/>
                  <a:cs typeface="Arimo"/>
                  <a:sym typeface="Arimo"/>
                </a:rPr>
                <a:t>atients search for nearby healthcare providers and book an appointment online by choosing doctor, date, time, and type.</a:t>
              </a:r>
            </a:p>
            <a:p>
              <a:pPr algn="l">
                <a:lnSpc>
                  <a:spcPts val="3995"/>
                </a:lnSpc>
              </a:pPr>
            </a:p>
          </p:txBody>
        </p:sp>
      </p:grpSp>
      <p:grpSp>
        <p:nvGrpSpPr>
          <p:cNvPr name="Group 21" id="21"/>
          <p:cNvGrpSpPr/>
          <p:nvPr/>
        </p:nvGrpSpPr>
        <p:grpSpPr>
          <a:xfrm rot="0">
            <a:off x="6309360" y="2674620"/>
            <a:ext cx="5006340" cy="4526280"/>
            <a:chOff x="0" y="0"/>
            <a:chExt cx="6675120" cy="6035040"/>
          </a:xfrm>
        </p:grpSpPr>
        <p:sp>
          <p:nvSpPr>
            <p:cNvPr name="Freeform 22" id="22"/>
            <p:cNvSpPr/>
            <p:nvPr/>
          </p:nvSpPr>
          <p:spPr>
            <a:xfrm flipH="false" flipV="false" rot="0">
              <a:off x="0" y="0"/>
              <a:ext cx="6675120" cy="6035040"/>
            </a:xfrm>
            <a:custGeom>
              <a:avLst/>
              <a:gdLst/>
              <a:ahLst/>
              <a:cxnLst/>
              <a:rect r="r" b="b" t="t" l="l"/>
              <a:pathLst>
                <a:path h="6035040" w="6675120">
                  <a:moveTo>
                    <a:pt x="0" y="164592"/>
                  </a:moveTo>
                  <a:cubicBezTo>
                    <a:pt x="0" y="73660"/>
                    <a:pt x="73660" y="0"/>
                    <a:pt x="164592" y="0"/>
                  </a:cubicBezTo>
                  <a:lnTo>
                    <a:pt x="6510528" y="0"/>
                  </a:lnTo>
                  <a:cubicBezTo>
                    <a:pt x="6601460" y="0"/>
                    <a:pt x="6675120" y="73660"/>
                    <a:pt x="6675120" y="164592"/>
                  </a:cubicBezTo>
                  <a:lnTo>
                    <a:pt x="6675120" y="5870448"/>
                  </a:lnTo>
                  <a:cubicBezTo>
                    <a:pt x="6675120" y="5961380"/>
                    <a:pt x="6601460" y="6035040"/>
                    <a:pt x="6510528" y="6035040"/>
                  </a:cubicBezTo>
                  <a:lnTo>
                    <a:pt x="164592" y="6035040"/>
                  </a:lnTo>
                  <a:cubicBezTo>
                    <a:pt x="73660" y="6035040"/>
                    <a:pt x="0" y="5961380"/>
                    <a:pt x="0" y="5870448"/>
                  </a:cubicBezTo>
                  <a:close/>
                </a:path>
              </a:pathLst>
            </a:custGeom>
            <a:solidFill>
              <a:srgbClr val="F3F6FD"/>
            </a:solidFill>
          </p:spPr>
        </p:sp>
      </p:grpSp>
      <p:grpSp>
        <p:nvGrpSpPr>
          <p:cNvPr name="Group 23" id="23"/>
          <p:cNvGrpSpPr/>
          <p:nvPr/>
        </p:nvGrpSpPr>
        <p:grpSpPr>
          <a:xfrm rot="0">
            <a:off x="6720840" y="3086100"/>
            <a:ext cx="1234440" cy="438912"/>
            <a:chOff x="0" y="0"/>
            <a:chExt cx="1645920" cy="585216"/>
          </a:xfrm>
        </p:grpSpPr>
        <p:sp>
          <p:nvSpPr>
            <p:cNvPr name="Freeform 24" id="24"/>
            <p:cNvSpPr/>
            <p:nvPr/>
          </p:nvSpPr>
          <p:spPr>
            <a:xfrm flipH="false" flipV="false" rot="0">
              <a:off x="0" y="0"/>
              <a:ext cx="1645920" cy="585216"/>
            </a:xfrm>
            <a:custGeom>
              <a:avLst/>
              <a:gdLst/>
              <a:ahLst/>
              <a:cxnLst/>
              <a:rect r="r" b="b" t="t" l="l"/>
              <a:pathLst>
                <a:path h="585216" w="1645920">
                  <a:moveTo>
                    <a:pt x="0" y="292608"/>
                  </a:moveTo>
                  <a:cubicBezTo>
                    <a:pt x="0" y="131064"/>
                    <a:pt x="131064" y="0"/>
                    <a:pt x="292608" y="0"/>
                  </a:cubicBezTo>
                  <a:lnTo>
                    <a:pt x="1353312" y="0"/>
                  </a:lnTo>
                  <a:cubicBezTo>
                    <a:pt x="1514856" y="0"/>
                    <a:pt x="1645920" y="131064"/>
                    <a:pt x="1645920" y="292608"/>
                  </a:cubicBezTo>
                  <a:cubicBezTo>
                    <a:pt x="1645920" y="454152"/>
                    <a:pt x="1514856" y="585216"/>
                    <a:pt x="1353312" y="585216"/>
                  </a:cubicBezTo>
                  <a:lnTo>
                    <a:pt x="292608" y="585216"/>
                  </a:lnTo>
                  <a:cubicBezTo>
                    <a:pt x="131064" y="585216"/>
                    <a:pt x="0" y="454152"/>
                    <a:pt x="0" y="292608"/>
                  </a:cubicBezTo>
                  <a:close/>
                </a:path>
              </a:pathLst>
            </a:custGeom>
            <a:solidFill>
              <a:srgbClr val="E4F5EC"/>
            </a:solidFill>
          </p:spPr>
        </p:sp>
      </p:grpSp>
      <p:grpSp>
        <p:nvGrpSpPr>
          <p:cNvPr name="Group 25" id="25"/>
          <p:cNvGrpSpPr/>
          <p:nvPr/>
        </p:nvGrpSpPr>
        <p:grpSpPr>
          <a:xfrm rot="0">
            <a:off x="6720840" y="3086100"/>
            <a:ext cx="1234440" cy="438912"/>
            <a:chOff x="0" y="0"/>
            <a:chExt cx="1645920" cy="585216"/>
          </a:xfrm>
        </p:grpSpPr>
        <p:sp>
          <p:nvSpPr>
            <p:cNvPr name="Freeform 26" id="26"/>
            <p:cNvSpPr/>
            <p:nvPr/>
          </p:nvSpPr>
          <p:spPr>
            <a:xfrm flipH="false" flipV="false" rot="0">
              <a:off x="0" y="0"/>
              <a:ext cx="1645920" cy="585216"/>
            </a:xfrm>
            <a:custGeom>
              <a:avLst/>
              <a:gdLst/>
              <a:ahLst/>
              <a:cxnLst/>
              <a:rect r="r" b="b" t="t" l="l"/>
              <a:pathLst>
                <a:path h="585216" w="1645920">
                  <a:moveTo>
                    <a:pt x="0" y="0"/>
                  </a:moveTo>
                  <a:lnTo>
                    <a:pt x="1645920" y="0"/>
                  </a:lnTo>
                  <a:lnTo>
                    <a:pt x="1645920" y="585216"/>
                  </a:lnTo>
                  <a:lnTo>
                    <a:pt x="0" y="585216"/>
                  </a:lnTo>
                  <a:close/>
                </a:path>
              </a:pathLst>
            </a:custGeom>
            <a:blipFill>
              <a:blip r:embed="rId3">
                <a:alphaModFix amt="0"/>
              </a:blip>
              <a:stretch>
                <a:fillRect l="0" t="-4801" r="0" b="-4801"/>
              </a:stretch>
            </a:blipFill>
          </p:spPr>
        </p:sp>
        <p:sp>
          <p:nvSpPr>
            <p:cNvPr name="TextBox 27" id="27"/>
            <p:cNvSpPr txBox="true"/>
            <p:nvPr/>
          </p:nvSpPr>
          <p:spPr>
            <a:xfrm>
              <a:off x="0" y="-28575"/>
              <a:ext cx="1645920" cy="613791"/>
            </a:xfrm>
            <a:prstGeom prst="rect">
              <a:avLst/>
            </a:prstGeom>
          </p:spPr>
          <p:txBody>
            <a:bodyPr anchor="ctr" rtlCol="false" tIns="0" lIns="0" bIns="0" rIns="0"/>
            <a:lstStyle/>
            <a:p>
              <a:pPr algn="ctr">
                <a:lnSpc>
                  <a:spcPts val="2220"/>
                </a:lnSpc>
              </a:pPr>
              <a:r>
                <a:rPr lang="en-US" sz="1850" b="true">
                  <a:solidFill>
                    <a:srgbClr val="1F8A55"/>
                  </a:solidFill>
                  <a:latin typeface="Arimo Bold"/>
                  <a:ea typeface="Arimo Bold"/>
                  <a:cs typeface="Arimo Bold"/>
                  <a:sym typeface="Arimo Bold"/>
                </a:rPr>
                <a:t>DONE</a:t>
              </a:r>
            </a:p>
          </p:txBody>
        </p:sp>
      </p:grpSp>
      <p:grpSp>
        <p:nvGrpSpPr>
          <p:cNvPr name="Group 28" id="28"/>
          <p:cNvGrpSpPr/>
          <p:nvPr/>
        </p:nvGrpSpPr>
        <p:grpSpPr>
          <a:xfrm rot="0">
            <a:off x="6633221" y="3032195"/>
            <a:ext cx="4770098" cy="2049214"/>
            <a:chOff x="0" y="0"/>
            <a:chExt cx="6360131" cy="2732285"/>
          </a:xfrm>
        </p:grpSpPr>
        <p:sp>
          <p:nvSpPr>
            <p:cNvPr name="Freeform 29" id="29"/>
            <p:cNvSpPr/>
            <p:nvPr/>
          </p:nvSpPr>
          <p:spPr>
            <a:xfrm flipH="false" flipV="false" rot="0">
              <a:off x="0" y="0"/>
              <a:ext cx="6360131" cy="2732285"/>
            </a:xfrm>
            <a:custGeom>
              <a:avLst/>
              <a:gdLst/>
              <a:ahLst/>
              <a:cxnLst/>
              <a:rect r="r" b="b" t="t" l="l"/>
              <a:pathLst>
                <a:path h="2732285" w="6360131">
                  <a:moveTo>
                    <a:pt x="0" y="0"/>
                  </a:moveTo>
                  <a:lnTo>
                    <a:pt x="6360131" y="0"/>
                  </a:lnTo>
                  <a:lnTo>
                    <a:pt x="6360131" y="2732285"/>
                  </a:lnTo>
                  <a:lnTo>
                    <a:pt x="0" y="2732285"/>
                  </a:lnTo>
                  <a:close/>
                </a:path>
              </a:pathLst>
            </a:custGeom>
            <a:blipFill>
              <a:blip r:embed="rId3">
                <a:alphaModFix amt="0"/>
              </a:blip>
              <a:stretch>
                <a:fillRect l="0" t="-16351" r="12299" b="36795"/>
              </a:stretch>
            </a:blipFill>
          </p:spPr>
        </p:sp>
        <p:sp>
          <p:nvSpPr>
            <p:cNvPr name="TextBox 30" id="30"/>
            <p:cNvSpPr txBox="true"/>
            <p:nvPr/>
          </p:nvSpPr>
          <p:spPr>
            <a:xfrm>
              <a:off x="0" y="-19050"/>
              <a:ext cx="6360131" cy="2751335"/>
            </a:xfrm>
            <a:prstGeom prst="rect">
              <a:avLst/>
            </a:prstGeom>
          </p:spPr>
          <p:txBody>
            <a:bodyPr anchor="ctr" rtlCol="false" tIns="0" lIns="0" bIns="0" rIns="0"/>
            <a:lstStyle/>
            <a:p>
              <a:pPr algn="l">
                <a:lnSpc>
                  <a:spcPts val="3499"/>
                </a:lnSpc>
              </a:pPr>
              <a:r>
                <a:rPr lang="en-US" sz="2799" b="true">
                  <a:solidFill>
                    <a:srgbClr val="1E2761"/>
                  </a:solidFill>
                  <a:latin typeface="Cambria Bold"/>
                  <a:ea typeface="Cambria Bold"/>
                  <a:cs typeface="Cambria Bold"/>
                  <a:sym typeface="Cambria Bold"/>
                </a:rPr>
                <a:t>Government ID Integration</a:t>
              </a:r>
            </a:p>
          </p:txBody>
        </p:sp>
      </p:grpSp>
      <p:grpSp>
        <p:nvGrpSpPr>
          <p:cNvPr name="Group 31" id="31"/>
          <p:cNvGrpSpPr/>
          <p:nvPr/>
        </p:nvGrpSpPr>
        <p:grpSpPr>
          <a:xfrm rot="0">
            <a:off x="6720840" y="4525137"/>
            <a:ext cx="4183380" cy="2583812"/>
            <a:chOff x="0" y="0"/>
            <a:chExt cx="5577840" cy="3445083"/>
          </a:xfrm>
        </p:grpSpPr>
        <p:sp>
          <p:nvSpPr>
            <p:cNvPr name="Freeform 32" id="32"/>
            <p:cNvSpPr/>
            <p:nvPr/>
          </p:nvSpPr>
          <p:spPr>
            <a:xfrm flipH="false" flipV="false" rot="0">
              <a:off x="0" y="0"/>
              <a:ext cx="5577840" cy="3445083"/>
            </a:xfrm>
            <a:custGeom>
              <a:avLst/>
              <a:gdLst/>
              <a:ahLst/>
              <a:cxnLst/>
              <a:rect r="r" b="b" t="t" l="l"/>
              <a:pathLst>
                <a:path h="3445083" w="5577840">
                  <a:moveTo>
                    <a:pt x="0" y="0"/>
                  </a:moveTo>
                  <a:lnTo>
                    <a:pt x="5577840" y="0"/>
                  </a:lnTo>
                  <a:lnTo>
                    <a:pt x="5577840" y="3445083"/>
                  </a:lnTo>
                  <a:lnTo>
                    <a:pt x="0" y="3445083"/>
                  </a:lnTo>
                  <a:close/>
                </a:path>
              </a:pathLst>
            </a:custGeom>
            <a:blipFill>
              <a:blip r:embed="rId3">
                <a:alphaModFix amt="0"/>
              </a:blip>
              <a:stretch>
                <a:fillRect l="-17306" t="0" r="-17306" b="15065"/>
              </a:stretch>
            </a:blipFill>
          </p:spPr>
        </p:sp>
        <p:sp>
          <p:nvSpPr>
            <p:cNvPr name="TextBox 33" id="33"/>
            <p:cNvSpPr txBox="true"/>
            <p:nvPr/>
          </p:nvSpPr>
          <p:spPr>
            <a:xfrm>
              <a:off x="0" y="-76200"/>
              <a:ext cx="5577840" cy="3521283"/>
            </a:xfrm>
            <a:prstGeom prst="rect">
              <a:avLst/>
            </a:prstGeom>
          </p:spPr>
          <p:txBody>
            <a:bodyPr anchor="ctr" rtlCol="false" tIns="0" lIns="0" bIns="0" rIns="0"/>
            <a:lstStyle/>
            <a:p>
              <a:pPr algn="l">
                <a:lnSpc>
                  <a:spcPts val="3988"/>
                </a:lnSpc>
              </a:pPr>
              <a:r>
                <a:rPr lang="en-US" sz="2769">
                  <a:solidFill>
                    <a:srgbClr val="1B1B2F"/>
                  </a:solidFill>
                  <a:latin typeface="Arimo"/>
                  <a:ea typeface="Arimo"/>
                  <a:cs typeface="Arimo"/>
                  <a:sym typeface="Arimo"/>
                </a:rPr>
                <a:t>Li</a:t>
              </a:r>
              <a:r>
                <a:rPr lang="en-US" sz="2769">
                  <a:solidFill>
                    <a:srgbClr val="1B1B2F"/>
                  </a:solidFill>
                  <a:latin typeface="Arimo"/>
                  <a:ea typeface="Arimo"/>
                  <a:cs typeface="Arimo"/>
                  <a:sym typeface="Arimo"/>
                </a:rPr>
                <a:t>nks a patient's antenatal, delivery, and immunization records to their existing government-issued ID.</a:t>
              </a:r>
            </a:p>
            <a:p>
              <a:pPr algn="l">
                <a:lnSpc>
                  <a:spcPts val="3988"/>
                </a:lnSpc>
              </a:pPr>
            </a:p>
          </p:txBody>
        </p:sp>
      </p:grpSp>
      <p:grpSp>
        <p:nvGrpSpPr>
          <p:cNvPr name="Group 34" id="34"/>
          <p:cNvGrpSpPr/>
          <p:nvPr/>
        </p:nvGrpSpPr>
        <p:grpSpPr>
          <a:xfrm rot="0">
            <a:off x="11795760" y="2674620"/>
            <a:ext cx="5006340" cy="4526280"/>
            <a:chOff x="0" y="0"/>
            <a:chExt cx="6675120" cy="6035040"/>
          </a:xfrm>
        </p:grpSpPr>
        <p:sp>
          <p:nvSpPr>
            <p:cNvPr name="Freeform 35" id="35"/>
            <p:cNvSpPr/>
            <p:nvPr/>
          </p:nvSpPr>
          <p:spPr>
            <a:xfrm flipH="false" flipV="false" rot="0">
              <a:off x="0" y="0"/>
              <a:ext cx="6675120" cy="6035040"/>
            </a:xfrm>
            <a:custGeom>
              <a:avLst/>
              <a:gdLst/>
              <a:ahLst/>
              <a:cxnLst/>
              <a:rect r="r" b="b" t="t" l="l"/>
              <a:pathLst>
                <a:path h="6035040" w="6675120">
                  <a:moveTo>
                    <a:pt x="0" y="164592"/>
                  </a:moveTo>
                  <a:cubicBezTo>
                    <a:pt x="0" y="73660"/>
                    <a:pt x="73660" y="0"/>
                    <a:pt x="164592" y="0"/>
                  </a:cubicBezTo>
                  <a:lnTo>
                    <a:pt x="6510528" y="0"/>
                  </a:lnTo>
                  <a:cubicBezTo>
                    <a:pt x="6601460" y="0"/>
                    <a:pt x="6675120" y="73660"/>
                    <a:pt x="6675120" y="164592"/>
                  </a:cubicBezTo>
                  <a:lnTo>
                    <a:pt x="6675120" y="5870448"/>
                  </a:lnTo>
                  <a:cubicBezTo>
                    <a:pt x="6675120" y="5961380"/>
                    <a:pt x="6601460" y="6035040"/>
                    <a:pt x="6510528" y="6035040"/>
                  </a:cubicBezTo>
                  <a:lnTo>
                    <a:pt x="164592" y="6035040"/>
                  </a:lnTo>
                  <a:cubicBezTo>
                    <a:pt x="73660" y="6035040"/>
                    <a:pt x="0" y="5961380"/>
                    <a:pt x="0" y="5870448"/>
                  </a:cubicBezTo>
                  <a:close/>
                </a:path>
              </a:pathLst>
            </a:custGeom>
            <a:solidFill>
              <a:srgbClr val="F3F6FD"/>
            </a:solidFill>
          </p:spPr>
        </p:sp>
      </p:grpSp>
      <p:grpSp>
        <p:nvGrpSpPr>
          <p:cNvPr name="Group 36" id="36"/>
          <p:cNvGrpSpPr/>
          <p:nvPr/>
        </p:nvGrpSpPr>
        <p:grpSpPr>
          <a:xfrm rot="0">
            <a:off x="12207240" y="3086100"/>
            <a:ext cx="1234440" cy="438912"/>
            <a:chOff x="0" y="0"/>
            <a:chExt cx="1645920" cy="585216"/>
          </a:xfrm>
        </p:grpSpPr>
        <p:sp>
          <p:nvSpPr>
            <p:cNvPr name="Freeform 37" id="37"/>
            <p:cNvSpPr/>
            <p:nvPr/>
          </p:nvSpPr>
          <p:spPr>
            <a:xfrm flipH="false" flipV="false" rot="0">
              <a:off x="0" y="0"/>
              <a:ext cx="1645920" cy="585216"/>
            </a:xfrm>
            <a:custGeom>
              <a:avLst/>
              <a:gdLst/>
              <a:ahLst/>
              <a:cxnLst/>
              <a:rect r="r" b="b" t="t" l="l"/>
              <a:pathLst>
                <a:path h="585216" w="1645920">
                  <a:moveTo>
                    <a:pt x="0" y="292608"/>
                  </a:moveTo>
                  <a:cubicBezTo>
                    <a:pt x="0" y="131064"/>
                    <a:pt x="131064" y="0"/>
                    <a:pt x="292608" y="0"/>
                  </a:cubicBezTo>
                  <a:lnTo>
                    <a:pt x="1353312" y="0"/>
                  </a:lnTo>
                  <a:cubicBezTo>
                    <a:pt x="1514856" y="0"/>
                    <a:pt x="1645920" y="131064"/>
                    <a:pt x="1645920" y="292608"/>
                  </a:cubicBezTo>
                  <a:cubicBezTo>
                    <a:pt x="1645920" y="454152"/>
                    <a:pt x="1514856" y="585216"/>
                    <a:pt x="1353312" y="585216"/>
                  </a:cubicBezTo>
                  <a:lnTo>
                    <a:pt x="292608" y="585216"/>
                  </a:lnTo>
                  <a:cubicBezTo>
                    <a:pt x="131064" y="585216"/>
                    <a:pt x="0" y="454152"/>
                    <a:pt x="0" y="292608"/>
                  </a:cubicBezTo>
                  <a:close/>
                </a:path>
              </a:pathLst>
            </a:custGeom>
            <a:solidFill>
              <a:srgbClr val="E4F5EC"/>
            </a:solidFill>
          </p:spPr>
        </p:sp>
      </p:grpSp>
      <p:grpSp>
        <p:nvGrpSpPr>
          <p:cNvPr name="Group 38" id="38"/>
          <p:cNvGrpSpPr/>
          <p:nvPr/>
        </p:nvGrpSpPr>
        <p:grpSpPr>
          <a:xfrm rot="0">
            <a:off x="12207240" y="3086100"/>
            <a:ext cx="1234440" cy="438912"/>
            <a:chOff x="0" y="0"/>
            <a:chExt cx="1645920" cy="585216"/>
          </a:xfrm>
        </p:grpSpPr>
        <p:sp>
          <p:nvSpPr>
            <p:cNvPr name="Freeform 39" id="39"/>
            <p:cNvSpPr/>
            <p:nvPr/>
          </p:nvSpPr>
          <p:spPr>
            <a:xfrm flipH="false" flipV="false" rot="0">
              <a:off x="0" y="0"/>
              <a:ext cx="1645920" cy="585216"/>
            </a:xfrm>
            <a:custGeom>
              <a:avLst/>
              <a:gdLst/>
              <a:ahLst/>
              <a:cxnLst/>
              <a:rect r="r" b="b" t="t" l="l"/>
              <a:pathLst>
                <a:path h="585216" w="1645920">
                  <a:moveTo>
                    <a:pt x="0" y="0"/>
                  </a:moveTo>
                  <a:lnTo>
                    <a:pt x="1645920" y="0"/>
                  </a:lnTo>
                  <a:lnTo>
                    <a:pt x="1645920" y="585216"/>
                  </a:lnTo>
                  <a:lnTo>
                    <a:pt x="0" y="585216"/>
                  </a:lnTo>
                  <a:close/>
                </a:path>
              </a:pathLst>
            </a:custGeom>
            <a:blipFill>
              <a:blip r:embed="rId3">
                <a:alphaModFix amt="0"/>
              </a:blip>
              <a:stretch>
                <a:fillRect l="0" t="-4801" r="0" b="-4801"/>
              </a:stretch>
            </a:blipFill>
          </p:spPr>
        </p:sp>
        <p:sp>
          <p:nvSpPr>
            <p:cNvPr name="TextBox 40" id="40"/>
            <p:cNvSpPr txBox="true"/>
            <p:nvPr/>
          </p:nvSpPr>
          <p:spPr>
            <a:xfrm>
              <a:off x="0" y="-28575"/>
              <a:ext cx="1645920" cy="613791"/>
            </a:xfrm>
            <a:prstGeom prst="rect">
              <a:avLst/>
            </a:prstGeom>
          </p:spPr>
          <p:txBody>
            <a:bodyPr anchor="ctr" rtlCol="false" tIns="0" lIns="0" bIns="0" rIns="0"/>
            <a:lstStyle/>
            <a:p>
              <a:pPr algn="ctr">
                <a:lnSpc>
                  <a:spcPts val="2220"/>
                </a:lnSpc>
              </a:pPr>
              <a:r>
                <a:rPr lang="en-US" sz="1850" b="true">
                  <a:solidFill>
                    <a:srgbClr val="1F8A55"/>
                  </a:solidFill>
                  <a:latin typeface="Arimo Bold"/>
                  <a:ea typeface="Arimo Bold"/>
                  <a:cs typeface="Arimo Bold"/>
                  <a:sym typeface="Arimo Bold"/>
                </a:rPr>
                <a:t>DONE</a:t>
              </a:r>
            </a:p>
          </p:txBody>
        </p:sp>
      </p:grpSp>
      <p:grpSp>
        <p:nvGrpSpPr>
          <p:cNvPr name="Group 41" id="41"/>
          <p:cNvGrpSpPr/>
          <p:nvPr/>
        </p:nvGrpSpPr>
        <p:grpSpPr>
          <a:xfrm rot="0">
            <a:off x="12207240" y="3032195"/>
            <a:ext cx="4500721" cy="2049214"/>
            <a:chOff x="0" y="0"/>
            <a:chExt cx="6000961" cy="2732285"/>
          </a:xfrm>
        </p:grpSpPr>
        <p:sp>
          <p:nvSpPr>
            <p:cNvPr name="Freeform 42" id="42"/>
            <p:cNvSpPr/>
            <p:nvPr/>
          </p:nvSpPr>
          <p:spPr>
            <a:xfrm flipH="false" flipV="false" rot="0">
              <a:off x="0" y="0"/>
              <a:ext cx="6000961" cy="2732285"/>
            </a:xfrm>
            <a:custGeom>
              <a:avLst/>
              <a:gdLst/>
              <a:ahLst/>
              <a:cxnLst/>
              <a:rect r="r" b="b" t="t" l="l"/>
              <a:pathLst>
                <a:path h="2732285" w="6000961">
                  <a:moveTo>
                    <a:pt x="0" y="0"/>
                  </a:moveTo>
                  <a:lnTo>
                    <a:pt x="6000961" y="0"/>
                  </a:lnTo>
                  <a:lnTo>
                    <a:pt x="6000961" y="2732285"/>
                  </a:lnTo>
                  <a:lnTo>
                    <a:pt x="0" y="2732285"/>
                  </a:lnTo>
                  <a:close/>
                </a:path>
              </a:pathLst>
            </a:custGeom>
            <a:blipFill>
              <a:blip r:embed="rId3">
                <a:alphaModFix amt="0"/>
              </a:blip>
              <a:stretch>
                <a:fillRect l="0" t="-16351" r="7050" b="36795"/>
              </a:stretch>
            </a:blipFill>
          </p:spPr>
        </p:sp>
        <p:sp>
          <p:nvSpPr>
            <p:cNvPr name="TextBox 43" id="43"/>
            <p:cNvSpPr txBox="true"/>
            <p:nvPr/>
          </p:nvSpPr>
          <p:spPr>
            <a:xfrm>
              <a:off x="0" y="-19050"/>
              <a:ext cx="6000961" cy="2751335"/>
            </a:xfrm>
            <a:prstGeom prst="rect">
              <a:avLst/>
            </a:prstGeom>
          </p:spPr>
          <p:txBody>
            <a:bodyPr anchor="ctr" rtlCol="false" tIns="0" lIns="0" bIns="0" rIns="0"/>
            <a:lstStyle/>
            <a:p>
              <a:pPr algn="l">
                <a:lnSpc>
                  <a:spcPts val="3499"/>
                </a:lnSpc>
              </a:pPr>
              <a:r>
                <a:rPr lang="en-US" sz="2799" b="true">
                  <a:solidFill>
                    <a:srgbClr val="1E2761"/>
                  </a:solidFill>
                  <a:latin typeface="Cambria Bold"/>
                  <a:ea typeface="Cambria Bold"/>
                  <a:cs typeface="Cambria Bold"/>
                  <a:sym typeface="Cambria Bold"/>
                </a:rPr>
                <a:t>Hospital Dashboard</a:t>
              </a:r>
            </a:p>
          </p:txBody>
        </p:sp>
      </p:grpSp>
      <p:grpSp>
        <p:nvGrpSpPr>
          <p:cNvPr name="Group 44" id="44"/>
          <p:cNvGrpSpPr/>
          <p:nvPr/>
        </p:nvGrpSpPr>
        <p:grpSpPr>
          <a:xfrm rot="0">
            <a:off x="12207240" y="4525137"/>
            <a:ext cx="4183380" cy="3088637"/>
            <a:chOff x="0" y="0"/>
            <a:chExt cx="5577840" cy="4118183"/>
          </a:xfrm>
        </p:grpSpPr>
        <p:sp>
          <p:nvSpPr>
            <p:cNvPr name="Freeform 45" id="45"/>
            <p:cNvSpPr/>
            <p:nvPr/>
          </p:nvSpPr>
          <p:spPr>
            <a:xfrm flipH="false" flipV="false" rot="0">
              <a:off x="0" y="0"/>
              <a:ext cx="5577840" cy="4118183"/>
            </a:xfrm>
            <a:custGeom>
              <a:avLst/>
              <a:gdLst/>
              <a:ahLst/>
              <a:cxnLst/>
              <a:rect r="r" b="b" t="t" l="l"/>
              <a:pathLst>
                <a:path h="4118183" w="5577840">
                  <a:moveTo>
                    <a:pt x="0" y="0"/>
                  </a:moveTo>
                  <a:lnTo>
                    <a:pt x="5577840" y="0"/>
                  </a:lnTo>
                  <a:lnTo>
                    <a:pt x="5577840" y="4118183"/>
                  </a:lnTo>
                  <a:lnTo>
                    <a:pt x="0" y="4118183"/>
                  </a:lnTo>
                  <a:close/>
                </a:path>
              </a:pathLst>
            </a:custGeom>
            <a:blipFill>
              <a:blip r:embed="rId3">
                <a:alphaModFix amt="0"/>
              </a:blip>
              <a:stretch>
                <a:fillRect l="-17306" t="0" r="-17306" b="28947"/>
              </a:stretch>
            </a:blipFill>
          </p:spPr>
        </p:sp>
        <p:sp>
          <p:nvSpPr>
            <p:cNvPr name="TextBox 46" id="46"/>
            <p:cNvSpPr txBox="true"/>
            <p:nvPr/>
          </p:nvSpPr>
          <p:spPr>
            <a:xfrm>
              <a:off x="0" y="-76200"/>
              <a:ext cx="5577840" cy="4194383"/>
            </a:xfrm>
            <a:prstGeom prst="rect">
              <a:avLst/>
            </a:prstGeom>
          </p:spPr>
          <p:txBody>
            <a:bodyPr anchor="ctr" rtlCol="false" tIns="0" lIns="0" bIns="0" rIns="0"/>
            <a:lstStyle/>
            <a:p>
              <a:pPr algn="l">
                <a:lnSpc>
                  <a:spcPts val="3988"/>
                </a:lnSpc>
              </a:pPr>
              <a:r>
                <a:rPr lang="en-US" sz="2769">
                  <a:solidFill>
                    <a:srgbClr val="1B1B2F"/>
                  </a:solidFill>
                  <a:latin typeface="Arimo"/>
                  <a:ea typeface="Arimo"/>
                  <a:cs typeface="Arimo"/>
                  <a:sym typeface="Arimo"/>
                </a:rPr>
                <a:t>L</a:t>
              </a:r>
              <a:r>
                <a:rPr lang="en-US" sz="2769">
                  <a:solidFill>
                    <a:srgbClr val="1B1B2F"/>
                  </a:solidFill>
                  <a:latin typeface="Arimo"/>
                  <a:ea typeface="Arimo"/>
                  <a:cs typeface="Arimo"/>
                  <a:sym typeface="Arimo"/>
                </a:rPr>
                <a:t>ets hospital staff view and update patient records, manage appointment slots, and log vaccination entries.</a:t>
              </a:r>
            </a:p>
            <a:p>
              <a:pPr algn="l">
                <a:lnSpc>
                  <a:spcPts val="3988"/>
                </a:lnSpc>
              </a:pPr>
            </a:p>
          </p:txBody>
        </p:sp>
      </p:grpSp>
      <p:grpSp>
        <p:nvGrpSpPr>
          <p:cNvPr name="Group 47" id="47"/>
          <p:cNvGrpSpPr/>
          <p:nvPr/>
        </p:nvGrpSpPr>
        <p:grpSpPr>
          <a:xfrm rot="0">
            <a:off x="822960" y="9820656"/>
            <a:ext cx="12344400" cy="411480"/>
            <a:chOff x="0" y="0"/>
            <a:chExt cx="16459200" cy="548640"/>
          </a:xfrm>
        </p:grpSpPr>
        <p:sp>
          <p:nvSpPr>
            <p:cNvPr name="Freeform 48" id="48"/>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9" id="49"/>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50" id="50"/>
          <p:cNvGrpSpPr/>
          <p:nvPr/>
        </p:nvGrpSpPr>
        <p:grpSpPr>
          <a:xfrm rot="0">
            <a:off x="16915943" y="9820656"/>
            <a:ext cx="548640" cy="411480"/>
            <a:chOff x="0" y="0"/>
            <a:chExt cx="731520" cy="548640"/>
          </a:xfrm>
        </p:grpSpPr>
        <p:sp>
          <p:nvSpPr>
            <p:cNvPr name="Freeform 51" id="51"/>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52" id="52"/>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7</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PROGRESS</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Completed Modules</a:t>
              </a:r>
            </a:p>
          </p:txBody>
        </p:sp>
      </p:grpSp>
      <p:grpSp>
        <p:nvGrpSpPr>
          <p:cNvPr name="Group 8" id="8"/>
          <p:cNvGrpSpPr/>
          <p:nvPr/>
        </p:nvGrpSpPr>
        <p:grpSpPr>
          <a:xfrm rot="0">
            <a:off x="822960" y="2674620"/>
            <a:ext cx="8321040" cy="4686011"/>
            <a:chOff x="0" y="0"/>
            <a:chExt cx="11094720" cy="6248015"/>
          </a:xfrm>
        </p:grpSpPr>
        <p:sp>
          <p:nvSpPr>
            <p:cNvPr name="Freeform 9" id="9"/>
            <p:cNvSpPr/>
            <p:nvPr/>
          </p:nvSpPr>
          <p:spPr>
            <a:xfrm flipH="false" flipV="false" rot="0">
              <a:off x="0" y="0"/>
              <a:ext cx="11094720" cy="6248015"/>
            </a:xfrm>
            <a:custGeom>
              <a:avLst/>
              <a:gdLst/>
              <a:ahLst/>
              <a:cxnLst/>
              <a:rect r="r" b="b" t="t" l="l"/>
              <a:pathLst>
                <a:path h="6248015" w="11094720">
                  <a:moveTo>
                    <a:pt x="0" y="170400"/>
                  </a:moveTo>
                  <a:cubicBezTo>
                    <a:pt x="0" y="76259"/>
                    <a:pt x="122430" y="0"/>
                    <a:pt x="273568" y="0"/>
                  </a:cubicBezTo>
                  <a:lnTo>
                    <a:pt x="10821152" y="0"/>
                  </a:lnTo>
                  <a:cubicBezTo>
                    <a:pt x="10972289" y="0"/>
                    <a:pt x="11094720" y="76259"/>
                    <a:pt x="11094720" y="170400"/>
                  </a:cubicBezTo>
                  <a:lnTo>
                    <a:pt x="11094720" y="6077614"/>
                  </a:lnTo>
                  <a:cubicBezTo>
                    <a:pt x="11094720" y="6171755"/>
                    <a:pt x="10972289" y="6248015"/>
                    <a:pt x="10821152" y="6248015"/>
                  </a:cubicBezTo>
                  <a:lnTo>
                    <a:pt x="273568" y="6248015"/>
                  </a:lnTo>
                  <a:cubicBezTo>
                    <a:pt x="122430" y="6248015"/>
                    <a:pt x="0" y="6171755"/>
                    <a:pt x="0" y="6077614"/>
                  </a:cubicBezTo>
                  <a:close/>
                </a:path>
              </a:pathLst>
            </a:custGeom>
            <a:solidFill>
              <a:srgbClr val="F3F6FD"/>
            </a:solidFill>
          </p:spPr>
        </p:sp>
      </p:grpSp>
      <p:grpSp>
        <p:nvGrpSpPr>
          <p:cNvPr name="Group 10" id="10"/>
          <p:cNvGrpSpPr/>
          <p:nvPr/>
        </p:nvGrpSpPr>
        <p:grpSpPr>
          <a:xfrm rot="0">
            <a:off x="1234440" y="3086100"/>
            <a:ext cx="1234440" cy="438912"/>
            <a:chOff x="0" y="0"/>
            <a:chExt cx="1645920" cy="585216"/>
          </a:xfrm>
        </p:grpSpPr>
        <p:sp>
          <p:nvSpPr>
            <p:cNvPr name="Freeform 11" id="11"/>
            <p:cNvSpPr/>
            <p:nvPr/>
          </p:nvSpPr>
          <p:spPr>
            <a:xfrm flipH="false" flipV="false" rot="0">
              <a:off x="0" y="0"/>
              <a:ext cx="1645920" cy="585216"/>
            </a:xfrm>
            <a:custGeom>
              <a:avLst/>
              <a:gdLst/>
              <a:ahLst/>
              <a:cxnLst/>
              <a:rect r="r" b="b" t="t" l="l"/>
              <a:pathLst>
                <a:path h="585216" w="1645920">
                  <a:moveTo>
                    <a:pt x="0" y="292608"/>
                  </a:moveTo>
                  <a:cubicBezTo>
                    <a:pt x="0" y="131064"/>
                    <a:pt x="131064" y="0"/>
                    <a:pt x="292608" y="0"/>
                  </a:cubicBezTo>
                  <a:lnTo>
                    <a:pt x="1353312" y="0"/>
                  </a:lnTo>
                  <a:cubicBezTo>
                    <a:pt x="1514856" y="0"/>
                    <a:pt x="1645920" y="131064"/>
                    <a:pt x="1645920" y="292608"/>
                  </a:cubicBezTo>
                  <a:cubicBezTo>
                    <a:pt x="1645920" y="454152"/>
                    <a:pt x="1514856" y="585216"/>
                    <a:pt x="1353312" y="585216"/>
                  </a:cubicBezTo>
                  <a:lnTo>
                    <a:pt x="292608" y="585216"/>
                  </a:lnTo>
                  <a:cubicBezTo>
                    <a:pt x="131064" y="585216"/>
                    <a:pt x="0" y="454152"/>
                    <a:pt x="0" y="292608"/>
                  </a:cubicBezTo>
                  <a:close/>
                </a:path>
              </a:pathLst>
            </a:custGeom>
            <a:solidFill>
              <a:srgbClr val="E4F5EC"/>
            </a:solidFill>
          </p:spPr>
        </p:sp>
      </p:grpSp>
      <p:grpSp>
        <p:nvGrpSpPr>
          <p:cNvPr name="Group 12" id="12"/>
          <p:cNvGrpSpPr/>
          <p:nvPr/>
        </p:nvGrpSpPr>
        <p:grpSpPr>
          <a:xfrm rot="0">
            <a:off x="1234440" y="3086100"/>
            <a:ext cx="1234440" cy="438912"/>
            <a:chOff x="0" y="0"/>
            <a:chExt cx="1645920" cy="585216"/>
          </a:xfrm>
        </p:grpSpPr>
        <p:sp>
          <p:nvSpPr>
            <p:cNvPr name="Freeform 13" id="13"/>
            <p:cNvSpPr/>
            <p:nvPr/>
          </p:nvSpPr>
          <p:spPr>
            <a:xfrm flipH="false" flipV="false" rot="0">
              <a:off x="0" y="0"/>
              <a:ext cx="1645920" cy="585216"/>
            </a:xfrm>
            <a:custGeom>
              <a:avLst/>
              <a:gdLst/>
              <a:ahLst/>
              <a:cxnLst/>
              <a:rect r="r" b="b" t="t" l="l"/>
              <a:pathLst>
                <a:path h="585216" w="1645920">
                  <a:moveTo>
                    <a:pt x="0" y="0"/>
                  </a:moveTo>
                  <a:lnTo>
                    <a:pt x="1645920" y="0"/>
                  </a:lnTo>
                  <a:lnTo>
                    <a:pt x="1645920" y="585216"/>
                  </a:lnTo>
                  <a:lnTo>
                    <a:pt x="0" y="585216"/>
                  </a:lnTo>
                  <a:close/>
                </a:path>
              </a:pathLst>
            </a:custGeom>
            <a:blipFill>
              <a:blip r:embed="rId3">
                <a:alphaModFix amt="0"/>
              </a:blip>
              <a:stretch>
                <a:fillRect l="0" t="-4801" r="0" b="-4801"/>
              </a:stretch>
            </a:blipFill>
          </p:spPr>
        </p:sp>
        <p:sp>
          <p:nvSpPr>
            <p:cNvPr name="TextBox 14" id="14"/>
            <p:cNvSpPr txBox="true"/>
            <p:nvPr/>
          </p:nvSpPr>
          <p:spPr>
            <a:xfrm>
              <a:off x="0" y="-28575"/>
              <a:ext cx="1645920" cy="613791"/>
            </a:xfrm>
            <a:prstGeom prst="rect">
              <a:avLst/>
            </a:prstGeom>
          </p:spPr>
          <p:txBody>
            <a:bodyPr anchor="ctr" rtlCol="false" tIns="0" lIns="0" bIns="0" rIns="0"/>
            <a:lstStyle/>
            <a:p>
              <a:pPr algn="ctr">
                <a:lnSpc>
                  <a:spcPts val="2219"/>
                </a:lnSpc>
              </a:pPr>
              <a:r>
                <a:rPr lang="en-US" sz="1849" b="true">
                  <a:solidFill>
                    <a:srgbClr val="1F8A55"/>
                  </a:solidFill>
                  <a:latin typeface="Arimo Bold"/>
                  <a:ea typeface="Arimo Bold"/>
                  <a:cs typeface="Arimo Bold"/>
                  <a:sym typeface="Arimo Bold"/>
                </a:rPr>
                <a:t>DONE</a:t>
              </a:r>
            </a:p>
          </p:txBody>
        </p:sp>
      </p:grpSp>
      <p:grpSp>
        <p:nvGrpSpPr>
          <p:cNvPr name="Group 15" id="15"/>
          <p:cNvGrpSpPr/>
          <p:nvPr/>
        </p:nvGrpSpPr>
        <p:grpSpPr>
          <a:xfrm rot="0">
            <a:off x="1234440" y="3032195"/>
            <a:ext cx="4310061" cy="2049214"/>
            <a:chOff x="0" y="0"/>
            <a:chExt cx="5746748" cy="2732285"/>
          </a:xfrm>
        </p:grpSpPr>
        <p:sp>
          <p:nvSpPr>
            <p:cNvPr name="Freeform 16" id="16"/>
            <p:cNvSpPr/>
            <p:nvPr/>
          </p:nvSpPr>
          <p:spPr>
            <a:xfrm flipH="false" flipV="false" rot="0">
              <a:off x="0" y="0"/>
              <a:ext cx="5746748" cy="2732285"/>
            </a:xfrm>
            <a:custGeom>
              <a:avLst/>
              <a:gdLst/>
              <a:ahLst/>
              <a:cxnLst/>
              <a:rect r="r" b="b" t="t" l="l"/>
              <a:pathLst>
                <a:path h="2732285" w="5746748">
                  <a:moveTo>
                    <a:pt x="0" y="0"/>
                  </a:moveTo>
                  <a:lnTo>
                    <a:pt x="5746748" y="0"/>
                  </a:lnTo>
                  <a:lnTo>
                    <a:pt x="5746748" y="2732285"/>
                  </a:lnTo>
                  <a:lnTo>
                    <a:pt x="0" y="2732285"/>
                  </a:lnTo>
                  <a:close/>
                </a:path>
              </a:pathLst>
            </a:custGeom>
            <a:blipFill>
              <a:blip r:embed="rId3">
                <a:alphaModFix amt="0"/>
              </a:blip>
              <a:stretch>
                <a:fillRect l="0" t="-16351" r="2939" b="36795"/>
              </a:stretch>
            </a:blipFill>
          </p:spPr>
        </p:sp>
        <p:sp>
          <p:nvSpPr>
            <p:cNvPr name="TextBox 17" id="17"/>
            <p:cNvSpPr txBox="true"/>
            <p:nvPr/>
          </p:nvSpPr>
          <p:spPr>
            <a:xfrm>
              <a:off x="0" y="-19050"/>
              <a:ext cx="5746748" cy="2751335"/>
            </a:xfrm>
            <a:prstGeom prst="rect">
              <a:avLst/>
            </a:prstGeom>
          </p:spPr>
          <p:txBody>
            <a:bodyPr anchor="ctr" rtlCol="false" tIns="0" lIns="0" bIns="0" rIns="0"/>
            <a:lstStyle/>
            <a:p>
              <a:pPr algn="l">
                <a:lnSpc>
                  <a:spcPts val="3499"/>
                </a:lnSpc>
              </a:pPr>
              <a:r>
                <a:rPr lang="en-US" sz="2799" b="true">
                  <a:solidFill>
                    <a:srgbClr val="1E2761"/>
                  </a:solidFill>
                  <a:latin typeface="Cambria Bold"/>
                  <a:ea typeface="Cambria Bold"/>
                  <a:cs typeface="Cambria Bold"/>
                  <a:sym typeface="Cambria Bold"/>
                </a:rPr>
                <a:t>Immunization Records</a:t>
              </a:r>
            </a:p>
          </p:txBody>
        </p:sp>
      </p:grpSp>
      <p:grpSp>
        <p:nvGrpSpPr>
          <p:cNvPr name="Group 18" id="18"/>
          <p:cNvGrpSpPr/>
          <p:nvPr/>
        </p:nvGrpSpPr>
        <p:grpSpPr>
          <a:xfrm rot="0">
            <a:off x="1230630" y="4525137"/>
            <a:ext cx="7479030" cy="2583920"/>
            <a:chOff x="0" y="0"/>
            <a:chExt cx="9972040" cy="3445226"/>
          </a:xfrm>
        </p:grpSpPr>
        <p:sp>
          <p:nvSpPr>
            <p:cNvPr name="Freeform 19" id="19"/>
            <p:cNvSpPr/>
            <p:nvPr/>
          </p:nvSpPr>
          <p:spPr>
            <a:xfrm flipH="false" flipV="false" rot="0">
              <a:off x="0" y="0"/>
              <a:ext cx="9972040" cy="3445226"/>
            </a:xfrm>
            <a:custGeom>
              <a:avLst/>
              <a:gdLst/>
              <a:ahLst/>
              <a:cxnLst/>
              <a:rect r="r" b="b" t="t" l="l"/>
              <a:pathLst>
                <a:path h="3445226" w="9972040">
                  <a:moveTo>
                    <a:pt x="0" y="0"/>
                  </a:moveTo>
                  <a:lnTo>
                    <a:pt x="9972040" y="0"/>
                  </a:lnTo>
                  <a:lnTo>
                    <a:pt x="9972040" y="3445226"/>
                  </a:lnTo>
                  <a:lnTo>
                    <a:pt x="0" y="3445226"/>
                  </a:lnTo>
                  <a:close/>
                </a:path>
              </a:pathLst>
            </a:custGeom>
            <a:blipFill>
              <a:blip r:embed="rId3">
                <a:alphaModFix amt="0"/>
              </a:blip>
              <a:stretch>
                <a:fillRect l="-9680" t="0" r="34384" b="15068"/>
              </a:stretch>
            </a:blipFill>
          </p:spPr>
        </p:sp>
        <p:sp>
          <p:nvSpPr>
            <p:cNvPr name="TextBox 20" id="20"/>
            <p:cNvSpPr txBox="true"/>
            <p:nvPr/>
          </p:nvSpPr>
          <p:spPr>
            <a:xfrm>
              <a:off x="0" y="-76200"/>
              <a:ext cx="9972040" cy="3521426"/>
            </a:xfrm>
            <a:prstGeom prst="rect">
              <a:avLst/>
            </a:prstGeom>
          </p:spPr>
          <p:txBody>
            <a:bodyPr anchor="ctr" rtlCol="false" tIns="0" lIns="0" bIns="0" rIns="0"/>
            <a:lstStyle/>
            <a:p>
              <a:pPr algn="l">
                <a:lnSpc>
                  <a:spcPts val="3995"/>
                </a:lnSpc>
              </a:pPr>
              <a:r>
                <a:rPr lang="en-US" sz="2774">
                  <a:solidFill>
                    <a:srgbClr val="1B1B2F"/>
                  </a:solidFill>
                  <a:latin typeface="Arimo"/>
                  <a:ea typeface="Arimo"/>
                  <a:cs typeface="Arimo"/>
                  <a:sym typeface="Arimo"/>
                </a:rPr>
                <a:t>The system maintains comprehensive vaccination tracking for patients, allowing healthcare providers to record, monitor, and retrieve immunization histories with due-date reminders for upcoming doses.</a:t>
              </a:r>
            </a:p>
          </p:txBody>
        </p:sp>
      </p:grpSp>
      <p:grpSp>
        <p:nvGrpSpPr>
          <p:cNvPr name="Group 21" id="21"/>
          <p:cNvGrpSpPr/>
          <p:nvPr/>
        </p:nvGrpSpPr>
        <p:grpSpPr>
          <a:xfrm rot="0">
            <a:off x="822960" y="9820656"/>
            <a:ext cx="12344400" cy="411480"/>
            <a:chOff x="0" y="0"/>
            <a:chExt cx="16459200" cy="548640"/>
          </a:xfrm>
        </p:grpSpPr>
        <p:sp>
          <p:nvSpPr>
            <p:cNvPr name="Freeform 22" id="22"/>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23" id="23"/>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24" id="24"/>
          <p:cNvGrpSpPr/>
          <p:nvPr/>
        </p:nvGrpSpPr>
        <p:grpSpPr>
          <a:xfrm rot="0">
            <a:off x="16915943" y="9820656"/>
            <a:ext cx="548640" cy="411480"/>
            <a:chOff x="0" y="0"/>
            <a:chExt cx="731520" cy="548640"/>
          </a:xfrm>
        </p:grpSpPr>
        <p:sp>
          <p:nvSpPr>
            <p:cNvPr name="Freeform 25" id="25"/>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26" id="26"/>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7</a:t>
              </a:r>
            </a:p>
          </p:txBody>
        </p:sp>
      </p:grpSp>
      <p:grpSp>
        <p:nvGrpSpPr>
          <p:cNvPr name="Group 27" id="27"/>
          <p:cNvGrpSpPr/>
          <p:nvPr/>
        </p:nvGrpSpPr>
        <p:grpSpPr>
          <a:xfrm rot="0">
            <a:off x="9287198" y="2674620"/>
            <a:ext cx="8321040" cy="4686011"/>
            <a:chOff x="0" y="0"/>
            <a:chExt cx="11094720" cy="6248015"/>
          </a:xfrm>
        </p:grpSpPr>
        <p:sp>
          <p:nvSpPr>
            <p:cNvPr name="Freeform 28" id="28"/>
            <p:cNvSpPr/>
            <p:nvPr/>
          </p:nvSpPr>
          <p:spPr>
            <a:xfrm flipH="false" flipV="false" rot="0">
              <a:off x="0" y="0"/>
              <a:ext cx="11094720" cy="6248015"/>
            </a:xfrm>
            <a:custGeom>
              <a:avLst/>
              <a:gdLst/>
              <a:ahLst/>
              <a:cxnLst/>
              <a:rect r="r" b="b" t="t" l="l"/>
              <a:pathLst>
                <a:path h="6248015" w="11094720">
                  <a:moveTo>
                    <a:pt x="0" y="170400"/>
                  </a:moveTo>
                  <a:cubicBezTo>
                    <a:pt x="0" y="76259"/>
                    <a:pt x="122430" y="0"/>
                    <a:pt x="273568" y="0"/>
                  </a:cubicBezTo>
                  <a:lnTo>
                    <a:pt x="10821152" y="0"/>
                  </a:lnTo>
                  <a:cubicBezTo>
                    <a:pt x="10972289" y="0"/>
                    <a:pt x="11094720" y="76259"/>
                    <a:pt x="11094720" y="170400"/>
                  </a:cubicBezTo>
                  <a:lnTo>
                    <a:pt x="11094720" y="6077614"/>
                  </a:lnTo>
                  <a:cubicBezTo>
                    <a:pt x="11094720" y="6171755"/>
                    <a:pt x="10972289" y="6248015"/>
                    <a:pt x="10821152" y="6248015"/>
                  </a:cubicBezTo>
                  <a:lnTo>
                    <a:pt x="273568" y="6248015"/>
                  </a:lnTo>
                  <a:cubicBezTo>
                    <a:pt x="122430" y="6248015"/>
                    <a:pt x="0" y="6171755"/>
                    <a:pt x="0" y="6077614"/>
                  </a:cubicBezTo>
                  <a:close/>
                </a:path>
              </a:pathLst>
            </a:custGeom>
            <a:solidFill>
              <a:srgbClr val="F3F6FD"/>
            </a:solidFill>
          </p:spPr>
        </p:sp>
      </p:grpSp>
      <p:grpSp>
        <p:nvGrpSpPr>
          <p:cNvPr name="Group 29" id="29"/>
          <p:cNvGrpSpPr/>
          <p:nvPr/>
        </p:nvGrpSpPr>
        <p:grpSpPr>
          <a:xfrm rot="0">
            <a:off x="9698678" y="3086100"/>
            <a:ext cx="1234440" cy="438912"/>
            <a:chOff x="0" y="0"/>
            <a:chExt cx="1645920" cy="585216"/>
          </a:xfrm>
        </p:grpSpPr>
        <p:sp>
          <p:nvSpPr>
            <p:cNvPr name="Freeform 30" id="30"/>
            <p:cNvSpPr/>
            <p:nvPr/>
          </p:nvSpPr>
          <p:spPr>
            <a:xfrm flipH="false" flipV="false" rot="0">
              <a:off x="0" y="0"/>
              <a:ext cx="1645920" cy="585216"/>
            </a:xfrm>
            <a:custGeom>
              <a:avLst/>
              <a:gdLst/>
              <a:ahLst/>
              <a:cxnLst/>
              <a:rect r="r" b="b" t="t" l="l"/>
              <a:pathLst>
                <a:path h="585216" w="1645920">
                  <a:moveTo>
                    <a:pt x="0" y="292608"/>
                  </a:moveTo>
                  <a:cubicBezTo>
                    <a:pt x="0" y="131064"/>
                    <a:pt x="131064" y="0"/>
                    <a:pt x="292608" y="0"/>
                  </a:cubicBezTo>
                  <a:lnTo>
                    <a:pt x="1353312" y="0"/>
                  </a:lnTo>
                  <a:cubicBezTo>
                    <a:pt x="1514856" y="0"/>
                    <a:pt x="1645920" y="131064"/>
                    <a:pt x="1645920" y="292608"/>
                  </a:cubicBezTo>
                  <a:cubicBezTo>
                    <a:pt x="1645920" y="454152"/>
                    <a:pt x="1514856" y="585216"/>
                    <a:pt x="1353312" y="585216"/>
                  </a:cubicBezTo>
                  <a:lnTo>
                    <a:pt x="292608" y="585216"/>
                  </a:lnTo>
                  <a:cubicBezTo>
                    <a:pt x="131064" y="585216"/>
                    <a:pt x="0" y="454152"/>
                    <a:pt x="0" y="292608"/>
                  </a:cubicBezTo>
                  <a:close/>
                </a:path>
              </a:pathLst>
            </a:custGeom>
            <a:solidFill>
              <a:srgbClr val="E4F5EC"/>
            </a:solidFill>
          </p:spPr>
        </p:sp>
      </p:grpSp>
      <p:grpSp>
        <p:nvGrpSpPr>
          <p:cNvPr name="Group 31" id="31"/>
          <p:cNvGrpSpPr/>
          <p:nvPr/>
        </p:nvGrpSpPr>
        <p:grpSpPr>
          <a:xfrm rot="0">
            <a:off x="9698678" y="3086100"/>
            <a:ext cx="1234440" cy="438912"/>
            <a:chOff x="0" y="0"/>
            <a:chExt cx="1645920" cy="585216"/>
          </a:xfrm>
        </p:grpSpPr>
        <p:sp>
          <p:nvSpPr>
            <p:cNvPr name="Freeform 32" id="32"/>
            <p:cNvSpPr/>
            <p:nvPr/>
          </p:nvSpPr>
          <p:spPr>
            <a:xfrm flipH="false" flipV="false" rot="0">
              <a:off x="0" y="0"/>
              <a:ext cx="1645920" cy="585216"/>
            </a:xfrm>
            <a:custGeom>
              <a:avLst/>
              <a:gdLst/>
              <a:ahLst/>
              <a:cxnLst/>
              <a:rect r="r" b="b" t="t" l="l"/>
              <a:pathLst>
                <a:path h="585216" w="1645920">
                  <a:moveTo>
                    <a:pt x="0" y="0"/>
                  </a:moveTo>
                  <a:lnTo>
                    <a:pt x="1645920" y="0"/>
                  </a:lnTo>
                  <a:lnTo>
                    <a:pt x="1645920" y="585216"/>
                  </a:lnTo>
                  <a:lnTo>
                    <a:pt x="0" y="585216"/>
                  </a:lnTo>
                  <a:close/>
                </a:path>
              </a:pathLst>
            </a:custGeom>
            <a:blipFill>
              <a:blip r:embed="rId3">
                <a:alphaModFix amt="0"/>
              </a:blip>
              <a:stretch>
                <a:fillRect l="0" t="-4801" r="0" b="-4801"/>
              </a:stretch>
            </a:blipFill>
          </p:spPr>
        </p:sp>
        <p:sp>
          <p:nvSpPr>
            <p:cNvPr name="TextBox 33" id="33"/>
            <p:cNvSpPr txBox="true"/>
            <p:nvPr/>
          </p:nvSpPr>
          <p:spPr>
            <a:xfrm>
              <a:off x="0" y="-28575"/>
              <a:ext cx="1645920" cy="613791"/>
            </a:xfrm>
            <a:prstGeom prst="rect">
              <a:avLst/>
            </a:prstGeom>
          </p:spPr>
          <p:txBody>
            <a:bodyPr anchor="ctr" rtlCol="false" tIns="0" lIns="0" bIns="0" rIns="0"/>
            <a:lstStyle/>
            <a:p>
              <a:pPr algn="ctr">
                <a:lnSpc>
                  <a:spcPts val="2219"/>
                </a:lnSpc>
              </a:pPr>
              <a:r>
                <a:rPr lang="en-US" sz="1849" b="true">
                  <a:solidFill>
                    <a:srgbClr val="1F8A55"/>
                  </a:solidFill>
                  <a:latin typeface="Arimo Bold"/>
                  <a:ea typeface="Arimo Bold"/>
                  <a:cs typeface="Arimo Bold"/>
                  <a:sym typeface="Arimo Bold"/>
                </a:rPr>
                <a:t>DONE</a:t>
              </a:r>
            </a:p>
          </p:txBody>
        </p:sp>
      </p:grpSp>
      <p:grpSp>
        <p:nvGrpSpPr>
          <p:cNvPr name="Group 34" id="34"/>
          <p:cNvGrpSpPr/>
          <p:nvPr/>
        </p:nvGrpSpPr>
        <p:grpSpPr>
          <a:xfrm rot="0">
            <a:off x="9698678" y="3032195"/>
            <a:ext cx="4310061" cy="2049214"/>
            <a:chOff x="0" y="0"/>
            <a:chExt cx="5746748" cy="2732285"/>
          </a:xfrm>
        </p:grpSpPr>
        <p:sp>
          <p:nvSpPr>
            <p:cNvPr name="Freeform 35" id="35"/>
            <p:cNvSpPr/>
            <p:nvPr/>
          </p:nvSpPr>
          <p:spPr>
            <a:xfrm flipH="false" flipV="false" rot="0">
              <a:off x="0" y="0"/>
              <a:ext cx="5746748" cy="2732285"/>
            </a:xfrm>
            <a:custGeom>
              <a:avLst/>
              <a:gdLst/>
              <a:ahLst/>
              <a:cxnLst/>
              <a:rect r="r" b="b" t="t" l="l"/>
              <a:pathLst>
                <a:path h="2732285" w="5746748">
                  <a:moveTo>
                    <a:pt x="0" y="0"/>
                  </a:moveTo>
                  <a:lnTo>
                    <a:pt x="5746748" y="0"/>
                  </a:lnTo>
                  <a:lnTo>
                    <a:pt x="5746748" y="2732285"/>
                  </a:lnTo>
                  <a:lnTo>
                    <a:pt x="0" y="2732285"/>
                  </a:lnTo>
                  <a:close/>
                </a:path>
              </a:pathLst>
            </a:custGeom>
            <a:blipFill>
              <a:blip r:embed="rId3">
                <a:alphaModFix amt="0"/>
              </a:blip>
              <a:stretch>
                <a:fillRect l="0" t="-16351" r="2939" b="36795"/>
              </a:stretch>
            </a:blipFill>
          </p:spPr>
        </p:sp>
        <p:sp>
          <p:nvSpPr>
            <p:cNvPr name="TextBox 36" id="36"/>
            <p:cNvSpPr txBox="true"/>
            <p:nvPr/>
          </p:nvSpPr>
          <p:spPr>
            <a:xfrm>
              <a:off x="0" y="-19050"/>
              <a:ext cx="5746748" cy="2751335"/>
            </a:xfrm>
            <a:prstGeom prst="rect">
              <a:avLst/>
            </a:prstGeom>
          </p:spPr>
          <p:txBody>
            <a:bodyPr anchor="ctr" rtlCol="false" tIns="0" lIns="0" bIns="0" rIns="0"/>
            <a:lstStyle/>
            <a:p>
              <a:pPr algn="l">
                <a:lnSpc>
                  <a:spcPts val="3499"/>
                </a:lnSpc>
              </a:pPr>
              <a:r>
                <a:rPr lang="en-US" sz="2799" b="true">
                  <a:solidFill>
                    <a:srgbClr val="1E2761"/>
                  </a:solidFill>
                  <a:latin typeface="Cambria Bold"/>
                  <a:ea typeface="Cambria Bold"/>
                  <a:cs typeface="Cambria Bold"/>
                  <a:sym typeface="Cambria Bold"/>
                </a:rPr>
                <a:t>ML Integration</a:t>
              </a:r>
            </a:p>
          </p:txBody>
        </p:sp>
      </p:grpSp>
      <p:grpSp>
        <p:nvGrpSpPr>
          <p:cNvPr name="Group 37" id="37"/>
          <p:cNvGrpSpPr/>
          <p:nvPr/>
        </p:nvGrpSpPr>
        <p:grpSpPr>
          <a:xfrm rot="0">
            <a:off x="9694868" y="4525137"/>
            <a:ext cx="7479030" cy="2583920"/>
            <a:chOff x="0" y="0"/>
            <a:chExt cx="9972040" cy="3445226"/>
          </a:xfrm>
        </p:grpSpPr>
        <p:sp>
          <p:nvSpPr>
            <p:cNvPr name="Freeform 38" id="38"/>
            <p:cNvSpPr/>
            <p:nvPr/>
          </p:nvSpPr>
          <p:spPr>
            <a:xfrm flipH="false" flipV="false" rot="0">
              <a:off x="0" y="0"/>
              <a:ext cx="9972040" cy="3445226"/>
            </a:xfrm>
            <a:custGeom>
              <a:avLst/>
              <a:gdLst/>
              <a:ahLst/>
              <a:cxnLst/>
              <a:rect r="r" b="b" t="t" l="l"/>
              <a:pathLst>
                <a:path h="3445226" w="9972040">
                  <a:moveTo>
                    <a:pt x="0" y="0"/>
                  </a:moveTo>
                  <a:lnTo>
                    <a:pt x="9972040" y="0"/>
                  </a:lnTo>
                  <a:lnTo>
                    <a:pt x="9972040" y="3445226"/>
                  </a:lnTo>
                  <a:lnTo>
                    <a:pt x="0" y="3445226"/>
                  </a:lnTo>
                  <a:close/>
                </a:path>
              </a:pathLst>
            </a:custGeom>
            <a:blipFill>
              <a:blip r:embed="rId3">
                <a:alphaModFix amt="0"/>
              </a:blip>
              <a:stretch>
                <a:fillRect l="-9680" t="0" r="34384" b="15068"/>
              </a:stretch>
            </a:blipFill>
          </p:spPr>
        </p:sp>
        <p:sp>
          <p:nvSpPr>
            <p:cNvPr name="TextBox 39" id="39"/>
            <p:cNvSpPr txBox="true"/>
            <p:nvPr/>
          </p:nvSpPr>
          <p:spPr>
            <a:xfrm>
              <a:off x="0" y="-76200"/>
              <a:ext cx="9972040" cy="3521426"/>
            </a:xfrm>
            <a:prstGeom prst="rect">
              <a:avLst/>
            </a:prstGeom>
          </p:spPr>
          <p:txBody>
            <a:bodyPr anchor="ctr" rtlCol="false" tIns="0" lIns="0" bIns="0" rIns="0"/>
            <a:lstStyle/>
            <a:p>
              <a:pPr algn="l">
                <a:lnSpc>
                  <a:spcPts val="3995"/>
                </a:lnSpc>
              </a:pPr>
              <a:r>
                <a:rPr lang="en-US" sz="2774">
                  <a:solidFill>
                    <a:srgbClr val="1B1B2F"/>
                  </a:solidFill>
                  <a:latin typeface="Arimo"/>
                  <a:ea typeface="Arimo"/>
                  <a:cs typeface="Arimo"/>
                  <a:sym typeface="Arimo"/>
                </a:rPr>
                <a:t>A Gradient Boosting machine learning model analyzes patient data — including age, medical condition, and test results — to intelligently suggest appointment types and balance doctor workloads through real-time risk scoring.</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Machine Learning</a:t>
              </a:r>
            </a:p>
          </p:txBody>
        </p:sp>
      </p:grpSp>
      <p:grpSp>
        <p:nvGrpSpPr>
          <p:cNvPr name="Group 5" id="5"/>
          <p:cNvGrpSpPr/>
          <p:nvPr/>
        </p:nvGrpSpPr>
        <p:grpSpPr>
          <a:xfrm rot="0">
            <a:off x="822960" y="9820656"/>
            <a:ext cx="12344400" cy="411480"/>
            <a:chOff x="0" y="0"/>
            <a:chExt cx="16459200" cy="548640"/>
          </a:xfrm>
        </p:grpSpPr>
        <p:sp>
          <p:nvSpPr>
            <p:cNvPr name="Freeform 6" id="6"/>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7" id="7"/>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8" id="8"/>
          <p:cNvGrpSpPr/>
          <p:nvPr/>
        </p:nvGrpSpPr>
        <p:grpSpPr>
          <a:xfrm rot="0">
            <a:off x="16915943" y="9820656"/>
            <a:ext cx="548640" cy="411480"/>
            <a:chOff x="0" y="0"/>
            <a:chExt cx="731520" cy="548640"/>
          </a:xfrm>
        </p:grpSpPr>
        <p:sp>
          <p:nvSpPr>
            <p:cNvPr name="Freeform 9" id="9"/>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0" id="10"/>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7</a:t>
              </a:r>
            </a:p>
          </p:txBody>
        </p:sp>
      </p:grpSp>
      <p:grpSp>
        <p:nvGrpSpPr>
          <p:cNvPr name="Group 11" id="11"/>
          <p:cNvGrpSpPr/>
          <p:nvPr/>
        </p:nvGrpSpPr>
        <p:grpSpPr>
          <a:xfrm rot="0">
            <a:off x="494974" y="2639549"/>
            <a:ext cx="6400059" cy="6618751"/>
            <a:chOff x="0" y="0"/>
            <a:chExt cx="8533412" cy="8825001"/>
          </a:xfrm>
        </p:grpSpPr>
        <p:sp>
          <p:nvSpPr>
            <p:cNvPr name="Freeform 12" id="12"/>
            <p:cNvSpPr/>
            <p:nvPr/>
          </p:nvSpPr>
          <p:spPr>
            <a:xfrm flipH="false" flipV="false" rot="0">
              <a:off x="0" y="0"/>
              <a:ext cx="8533412" cy="8825001"/>
            </a:xfrm>
            <a:custGeom>
              <a:avLst/>
              <a:gdLst/>
              <a:ahLst/>
              <a:cxnLst/>
              <a:rect r="r" b="b" t="t" l="l"/>
              <a:pathLst>
                <a:path h="8825001" w="8533412">
                  <a:moveTo>
                    <a:pt x="0" y="240682"/>
                  </a:moveTo>
                  <a:cubicBezTo>
                    <a:pt x="0" y="107713"/>
                    <a:pt x="94166" y="0"/>
                    <a:pt x="210413" y="0"/>
                  </a:cubicBezTo>
                  <a:lnTo>
                    <a:pt x="8322999" y="0"/>
                  </a:lnTo>
                  <a:cubicBezTo>
                    <a:pt x="8439245" y="0"/>
                    <a:pt x="8533412" y="107713"/>
                    <a:pt x="8533412" y="240682"/>
                  </a:cubicBezTo>
                  <a:lnTo>
                    <a:pt x="8533412" y="8584319"/>
                  </a:lnTo>
                  <a:cubicBezTo>
                    <a:pt x="8533412" y="8717289"/>
                    <a:pt x="8439245" y="8825001"/>
                    <a:pt x="8322999" y="8825001"/>
                  </a:cubicBezTo>
                  <a:lnTo>
                    <a:pt x="210413" y="8825001"/>
                  </a:lnTo>
                  <a:cubicBezTo>
                    <a:pt x="94166" y="8825002"/>
                    <a:pt x="0" y="8717289"/>
                    <a:pt x="0" y="8584319"/>
                  </a:cubicBezTo>
                  <a:close/>
                </a:path>
              </a:pathLst>
            </a:custGeom>
            <a:solidFill>
              <a:srgbClr val="F3F6FD"/>
            </a:solidFill>
          </p:spPr>
        </p:sp>
      </p:grpSp>
      <p:grpSp>
        <p:nvGrpSpPr>
          <p:cNvPr name="Group 13" id="13"/>
          <p:cNvGrpSpPr/>
          <p:nvPr/>
        </p:nvGrpSpPr>
        <p:grpSpPr>
          <a:xfrm rot="0">
            <a:off x="822960" y="0"/>
            <a:ext cx="4546108" cy="3516213"/>
            <a:chOff x="0" y="0"/>
            <a:chExt cx="6061478" cy="4688284"/>
          </a:xfrm>
        </p:grpSpPr>
        <p:sp>
          <p:nvSpPr>
            <p:cNvPr name="Freeform 14" id="14"/>
            <p:cNvSpPr/>
            <p:nvPr/>
          </p:nvSpPr>
          <p:spPr>
            <a:xfrm flipH="false" flipV="false" rot="0">
              <a:off x="0" y="0"/>
              <a:ext cx="6061478" cy="4688284"/>
            </a:xfrm>
            <a:custGeom>
              <a:avLst/>
              <a:gdLst/>
              <a:ahLst/>
              <a:cxnLst/>
              <a:rect r="r" b="b" t="t" l="l"/>
              <a:pathLst>
                <a:path h="4688284" w="6061478">
                  <a:moveTo>
                    <a:pt x="0" y="0"/>
                  </a:moveTo>
                  <a:lnTo>
                    <a:pt x="6061478" y="0"/>
                  </a:lnTo>
                  <a:lnTo>
                    <a:pt x="6061478" y="4688284"/>
                  </a:lnTo>
                  <a:lnTo>
                    <a:pt x="0" y="4688284"/>
                  </a:lnTo>
                  <a:close/>
                </a:path>
              </a:pathLst>
            </a:custGeom>
            <a:blipFill>
              <a:blip r:embed="rId3">
                <a:alphaModFix amt="0"/>
              </a:blip>
              <a:stretch>
                <a:fillRect l="0" t="-73755" r="-246964" b="-1060"/>
              </a:stretch>
            </a:blipFill>
          </p:spPr>
        </p:sp>
        <p:sp>
          <p:nvSpPr>
            <p:cNvPr name="TextBox 15" id="15"/>
            <p:cNvSpPr txBox="true"/>
            <p:nvPr/>
          </p:nvSpPr>
          <p:spPr>
            <a:xfrm>
              <a:off x="0" y="-9525"/>
              <a:ext cx="6061478"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ML Integration</a:t>
              </a:r>
            </a:p>
          </p:txBody>
        </p:sp>
      </p:grpSp>
      <p:grpSp>
        <p:nvGrpSpPr>
          <p:cNvPr name="Group 16" id="16"/>
          <p:cNvGrpSpPr/>
          <p:nvPr/>
        </p:nvGrpSpPr>
        <p:grpSpPr>
          <a:xfrm rot="0">
            <a:off x="7683130" y="2639549"/>
            <a:ext cx="9781453" cy="6618751"/>
            <a:chOff x="0" y="0"/>
            <a:chExt cx="13041937" cy="8825001"/>
          </a:xfrm>
        </p:grpSpPr>
        <p:sp>
          <p:nvSpPr>
            <p:cNvPr name="Freeform 17" id="17"/>
            <p:cNvSpPr/>
            <p:nvPr/>
          </p:nvSpPr>
          <p:spPr>
            <a:xfrm flipH="false" flipV="false" rot="0">
              <a:off x="0" y="0"/>
              <a:ext cx="13041937" cy="8825001"/>
            </a:xfrm>
            <a:custGeom>
              <a:avLst/>
              <a:gdLst/>
              <a:ahLst/>
              <a:cxnLst/>
              <a:rect r="r" b="b" t="t" l="l"/>
              <a:pathLst>
                <a:path h="8825001" w="13041937">
                  <a:moveTo>
                    <a:pt x="0" y="240682"/>
                  </a:moveTo>
                  <a:cubicBezTo>
                    <a:pt x="0" y="107713"/>
                    <a:pt x="143918" y="0"/>
                    <a:pt x="321582" y="0"/>
                  </a:cubicBezTo>
                  <a:lnTo>
                    <a:pt x="12720355" y="0"/>
                  </a:lnTo>
                  <a:cubicBezTo>
                    <a:pt x="12898019" y="0"/>
                    <a:pt x="13041937" y="107713"/>
                    <a:pt x="13041937" y="240682"/>
                  </a:cubicBezTo>
                  <a:lnTo>
                    <a:pt x="13041937" y="8584319"/>
                  </a:lnTo>
                  <a:cubicBezTo>
                    <a:pt x="13041937" y="8717289"/>
                    <a:pt x="12898019" y="8825001"/>
                    <a:pt x="12720355" y="8825001"/>
                  </a:cubicBezTo>
                  <a:lnTo>
                    <a:pt x="321582" y="8825001"/>
                  </a:lnTo>
                  <a:cubicBezTo>
                    <a:pt x="143918" y="8825002"/>
                    <a:pt x="0" y="8717289"/>
                    <a:pt x="0" y="8584319"/>
                  </a:cubicBezTo>
                  <a:close/>
                </a:path>
              </a:pathLst>
            </a:custGeom>
            <a:solidFill>
              <a:srgbClr val="F3F6FD"/>
            </a:solidFill>
          </p:spPr>
        </p:sp>
      </p:grpSp>
      <p:grpSp>
        <p:nvGrpSpPr>
          <p:cNvPr name="Group 18" id="18"/>
          <p:cNvGrpSpPr/>
          <p:nvPr/>
        </p:nvGrpSpPr>
        <p:grpSpPr>
          <a:xfrm rot="0">
            <a:off x="8143681" y="3516213"/>
            <a:ext cx="8424619" cy="4746006"/>
            <a:chOff x="0" y="0"/>
            <a:chExt cx="11232825" cy="6328008"/>
          </a:xfrm>
        </p:grpSpPr>
        <p:sp>
          <p:nvSpPr>
            <p:cNvPr name="Freeform 19" id="19"/>
            <p:cNvSpPr/>
            <p:nvPr/>
          </p:nvSpPr>
          <p:spPr>
            <a:xfrm flipH="false" flipV="false" rot="0">
              <a:off x="0" y="0"/>
              <a:ext cx="11232825" cy="6328008"/>
            </a:xfrm>
            <a:custGeom>
              <a:avLst/>
              <a:gdLst/>
              <a:ahLst/>
              <a:cxnLst/>
              <a:rect r="r" b="b" t="t" l="l"/>
              <a:pathLst>
                <a:path h="6328008" w="11232825">
                  <a:moveTo>
                    <a:pt x="0" y="0"/>
                  </a:moveTo>
                  <a:lnTo>
                    <a:pt x="11232825" y="0"/>
                  </a:lnTo>
                  <a:lnTo>
                    <a:pt x="11232825" y="6328008"/>
                  </a:lnTo>
                  <a:lnTo>
                    <a:pt x="0" y="6328008"/>
                  </a:lnTo>
                  <a:close/>
                </a:path>
              </a:pathLst>
            </a:custGeom>
            <a:blipFill>
              <a:blip r:embed="rId3">
                <a:alphaModFix amt="0"/>
              </a:blip>
              <a:stretch>
                <a:fillRect l="-8593" t="0" r="41749" b="53759"/>
              </a:stretch>
            </a:blipFill>
          </p:spPr>
        </p:sp>
        <p:sp>
          <p:nvSpPr>
            <p:cNvPr name="TextBox 20" id="20"/>
            <p:cNvSpPr txBox="true"/>
            <p:nvPr/>
          </p:nvSpPr>
          <p:spPr>
            <a:xfrm>
              <a:off x="0" y="-104775"/>
              <a:ext cx="11232825" cy="6432783"/>
            </a:xfrm>
            <a:prstGeom prst="rect">
              <a:avLst/>
            </a:prstGeom>
          </p:spPr>
          <p:txBody>
            <a:bodyPr anchor="ctr" rtlCol="false" tIns="0" lIns="0" bIns="0" rIns="0"/>
            <a:lstStyle/>
            <a:p>
              <a:pPr algn="l">
                <a:lnSpc>
                  <a:spcPts val="4715"/>
                </a:lnSpc>
              </a:pPr>
              <a:r>
                <a:rPr lang="en-US" sz="3274" b="true">
                  <a:solidFill>
                    <a:srgbClr val="1B1B2F"/>
                  </a:solidFill>
                  <a:latin typeface="Arimo Bold"/>
                  <a:ea typeface="Arimo Bold"/>
                  <a:cs typeface="Arimo Bold"/>
                  <a:sym typeface="Arimo Bold"/>
                </a:rPr>
                <a:t>What is</a:t>
              </a:r>
              <a:r>
                <a:rPr lang="en-US" sz="3274" b="true">
                  <a:solidFill>
                    <a:srgbClr val="1B1B2F"/>
                  </a:solidFill>
                  <a:latin typeface="Arimo Bold"/>
                  <a:ea typeface="Arimo Bold"/>
                  <a:cs typeface="Arimo Bold"/>
                  <a:sym typeface="Arimo Bold"/>
                </a:rPr>
                <a:t> Gradient Boosting?</a:t>
              </a:r>
            </a:p>
            <a:p>
              <a:pPr algn="l">
                <a:lnSpc>
                  <a:spcPts val="4715"/>
                </a:lnSpc>
              </a:pPr>
              <a:r>
                <a:rPr lang="en-US" sz="3274">
                  <a:solidFill>
                    <a:srgbClr val="1B1B2F"/>
                  </a:solidFill>
                  <a:latin typeface="Arimo"/>
                  <a:ea typeface="Arimo"/>
                  <a:cs typeface="Arimo"/>
                  <a:sym typeface="Arimo"/>
                </a:rPr>
                <a:t>A powerful ensemble learning algorithm that builds 200 decision trees sequentially, where each tree learns from the mistakes of the previous one — resulting in a highly accurate final prediction.</a:t>
              </a:r>
            </a:p>
          </p:txBody>
        </p:sp>
      </p:grpSp>
      <p:grpSp>
        <p:nvGrpSpPr>
          <p:cNvPr name="Group 21" id="21"/>
          <p:cNvGrpSpPr/>
          <p:nvPr/>
        </p:nvGrpSpPr>
        <p:grpSpPr>
          <a:xfrm rot="0">
            <a:off x="455608" y="3758120"/>
            <a:ext cx="6439424" cy="4794861"/>
            <a:chOff x="0" y="0"/>
            <a:chExt cx="13455694" cy="10019248"/>
          </a:xfrm>
        </p:grpSpPr>
        <p:sp>
          <p:nvSpPr>
            <p:cNvPr name="Freeform 22" id="22"/>
            <p:cNvSpPr/>
            <p:nvPr/>
          </p:nvSpPr>
          <p:spPr>
            <a:xfrm flipH="false" flipV="false" rot="0">
              <a:off x="0" y="0"/>
              <a:ext cx="13455693" cy="10019247"/>
            </a:xfrm>
            <a:custGeom>
              <a:avLst/>
              <a:gdLst/>
              <a:ahLst/>
              <a:cxnLst/>
              <a:rect r="r" b="b" t="t" l="l"/>
              <a:pathLst>
                <a:path h="10019247" w="13455693">
                  <a:moveTo>
                    <a:pt x="0" y="0"/>
                  </a:moveTo>
                  <a:lnTo>
                    <a:pt x="13455693" y="0"/>
                  </a:lnTo>
                  <a:lnTo>
                    <a:pt x="13455693" y="10019247"/>
                  </a:lnTo>
                  <a:lnTo>
                    <a:pt x="0" y="10019247"/>
                  </a:lnTo>
                  <a:close/>
                </a:path>
              </a:pathLst>
            </a:custGeom>
            <a:blipFill>
              <a:blip r:embed="rId3">
                <a:alphaModFix amt="0"/>
              </a:blip>
              <a:stretch>
                <a:fillRect l="-7174" t="0" r="51372" b="70795"/>
              </a:stretch>
            </a:blipFill>
          </p:spPr>
        </p:sp>
        <p:sp>
          <p:nvSpPr>
            <p:cNvPr name="TextBox 23" id="23"/>
            <p:cNvSpPr txBox="true"/>
            <p:nvPr/>
          </p:nvSpPr>
          <p:spPr>
            <a:xfrm>
              <a:off x="0" y="-104775"/>
              <a:ext cx="13455694" cy="10124023"/>
            </a:xfrm>
            <a:prstGeom prst="rect">
              <a:avLst/>
            </a:prstGeom>
          </p:spPr>
          <p:txBody>
            <a:bodyPr anchor="ctr" rtlCol="false" tIns="0" lIns="0" bIns="0" rIns="0"/>
            <a:lstStyle/>
            <a:p>
              <a:pPr algn="l">
                <a:lnSpc>
                  <a:spcPts val="4708"/>
                </a:lnSpc>
              </a:pPr>
            </a:p>
            <a:p>
              <a:pPr algn="l" marL="705993" indent="-352996" lvl="1">
                <a:lnSpc>
                  <a:spcPts val="4708"/>
                </a:lnSpc>
                <a:buFont typeface="Arial"/>
                <a:buChar char="•"/>
              </a:pPr>
              <a:r>
                <a:rPr lang="en-US" b="true" sz="3270">
                  <a:solidFill>
                    <a:srgbClr val="1B1B2F"/>
                  </a:solidFill>
                  <a:latin typeface="Arimo Bold"/>
                  <a:ea typeface="Arimo Bold"/>
                  <a:cs typeface="Arimo Bold"/>
                  <a:sym typeface="Arimo Bold"/>
                </a:rPr>
                <a:t>Model 1 — Appointment Type Prediction</a:t>
              </a:r>
            </a:p>
            <a:p>
              <a:pPr algn="l">
                <a:lnSpc>
                  <a:spcPts val="4708"/>
                </a:lnSpc>
              </a:pPr>
            </a:p>
            <a:p>
              <a:pPr algn="l" marL="705993" indent="-352996" lvl="1">
                <a:lnSpc>
                  <a:spcPts val="4708"/>
                </a:lnSpc>
                <a:buFont typeface="Arial"/>
                <a:buChar char="•"/>
              </a:pPr>
              <a:r>
                <a:rPr lang="en-US" b="true" sz="3270">
                  <a:solidFill>
                    <a:srgbClr val="1B1B2F"/>
                  </a:solidFill>
                  <a:latin typeface="Arimo Bold"/>
                  <a:ea typeface="Arimo Bold"/>
                  <a:cs typeface="Arimo Bold"/>
                  <a:sym typeface="Arimo Bold"/>
                </a:rPr>
                <a:t>Model 2 — Doctor Risk Scoring &amp; Workload Balancing</a:t>
              </a:r>
            </a:p>
            <a:p>
              <a:pPr algn="l">
                <a:lnSpc>
                  <a:spcPts val="4708"/>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Machine Learning</a:t>
              </a:r>
            </a:p>
          </p:txBody>
        </p:sp>
      </p:grpSp>
      <p:grpSp>
        <p:nvGrpSpPr>
          <p:cNvPr name="Group 5" id="5"/>
          <p:cNvGrpSpPr/>
          <p:nvPr/>
        </p:nvGrpSpPr>
        <p:grpSpPr>
          <a:xfrm rot="0">
            <a:off x="822960" y="9820656"/>
            <a:ext cx="12344400" cy="411480"/>
            <a:chOff x="0" y="0"/>
            <a:chExt cx="16459200" cy="548640"/>
          </a:xfrm>
        </p:grpSpPr>
        <p:sp>
          <p:nvSpPr>
            <p:cNvPr name="Freeform 6" id="6"/>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7" id="7"/>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8" id="8"/>
          <p:cNvGrpSpPr/>
          <p:nvPr/>
        </p:nvGrpSpPr>
        <p:grpSpPr>
          <a:xfrm rot="0">
            <a:off x="16915943" y="9820656"/>
            <a:ext cx="548640" cy="411480"/>
            <a:chOff x="0" y="0"/>
            <a:chExt cx="731520" cy="548640"/>
          </a:xfrm>
        </p:grpSpPr>
        <p:sp>
          <p:nvSpPr>
            <p:cNvPr name="Freeform 9" id="9"/>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0" id="10"/>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7</a:t>
              </a:r>
            </a:p>
          </p:txBody>
        </p:sp>
      </p:grpSp>
      <p:grpSp>
        <p:nvGrpSpPr>
          <p:cNvPr name="Group 11" id="11"/>
          <p:cNvGrpSpPr/>
          <p:nvPr/>
        </p:nvGrpSpPr>
        <p:grpSpPr>
          <a:xfrm rot="0">
            <a:off x="583623" y="2270178"/>
            <a:ext cx="8399588" cy="7357492"/>
            <a:chOff x="0" y="0"/>
            <a:chExt cx="11199450" cy="9809989"/>
          </a:xfrm>
        </p:grpSpPr>
        <p:sp>
          <p:nvSpPr>
            <p:cNvPr name="Freeform 12" id="12"/>
            <p:cNvSpPr/>
            <p:nvPr/>
          </p:nvSpPr>
          <p:spPr>
            <a:xfrm flipH="false" flipV="false" rot="0">
              <a:off x="0" y="0"/>
              <a:ext cx="11199451" cy="9809989"/>
            </a:xfrm>
            <a:custGeom>
              <a:avLst/>
              <a:gdLst/>
              <a:ahLst/>
              <a:cxnLst/>
              <a:rect r="r" b="b" t="t" l="l"/>
              <a:pathLst>
                <a:path h="9809989" w="11199451">
                  <a:moveTo>
                    <a:pt x="0" y="267545"/>
                  </a:moveTo>
                  <a:cubicBezTo>
                    <a:pt x="0" y="119735"/>
                    <a:pt x="123586" y="0"/>
                    <a:pt x="276151" y="0"/>
                  </a:cubicBezTo>
                  <a:lnTo>
                    <a:pt x="10923300" y="0"/>
                  </a:lnTo>
                  <a:cubicBezTo>
                    <a:pt x="11075864" y="0"/>
                    <a:pt x="11199451" y="119735"/>
                    <a:pt x="11199451" y="267545"/>
                  </a:cubicBezTo>
                  <a:lnTo>
                    <a:pt x="11199451" y="9542444"/>
                  </a:lnTo>
                  <a:cubicBezTo>
                    <a:pt x="11199451" y="9690255"/>
                    <a:pt x="11075864" y="9809989"/>
                    <a:pt x="10923300" y="9809989"/>
                  </a:cubicBezTo>
                  <a:lnTo>
                    <a:pt x="276151" y="9809989"/>
                  </a:lnTo>
                  <a:cubicBezTo>
                    <a:pt x="123586" y="9809990"/>
                    <a:pt x="0" y="9690255"/>
                    <a:pt x="0" y="9542444"/>
                  </a:cubicBezTo>
                  <a:close/>
                </a:path>
              </a:pathLst>
            </a:custGeom>
            <a:solidFill>
              <a:srgbClr val="F3F6FD"/>
            </a:solidFill>
          </p:spPr>
        </p:sp>
      </p:grpSp>
      <p:grpSp>
        <p:nvGrpSpPr>
          <p:cNvPr name="Group 13" id="13"/>
          <p:cNvGrpSpPr/>
          <p:nvPr/>
        </p:nvGrpSpPr>
        <p:grpSpPr>
          <a:xfrm rot="0">
            <a:off x="822960" y="0"/>
            <a:ext cx="4546108" cy="3516213"/>
            <a:chOff x="0" y="0"/>
            <a:chExt cx="6061478" cy="4688284"/>
          </a:xfrm>
        </p:grpSpPr>
        <p:sp>
          <p:nvSpPr>
            <p:cNvPr name="Freeform 14" id="14"/>
            <p:cNvSpPr/>
            <p:nvPr/>
          </p:nvSpPr>
          <p:spPr>
            <a:xfrm flipH="false" flipV="false" rot="0">
              <a:off x="0" y="0"/>
              <a:ext cx="6061478" cy="4688284"/>
            </a:xfrm>
            <a:custGeom>
              <a:avLst/>
              <a:gdLst/>
              <a:ahLst/>
              <a:cxnLst/>
              <a:rect r="r" b="b" t="t" l="l"/>
              <a:pathLst>
                <a:path h="4688284" w="6061478">
                  <a:moveTo>
                    <a:pt x="0" y="0"/>
                  </a:moveTo>
                  <a:lnTo>
                    <a:pt x="6061478" y="0"/>
                  </a:lnTo>
                  <a:lnTo>
                    <a:pt x="6061478" y="4688284"/>
                  </a:lnTo>
                  <a:lnTo>
                    <a:pt x="0" y="4688284"/>
                  </a:lnTo>
                  <a:close/>
                </a:path>
              </a:pathLst>
            </a:custGeom>
            <a:blipFill>
              <a:blip r:embed="rId3">
                <a:alphaModFix amt="0"/>
              </a:blip>
              <a:stretch>
                <a:fillRect l="0" t="-73755" r="-246964" b="-1060"/>
              </a:stretch>
            </a:blipFill>
          </p:spPr>
        </p:sp>
        <p:sp>
          <p:nvSpPr>
            <p:cNvPr name="TextBox 15" id="15"/>
            <p:cNvSpPr txBox="true"/>
            <p:nvPr/>
          </p:nvSpPr>
          <p:spPr>
            <a:xfrm>
              <a:off x="0" y="-9525"/>
              <a:ext cx="6061478"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ML Integration</a:t>
              </a:r>
            </a:p>
          </p:txBody>
        </p:sp>
      </p:grpSp>
      <p:grpSp>
        <p:nvGrpSpPr>
          <p:cNvPr name="Group 16" id="16"/>
          <p:cNvGrpSpPr/>
          <p:nvPr/>
        </p:nvGrpSpPr>
        <p:grpSpPr>
          <a:xfrm rot="0">
            <a:off x="9144000" y="2270178"/>
            <a:ext cx="8616079" cy="7357492"/>
            <a:chOff x="0" y="0"/>
            <a:chExt cx="11488106" cy="9809989"/>
          </a:xfrm>
        </p:grpSpPr>
        <p:sp>
          <p:nvSpPr>
            <p:cNvPr name="Freeform 17" id="17"/>
            <p:cNvSpPr/>
            <p:nvPr/>
          </p:nvSpPr>
          <p:spPr>
            <a:xfrm flipH="false" flipV="false" rot="0">
              <a:off x="0" y="0"/>
              <a:ext cx="11488107" cy="9809989"/>
            </a:xfrm>
            <a:custGeom>
              <a:avLst/>
              <a:gdLst/>
              <a:ahLst/>
              <a:cxnLst/>
              <a:rect r="r" b="b" t="t" l="l"/>
              <a:pathLst>
                <a:path h="9809989" w="11488107">
                  <a:moveTo>
                    <a:pt x="0" y="267545"/>
                  </a:moveTo>
                  <a:cubicBezTo>
                    <a:pt x="0" y="119735"/>
                    <a:pt x="126771" y="0"/>
                    <a:pt x="283268" y="0"/>
                  </a:cubicBezTo>
                  <a:lnTo>
                    <a:pt x="11204838" y="0"/>
                  </a:lnTo>
                  <a:cubicBezTo>
                    <a:pt x="11361334" y="0"/>
                    <a:pt x="11488107" y="119735"/>
                    <a:pt x="11488107" y="267545"/>
                  </a:cubicBezTo>
                  <a:lnTo>
                    <a:pt x="11488107" y="9542444"/>
                  </a:lnTo>
                  <a:cubicBezTo>
                    <a:pt x="11488107" y="9690255"/>
                    <a:pt x="11361334" y="9809989"/>
                    <a:pt x="11204838" y="9809989"/>
                  </a:cubicBezTo>
                  <a:lnTo>
                    <a:pt x="283268" y="9809989"/>
                  </a:lnTo>
                  <a:cubicBezTo>
                    <a:pt x="126771" y="9809990"/>
                    <a:pt x="0" y="9690255"/>
                    <a:pt x="0" y="9542444"/>
                  </a:cubicBezTo>
                  <a:close/>
                </a:path>
              </a:pathLst>
            </a:custGeom>
            <a:solidFill>
              <a:srgbClr val="F3F6FD"/>
            </a:solidFill>
          </p:spPr>
        </p:sp>
      </p:grpSp>
      <p:grpSp>
        <p:nvGrpSpPr>
          <p:cNvPr name="Group 18" id="18"/>
          <p:cNvGrpSpPr/>
          <p:nvPr/>
        </p:nvGrpSpPr>
        <p:grpSpPr>
          <a:xfrm rot="0">
            <a:off x="9335461" y="2470609"/>
            <a:ext cx="8424619" cy="7157168"/>
            <a:chOff x="0" y="0"/>
            <a:chExt cx="11232825" cy="9542891"/>
          </a:xfrm>
        </p:grpSpPr>
        <p:sp>
          <p:nvSpPr>
            <p:cNvPr name="Freeform 19" id="19"/>
            <p:cNvSpPr/>
            <p:nvPr/>
          </p:nvSpPr>
          <p:spPr>
            <a:xfrm flipH="false" flipV="false" rot="0">
              <a:off x="0" y="0"/>
              <a:ext cx="11232825" cy="9542891"/>
            </a:xfrm>
            <a:custGeom>
              <a:avLst/>
              <a:gdLst/>
              <a:ahLst/>
              <a:cxnLst/>
              <a:rect r="r" b="b" t="t" l="l"/>
              <a:pathLst>
                <a:path h="9542891" w="11232825">
                  <a:moveTo>
                    <a:pt x="0" y="0"/>
                  </a:moveTo>
                  <a:lnTo>
                    <a:pt x="11232825" y="0"/>
                  </a:lnTo>
                  <a:lnTo>
                    <a:pt x="11232825" y="9542891"/>
                  </a:lnTo>
                  <a:lnTo>
                    <a:pt x="0" y="9542891"/>
                  </a:lnTo>
                  <a:close/>
                </a:path>
              </a:pathLst>
            </a:custGeom>
            <a:blipFill>
              <a:blip r:embed="rId3">
                <a:alphaModFix amt="0"/>
              </a:blip>
              <a:stretch>
                <a:fillRect l="-8593" t="0" r="41749" b="69337"/>
              </a:stretch>
            </a:blipFill>
          </p:spPr>
        </p:sp>
        <p:sp>
          <p:nvSpPr>
            <p:cNvPr name="TextBox 20" id="20"/>
            <p:cNvSpPr txBox="true"/>
            <p:nvPr/>
          </p:nvSpPr>
          <p:spPr>
            <a:xfrm>
              <a:off x="0" y="-104775"/>
              <a:ext cx="11232825" cy="9647666"/>
            </a:xfrm>
            <a:prstGeom prst="rect">
              <a:avLst/>
            </a:prstGeom>
          </p:spPr>
          <p:txBody>
            <a:bodyPr anchor="ctr" rtlCol="false" tIns="0" lIns="0" bIns="0" rIns="0"/>
            <a:lstStyle/>
            <a:p>
              <a:pPr algn="l">
                <a:lnSpc>
                  <a:spcPts val="4715"/>
                </a:lnSpc>
              </a:pPr>
              <a:r>
                <a:rPr lang="en-US" sz="3274" b="true">
                  <a:solidFill>
                    <a:srgbClr val="1B1B2F"/>
                  </a:solidFill>
                  <a:latin typeface="Arimo Bold"/>
                  <a:ea typeface="Arimo Bold"/>
                  <a:cs typeface="Arimo Bold"/>
                  <a:sym typeface="Arimo Bold"/>
                </a:rPr>
                <a:t>Model 2 — Doctor Risk</a:t>
              </a:r>
              <a:r>
                <a:rPr lang="en-US" sz="3274" b="true">
                  <a:solidFill>
                    <a:srgbClr val="1B1B2F"/>
                  </a:solidFill>
                  <a:latin typeface="Arimo Bold"/>
                  <a:ea typeface="Arimo Bold"/>
                  <a:cs typeface="Arimo Bold"/>
                  <a:sym typeface="Arimo Bold"/>
                </a:rPr>
                <a:t> Scoring &amp; Workload Balancing</a:t>
              </a:r>
            </a:p>
            <a:p>
              <a:pPr algn="l">
                <a:lnSpc>
                  <a:spcPts val="4715"/>
                </a:lnSpc>
              </a:pPr>
              <a:r>
                <a:rPr lang="en-US" sz="3274">
                  <a:solidFill>
                    <a:srgbClr val="1B1B2F"/>
                  </a:solidFill>
                  <a:latin typeface="Arimo"/>
                  <a:ea typeface="Arimo"/>
                  <a:cs typeface="Arimo"/>
                  <a:sym typeface="Arimo"/>
                </a:rPr>
                <a:t>Input: Age, Medical Condition, Test Results</a:t>
              </a:r>
            </a:p>
            <a:p>
              <a:pPr algn="l">
                <a:lnSpc>
                  <a:spcPts val="4715"/>
                </a:lnSpc>
              </a:pPr>
              <a:r>
                <a:rPr lang="en-US" sz="3274">
                  <a:solidFill>
                    <a:srgbClr val="1B1B2F"/>
                  </a:solidFill>
                  <a:latin typeface="Arimo"/>
                  <a:ea typeface="Arimo"/>
                  <a:cs typeface="Arimo"/>
                  <a:sym typeface="Arimo"/>
                </a:rPr>
                <a:t>Output: Low | Moderate | High | Critical</a:t>
              </a:r>
            </a:p>
            <a:p>
              <a:pPr algn="l">
                <a:lnSpc>
                  <a:spcPts val="4715"/>
                </a:lnSpc>
              </a:pPr>
              <a:r>
                <a:rPr lang="en-US" sz="3274">
                  <a:solidFill>
                    <a:srgbClr val="1B1B2F"/>
                  </a:solidFill>
                  <a:latin typeface="Arimo"/>
                  <a:ea typeface="Arimo"/>
                  <a:cs typeface="Arimo"/>
                  <a:sym typeface="Arimo"/>
                </a:rPr>
                <a:t>Steps:</a:t>
              </a:r>
            </a:p>
            <a:p>
              <a:pPr algn="l" marL="707065" indent="-353532" lvl="1">
                <a:lnSpc>
                  <a:spcPts val="4715"/>
                </a:lnSpc>
                <a:buAutoNum type="arabicPeriod" startAt="1"/>
              </a:pPr>
              <a:r>
                <a:rPr lang="en-US" sz="3274">
                  <a:solidFill>
                    <a:srgbClr val="1B1B2F"/>
                  </a:solidFill>
                  <a:latin typeface="Arimo"/>
                  <a:ea typeface="Arimo"/>
                  <a:cs typeface="Arimo"/>
                  <a:sym typeface="Arimo"/>
                </a:rPr>
                <a:t>Each active patient of a doctor is risk-scored (0–100)</a:t>
              </a:r>
            </a:p>
            <a:p>
              <a:pPr algn="l" marL="707065" indent="-353532" lvl="1">
                <a:lnSpc>
                  <a:spcPts val="4715"/>
                </a:lnSpc>
                <a:buAutoNum type="arabicPeriod" startAt="1"/>
              </a:pPr>
              <a:r>
                <a:rPr lang="en-US" sz="3274">
                  <a:solidFill>
                    <a:srgbClr val="1B1B2F"/>
                  </a:solidFill>
                  <a:latin typeface="Arimo"/>
                  <a:ea typeface="Arimo"/>
                  <a:cs typeface="Arimo"/>
                  <a:sym typeface="Arimo"/>
                </a:rPr>
                <a:t>Average risk score is calculated per doctor</a:t>
              </a:r>
            </a:p>
            <a:p>
              <a:pPr algn="l" marL="707065" indent="-353532" lvl="1">
                <a:lnSpc>
                  <a:spcPts val="4715"/>
                </a:lnSpc>
                <a:buAutoNum type="arabicPeriod" startAt="1"/>
              </a:pPr>
              <a:r>
                <a:rPr lang="en-US" sz="3274">
                  <a:solidFill>
                    <a:srgbClr val="1B1B2F"/>
                  </a:solidFill>
                  <a:latin typeface="Arimo"/>
                  <a:ea typeface="Arimo"/>
                  <a:cs typeface="Arimo"/>
                  <a:sym typeface="Arimo"/>
                </a:rPr>
                <a:t>Doctor with lowest score is recommended for new appointment</a:t>
              </a:r>
            </a:p>
            <a:p>
              <a:pPr algn="l">
                <a:lnSpc>
                  <a:spcPts val="4715"/>
                </a:lnSpc>
              </a:pPr>
            </a:p>
          </p:txBody>
        </p:sp>
      </p:grpSp>
      <p:grpSp>
        <p:nvGrpSpPr>
          <p:cNvPr name="Group 21" id="21"/>
          <p:cNvGrpSpPr/>
          <p:nvPr/>
        </p:nvGrpSpPr>
        <p:grpSpPr>
          <a:xfrm rot="0">
            <a:off x="744412" y="2470609"/>
            <a:ext cx="8238798" cy="7157061"/>
            <a:chOff x="0" y="0"/>
            <a:chExt cx="21480012" cy="18659733"/>
          </a:xfrm>
        </p:grpSpPr>
        <p:sp>
          <p:nvSpPr>
            <p:cNvPr name="Freeform 22" id="22"/>
            <p:cNvSpPr/>
            <p:nvPr/>
          </p:nvSpPr>
          <p:spPr>
            <a:xfrm flipH="false" flipV="false" rot="0">
              <a:off x="0" y="0"/>
              <a:ext cx="21480013" cy="18659732"/>
            </a:xfrm>
            <a:custGeom>
              <a:avLst/>
              <a:gdLst/>
              <a:ahLst/>
              <a:cxnLst/>
              <a:rect r="r" b="b" t="t" l="l"/>
              <a:pathLst>
                <a:path h="18659732" w="21480013">
                  <a:moveTo>
                    <a:pt x="0" y="0"/>
                  </a:moveTo>
                  <a:lnTo>
                    <a:pt x="21480013" y="0"/>
                  </a:lnTo>
                  <a:lnTo>
                    <a:pt x="21480013" y="18659732"/>
                  </a:lnTo>
                  <a:lnTo>
                    <a:pt x="0" y="18659732"/>
                  </a:lnTo>
                  <a:close/>
                </a:path>
              </a:pathLst>
            </a:custGeom>
            <a:blipFill>
              <a:blip r:embed="rId3">
                <a:alphaModFix amt="0"/>
              </a:blip>
              <a:stretch>
                <a:fillRect l="-4494" t="0" r="69538" b="84318"/>
              </a:stretch>
            </a:blipFill>
          </p:spPr>
        </p:sp>
        <p:sp>
          <p:nvSpPr>
            <p:cNvPr name="TextBox 23" id="23"/>
            <p:cNvSpPr txBox="true"/>
            <p:nvPr/>
          </p:nvSpPr>
          <p:spPr>
            <a:xfrm>
              <a:off x="0" y="-104775"/>
              <a:ext cx="21480012" cy="18764508"/>
            </a:xfrm>
            <a:prstGeom prst="rect">
              <a:avLst/>
            </a:prstGeom>
          </p:spPr>
          <p:txBody>
            <a:bodyPr anchor="ctr" rtlCol="false" tIns="0" lIns="0" bIns="0" rIns="0"/>
            <a:lstStyle/>
            <a:p>
              <a:pPr algn="l">
                <a:lnSpc>
                  <a:spcPts val="4708"/>
                </a:lnSpc>
              </a:pPr>
              <a:r>
                <a:rPr lang="en-US" sz="3270" b="true">
                  <a:solidFill>
                    <a:srgbClr val="1B1B2F"/>
                  </a:solidFill>
                  <a:latin typeface="Arimo Bold"/>
                  <a:ea typeface="Arimo Bold"/>
                  <a:cs typeface="Arimo Bold"/>
                  <a:sym typeface="Arimo Bold"/>
                </a:rPr>
                <a:t>Model 1 — Appointment Type Prediction</a:t>
              </a:r>
            </a:p>
            <a:p>
              <a:pPr algn="l">
                <a:lnSpc>
                  <a:spcPts val="4708"/>
                </a:lnSpc>
              </a:pPr>
              <a:r>
                <a:rPr lang="en-US" sz="3270">
                  <a:solidFill>
                    <a:srgbClr val="1B1B2F"/>
                  </a:solidFill>
                  <a:latin typeface="Arimo"/>
                  <a:ea typeface="Arimo"/>
                  <a:cs typeface="Arimo"/>
                  <a:sym typeface="Arimo"/>
                </a:rPr>
                <a:t>Input: Age, Gender,</a:t>
              </a:r>
              <a:r>
                <a:rPr lang="en-US" sz="3270">
                  <a:solidFill>
                    <a:srgbClr val="1B1B2F"/>
                  </a:solidFill>
                  <a:latin typeface="Arimo"/>
                  <a:ea typeface="Arimo"/>
                  <a:cs typeface="Arimo"/>
                  <a:sym typeface="Arimo"/>
                </a:rPr>
                <a:t> </a:t>
              </a:r>
              <a:r>
                <a:rPr lang="en-US" sz="3270">
                  <a:solidFill>
                    <a:srgbClr val="1B1B2F"/>
                  </a:solidFill>
                  <a:latin typeface="Arimo"/>
                  <a:ea typeface="Arimo"/>
                  <a:cs typeface="Arimo"/>
                  <a:sym typeface="Arimo"/>
                </a:rPr>
                <a:t>Blood</a:t>
              </a:r>
              <a:r>
                <a:rPr lang="en-US" sz="3270">
                  <a:solidFill>
                    <a:srgbClr val="1B1B2F"/>
                  </a:solidFill>
                  <a:latin typeface="Arimo"/>
                  <a:ea typeface="Arimo"/>
                  <a:cs typeface="Arimo"/>
                  <a:sym typeface="Arimo"/>
                </a:rPr>
                <a:t> </a:t>
              </a:r>
              <a:r>
                <a:rPr lang="en-US" sz="3270">
                  <a:solidFill>
                    <a:srgbClr val="1B1B2F"/>
                  </a:solidFill>
                  <a:latin typeface="Arimo"/>
                  <a:ea typeface="Arimo"/>
                  <a:cs typeface="Arimo"/>
                  <a:sym typeface="Arimo"/>
                </a:rPr>
                <a:t>Type, Medical C</a:t>
              </a:r>
              <a:r>
                <a:rPr lang="en-US" sz="3270">
                  <a:solidFill>
                    <a:srgbClr val="1B1B2F"/>
                  </a:solidFill>
                  <a:latin typeface="Arimo"/>
                  <a:ea typeface="Arimo"/>
                  <a:cs typeface="Arimo"/>
                  <a:sym typeface="Arimo"/>
                </a:rPr>
                <a:t>o</a:t>
              </a:r>
              <a:r>
                <a:rPr lang="en-US" sz="3270">
                  <a:solidFill>
                    <a:srgbClr val="1B1B2F"/>
                  </a:solidFill>
                  <a:latin typeface="Arimo"/>
                  <a:ea typeface="Arimo"/>
                  <a:cs typeface="Arimo"/>
                  <a:sym typeface="Arimo"/>
                </a:rPr>
                <a:t>ndition, Medi</a:t>
              </a:r>
              <a:r>
                <a:rPr lang="en-US" sz="3270">
                  <a:solidFill>
                    <a:srgbClr val="1B1B2F"/>
                  </a:solidFill>
                  <a:latin typeface="Arimo"/>
                  <a:ea typeface="Arimo"/>
                  <a:cs typeface="Arimo"/>
                  <a:sym typeface="Arimo"/>
                </a:rPr>
                <a:t>c</a:t>
              </a:r>
              <a:r>
                <a:rPr lang="en-US" sz="3270">
                  <a:solidFill>
                    <a:srgbClr val="1B1B2F"/>
                  </a:solidFill>
                  <a:latin typeface="Arimo"/>
                  <a:ea typeface="Arimo"/>
                  <a:cs typeface="Arimo"/>
                  <a:sym typeface="Arimo"/>
                </a:rPr>
                <a:t>a</a:t>
              </a:r>
              <a:r>
                <a:rPr lang="en-US" sz="3270">
                  <a:solidFill>
                    <a:srgbClr val="1B1B2F"/>
                  </a:solidFill>
                  <a:latin typeface="Arimo"/>
                  <a:ea typeface="Arimo"/>
                  <a:cs typeface="Arimo"/>
                  <a:sym typeface="Arimo"/>
                </a:rPr>
                <a:t>t</a:t>
              </a:r>
              <a:r>
                <a:rPr lang="en-US" sz="3270">
                  <a:solidFill>
                    <a:srgbClr val="1B1B2F"/>
                  </a:solidFill>
                  <a:latin typeface="Arimo"/>
                  <a:ea typeface="Arimo"/>
                  <a:cs typeface="Arimo"/>
                  <a:sym typeface="Arimo"/>
                </a:rPr>
                <a:t>i</a:t>
              </a:r>
              <a:r>
                <a:rPr lang="en-US" sz="3270">
                  <a:solidFill>
                    <a:srgbClr val="1B1B2F"/>
                  </a:solidFill>
                  <a:latin typeface="Arimo"/>
                  <a:ea typeface="Arimo"/>
                  <a:cs typeface="Arimo"/>
                  <a:sym typeface="Arimo"/>
                </a:rPr>
                <a:t>o</a:t>
              </a:r>
              <a:r>
                <a:rPr lang="en-US" sz="3270">
                  <a:solidFill>
                    <a:srgbClr val="1B1B2F"/>
                  </a:solidFill>
                  <a:latin typeface="Arimo"/>
                  <a:ea typeface="Arimo"/>
                  <a:cs typeface="Arimo"/>
                  <a:sym typeface="Arimo"/>
                </a:rPr>
                <a:t>n, Test</a:t>
              </a:r>
              <a:r>
                <a:rPr lang="en-US" sz="3270">
                  <a:solidFill>
                    <a:srgbClr val="1B1B2F"/>
                  </a:solidFill>
                  <a:latin typeface="Arimo"/>
                  <a:ea typeface="Arimo"/>
                  <a:cs typeface="Arimo"/>
                  <a:sym typeface="Arimo"/>
                </a:rPr>
                <a:t> R</a:t>
              </a:r>
              <a:r>
                <a:rPr lang="en-US" sz="3270">
                  <a:solidFill>
                    <a:srgbClr val="1B1B2F"/>
                  </a:solidFill>
                  <a:latin typeface="Arimo"/>
                  <a:ea typeface="Arimo"/>
                  <a:cs typeface="Arimo"/>
                  <a:sym typeface="Arimo"/>
                </a:rPr>
                <a:t>e</a:t>
              </a:r>
              <a:r>
                <a:rPr lang="en-US" sz="3270">
                  <a:solidFill>
                    <a:srgbClr val="1B1B2F"/>
                  </a:solidFill>
                  <a:latin typeface="Arimo"/>
                  <a:ea typeface="Arimo"/>
                  <a:cs typeface="Arimo"/>
                  <a:sym typeface="Arimo"/>
                </a:rPr>
                <a:t>s</a:t>
              </a:r>
              <a:r>
                <a:rPr lang="en-US" sz="3270">
                  <a:solidFill>
                    <a:srgbClr val="1B1B2F"/>
                  </a:solidFill>
                  <a:latin typeface="Arimo"/>
                  <a:ea typeface="Arimo"/>
                  <a:cs typeface="Arimo"/>
                  <a:sym typeface="Arimo"/>
                </a:rPr>
                <a:t>ults</a:t>
              </a:r>
            </a:p>
            <a:p>
              <a:pPr algn="l">
                <a:lnSpc>
                  <a:spcPts val="4708"/>
                </a:lnSpc>
              </a:pPr>
              <a:r>
                <a:rPr lang="en-US" sz="3270">
                  <a:solidFill>
                    <a:srgbClr val="1B1B2F"/>
                  </a:solidFill>
                  <a:latin typeface="Arimo"/>
                  <a:ea typeface="Arimo"/>
                  <a:cs typeface="Arimo"/>
                  <a:sym typeface="Arimo"/>
                </a:rPr>
                <a:t>Output:</a:t>
              </a:r>
              <a:r>
                <a:rPr lang="en-US" sz="3270">
                  <a:solidFill>
                    <a:srgbClr val="1B1B2F"/>
                  </a:solidFill>
                  <a:latin typeface="Arimo"/>
                  <a:ea typeface="Arimo"/>
                  <a:cs typeface="Arimo"/>
                  <a:sym typeface="Arimo"/>
                </a:rPr>
                <a:t> </a:t>
              </a:r>
              <a:r>
                <a:rPr lang="en-US" sz="3270">
                  <a:solidFill>
                    <a:srgbClr val="1B1B2F"/>
                  </a:solidFill>
                  <a:latin typeface="Arimo"/>
                  <a:ea typeface="Arimo"/>
                  <a:cs typeface="Arimo"/>
                  <a:sym typeface="Arimo"/>
                </a:rPr>
                <a:t>Emergen</a:t>
              </a:r>
              <a:r>
                <a:rPr lang="en-US" sz="3270">
                  <a:solidFill>
                    <a:srgbClr val="1B1B2F"/>
                  </a:solidFill>
                  <a:latin typeface="Arimo"/>
                  <a:ea typeface="Arimo"/>
                  <a:cs typeface="Arimo"/>
                  <a:sym typeface="Arimo"/>
                </a:rPr>
                <a:t>c</a:t>
              </a:r>
              <a:r>
                <a:rPr lang="en-US" sz="3270">
                  <a:solidFill>
                    <a:srgbClr val="1B1B2F"/>
                  </a:solidFill>
                  <a:latin typeface="Arimo"/>
                  <a:ea typeface="Arimo"/>
                  <a:cs typeface="Arimo"/>
                  <a:sym typeface="Arimo"/>
                </a:rPr>
                <a:t>y | C</a:t>
              </a:r>
              <a:r>
                <a:rPr lang="en-US" sz="3270">
                  <a:solidFill>
                    <a:srgbClr val="1B1B2F"/>
                  </a:solidFill>
                  <a:latin typeface="Arimo"/>
                  <a:ea typeface="Arimo"/>
                  <a:cs typeface="Arimo"/>
                  <a:sym typeface="Arimo"/>
                </a:rPr>
                <a:t>o</a:t>
              </a:r>
              <a:r>
                <a:rPr lang="en-US" sz="3270">
                  <a:solidFill>
                    <a:srgbClr val="1B1B2F"/>
                  </a:solidFill>
                  <a:latin typeface="Arimo"/>
                  <a:ea typeface="Arimo"/>
                  <a:cs typeface="Arimo"/>
                  <a:sym typeface="Arimo"/>
                </a:rPr>
                <a:t>nsultation | Follow-up | Gene</a:t>
              </a:r>
              <a:r>
                <a:rPr lang="en-US" sz="3270">
                  <a:solidFill>
                    <a:srgbClr val="1B1B2F"/>
                  </a:solidFill>
                  <a:latin typeface="Arimo"/>
                  <a:ea typeface="Arimo"/>
                  <a:cs typeface="Arimo"/>
                  <a:sym typeface="Arimo"/>
                </a:rPr>
                <a:t>r</a:t>
              </a:r>
              <a:r>
                <a:rPr lang="en-US" sz="3270">
                  <a:solidFill>
                    <a:srgbClr val="1B1B2F"/>
                  </a:solidFill>
                  <a:latin typeface="Arimo"/>
                  <a:ea typeface="Arimo"/>
                  <a:cs typeface="Arimo"/>
                  <a:sym typeface="Arimo"/>
                </a:rPr>
                <a:t>al Checkup | Vacc</a:t>
              </a:r>
              <a:r>
                <a:rPr lang="en-US" sz="3270">
                  <a:solidFill>
                    <a:srgbClr val="1B1B2F"/>
                  </a:solidFill>
                  <a:latin typeface="Arimo"/>
                  <a:ea typeface="Arimo"/>
                  <a:cs typeface="Arimo"/>
                  <a:sym typeface="Arimo"/>
                </a:rPr>
                <a:t>in</a:t>
              </a:r>
              <a:r>
                <a:rPr lang="en-US" sz="3270">
                  <a:solidFill>
                    <a:srgbClr val="1B1B2F"/>
                  </a:solidFill>
                  <a:latin typeface="Arimo"/>
                  <a:ea typeface="Arimo"/>
                  <a:cs typeface="Arimo"/>
                  <a:sym typeface="Arimo"/>
                </a:rPr>
                <a:t>ation</a:t>
              </a:r>
            </a:p>
            <a:p>
              <a:pPr algn="l">
                <a:lnSpc>
                  <a:spcPts val="4708"/>
                </a:lnSpc>
              </a:pPr>
              <a:r>
                <a:rPr lang="en-US" sz="3270">
                  <a:solidFill>
                    <a:srgbClr val="1B1B2F"/>
                  </a:solidFill>
                  <a:latin typeface="Arimo"/>
                  <a:ea typeface="Arimo"/>
                  <a:cs typeface="Arimo"/>
                  <a:sym typeface="Arimo"/>
                </a:rPr>
                <a:t>S</a:t>
              </a:r>
              <a:r>
                <a:rPr lang="en-US" sz="3270">
                  <a:solidFill>
                    <a:srgbClr val="1B1B2F"/>
                  </a:solidFill>
                  <a:latin typeface="Arimo"/>
                  <a:ea typeface="Arimo"/>
                  <a:cs typeface="Arimo"/>
                  <a:sym typeface="Arimo"/>
                </a:rPr>
                <a:t>teps:</a:t>
              </a:r>
            </a:p>
            <a:p>
              <a:pPr algn="l" marL="705993" indent="-352996" lvl="1">
                <a:lnSpc>
                  <a:spcPts val="4708"/>
                </a:lnSpc>
                <a:buAutoNum type="arabicPeriod" startAt="1"/>
              </a:pPr>
              <a:r>
                <a:rPr lang="en-US" sz="3270">
                  <a:solidFill>
                    <a:srgbClr val="1B1B2F"/>
                  </a:solidFill>
                  <a:latin typeface="Arimo"/>
                  <a:ea typeface="Arimo"/>
                  <a:cs typeface="Arimo"/>
                  <a:sym typeface="Arimo"/>
                </a:rPr>
                <a:t>Patient pr</a:t>
              </a:r>
              <a:r>
                <a:rPr lang="en-US" sz="3270">
                  <a:solidFill>
                    <a:srgbClr val="1B1B2F"/>
                  </a:solidFill>
                  <a:latin typeface="Arimo"/>
                  <a:ea typeface="Arimo"/>
                  <a:cs typeface="Arimo"/>
                  <a:sym typeface="Arimo"/>
                </a:rPr>
                <a:t>o</a:t>
              </a:r>
              <a:r>
                <a:rPr lang="en-US" sz="3270">
                  <a:solidFill>
                    <a:srgbClr val="1B1B2F"/>
                  </a:solidFill>
                  <a:latin typeface="Arimo"/>
                  <a:ea typeface="Arimo"/>
                  <a:cs typeface="Arimo"/>
                  <a:sym typeface="Arimo"/>
                </a:rPr>
                <a:t>file is p</a:t>
              </a:r>
              <a:r>
                <a:rPr lang="en-US" sz="3270">
                  <a:solidFill>
                    <a:srgbClr val="1B1B2F"/>
                  </a:solidFill>
                  <a:latin typeface="Arimo"/>
                  <a:ea typeface="Arimo"/>
                  <a:cs typeface="Arimo"/>
                  <a:sym typeface="Arimo"/>
                </a:rPr>
                <a:t>a</a:t>
              </a:r>
              <a:r>
                <a:rPr lang="en-US" sz="3270">
                  <a:solidFill>
                    <a:srgbClr val="1B1B2F"/>
                  </a:solidFill>
                  <a:latin typeface="Arimo"/>
                  <a:ea typeface="Arimo"/>
                  <a:cs typeface="Arimo"/>
                  <a:sym typeface="Arimo"/>
                </a:rPr>
                <a:t>sse</a:t>
              </a:r>
              <a:r>
                <a:rPr lang="en-US" sz="3270">
                  <a:solidFill>
                    <a:srgbClr val="1B1B2F"/>
                  </a:solidFill>
                  <a:latin typeface="Arimo"/>
                  <a:ea typeface="Arimo"/>
                  <a:cs typeface="Arimo"/>
                  <a:sym typeface="Arimo"/>
                </a:rPr>
                <a:t>d </a:t>
              </a:r>
              <a:r>
                <a:rPr lang="en-US" sz="3270">
                  <a:solidFill>
                    <a:srgbClr val="1B1B2F"/>
                  </a:solidFill>
                  <a:latin typeface="Arimo"/>
                  <a:ea typeface="Arimo"/>
                  <a:cs typeface="Arimo"/>
                  <a:sym typeface="Arimo"/>
                </a:rPr>
                <a:t>as input</a:t>
              </a:r>
            </a:p>
            <a:p>
              <a:pPr algn="l" marL="705993" indent="-352996" lvl="1">
                <a:lnSpc>
                  <a:spcPts val="4708"/>
                </a:lnSpc>
                <a:buAutoNum type="arabicPeriod" startAt="1"/>
              </a:pPr>
              <a:r>
                <a:rPr lang="en-US" sz="3270">
                  <a:solidFill>
                    <a:srgbClr val="1B1B2F"/>
                  </a:solidFill>
                  <a:latin typeface="Arimo"/>
                  <a:ea typeface="Arimo"/>
                  <a:cs typeface="Arimo"/>
                  <a:sym typeface="Arimo"/>
                </a:rPr>
                <a:t>200 t</a:t>
              </a:r>
              <a:r>
                <a:rPr lang="en-US" sz="3270">
                  <a:solidFill>
                    <a:srgbClr val="1B1B2F"/>
                  </a:solidFill>
                  <a:latin typeface="Arimo"/>
                  <a:ea typeface="Arimo"/>
                  <a:cs typeface="Arimo"/>
                  <a:sym typeface="Arimo"/>
                </a:rPr>
                <a:t>rees an</a:t>
              </a:r>
              <a:r>
                <a:rPr lang="en-US" sz="3270">
                  <a:solidFill>
                    <a:srgbClr val="1B1B2F"/>
                  </a:solidFill>
                  <a:latin typeface="Arimo"/>
                  <a:ea typeface="Arimo"/>
                  <a:cs typeface="Arimo"/>
                  <a:sym typeface="Arimo"/>
                </a:rPr>
                <a:t>al</a:t>
              </a:r>
              <a:r>
                <a:rPr lang="en-US" sz="3270">
                  <a:solidFill>
                    <a:srgbClr val="1B1B2F"/>
                  </a:solidFill>
                  <a:latin typeface="Arimo"/>
                  <a:ea typeface="Arimo"/>
                  <a:cs typeface="Arimo"/>
                  <a:sym typeface="Arimo"/>
                </a:rPr>
                <a:t>yze and correct each other's predictio</a:t>
              </a:r>
              <a:r>
                <a:rPr lang="en-US" sz="3270">
                  <a:solidFill>
                    <a:srgbClr val="1B1B2F"/>
                  </a:solidFill>
                  <a:latin typeface="Arimo"/>
                  <a:ea typeface="Arimo"/>
                  <a:cs typeface="Arimo"/>
                  <a:sym typeface="Arimo"/>
                </a:rPr>
                <a:t>n</a:t>
              </a:r>
              <a:r>
                <a:rPr lang="en-US" sz="3270">
                  <a:solidFill>
                    <a:srgbClr val="1B1B2F"/>
                  </a:solidFill>
                  <a:latin typeface="Arimo"/>
                  <a:ea typeface="Arimo"/>
                  <a:cs typeface="Arimo"/>
                  <a:sym typeface="Arimo"/>
                </a:rPr>
                <a:t>s</a:t>
              </a:r>
            </a:p>
            <a:p>
              <a:pPr algn="l" marL="705993" indent="-352996" lvl="1">
                <a:lnSpc>
                  <a:spcPts val="4708"/>
                </a:lnSpc>
                <a:buAutoNum type="arabicPeriod" startAt="1"/>
              </a:pPr>
              <a:r>
                <a:rPr lang="en-US" sz="3270">
                  <a:solidFill>
                    <a:srgbClr val="1B1B2F"/>
                  </a:solidFill>
                  <a:latin typeface="Arimo"/>
                  <a:ea typeface="Arimo"/>
                  <a:cs typeface="Arimo"/>
                  <a:sym typeface="Arimo"/>
                </a:rPr>
                <a:t>Final appointment type is suggested with confidence score</a:t>
              </a:r>
            </a:p>
            <a:p>
              <a:pPr algn="l">
                <a:lnSpc>
                  <a:spcPts val="4708"/>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IMPLEMENTATION</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Database Models — Draft Schema</a:t>
              </a:r>
            </a:p>
          </p:txBody>
        </p:sp>
      </p:grpSp>
      <p:graphicFrame>
        <p:nvGraphicFramePr>
          <p:cNvPr name="Table 8" id="8"/>
          <p:cNvGraphicFramePr>
            <a:graphicFrameLocks noGrp="true"/>
          </p:cNvGraphicFramePr>
          <p:nvPr/>
        </p:nvGraphicFramePr>
        <p:xfrm>
          <a:off x="822960" y="2606040"/>
          <a:ext cx="15906750" cy="4914900"/>
        </p:xfrm>
        <a:graphic>
          <a:graphicData uri="http://schemas.openxmlformats.org/drawingml/2006/table">
            <a:tbl>
              <a:tblPr/>
              <a:tblGrid>
                <a:gridCol w="4150243"/>
                <a:gridCol w="11756507"/>
              </a:tblGrid>
              <a:tr h="819150">
                <a:tc>
                  <a:txBody>
                    <a:bodyPr anchor="t" rtlCol="false"/>
                    <a:lstStyle/>
                    <a:p>
                      <a:pPr algn="l">
                        <a:lnSpc>
                          <a:spcPts val="3120"/>
                        </a:lnSpc>
                        <a:defRPr/>
                      </a:pPr>
                      <a:r>
                        <a:rPr lang="en-US" sz="2600" b="true">
                          <a:solidFill>
                            <a:srgbClr val="FFFFFF"/>
                          </a:solidFill>
                          <a:latin typeface="Arimo Bold"/>
                          <a:ea typeface="Arimo Bold"/>
                          <a:cs typeface="Arimo Bold"/>
                          <a:sym typeface="Arimo Bold"/>
                        </a:rPr>
                        <a:t>Model</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1E2761"/>
                    </a:solidFill>
                  </a:tcPr>
                </a:tc>
                <a:tc>
                  <a:txBody>
                    <a:bodyPr anchor="t" rtlCol="false"/>
                    <a:lstStyle/>
                    <a:p>
                      <a:pPr algn="l">
                        <a:lnSpc>
                          <a:spcPts val="3120"/>
                        </a:lnSpc>
                        <a:defRPr/>
                      </a:pPr>
                      <a:r>
                        <a:rPr lang="en-US" sz="2600" b="true">
                          <a:solidFill>
                            <a:srgbClr val="FFFFFF"/>
                          </a:solidFill>
                          <a:latin typeface="Arimo Bold"/>
                          <a:ea typeface="Arimo Bold"/>
                          <a:cs typeface="Arimo Bold"/>
                          <a:sym typeface="Arimo Bold"/>
                        </a:rPr>
                        <a:t>Key Fields</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1E2761"/>
                    </a:solidFill>
                  </a:tcPr>
                </a:tc>
              </a:tr>
              <a:tr h="819150">
                <a:tc>
                  <a:txBody>
                    <a:bodyPr anchor="t" rtlCol="false"/>
                    <a:lstStyle/>
                    <a:p>
                      <a:pPr algn="l">
                        <a:lnSpc>
                          <a:spcPts val="3120"/>
                        </a:lnSpc>
                        <a:defRPr/>
                      </a:pPr>
                      <a:r>
                        <a:rPr lang="en-US" sz="2600" b="true">
                          <a:solidFill>
                            <a:srgbClr val="161C4D"/>
                          </a:solidFill>
                          <a:latin typeface="Arimo Bold"/>
                          <a:ea typeface="Arimo Bold"/>
                          <a:cs typeface="Arimo Bold"/>
                          <a:sym typeface="Arimo Bold"/>
                        </a:rPr>
                        <a:t>User</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c>
                  <a:txBody>
                    <a:bodyPr anchor="t" rtlCol="false"/>
                    <a:lstStyle/>
                    <a:p>
                      <a:pPr algn="l">
                        <a:lnSpc>
                          <a:spcPts val="3120"/>
                        </a:lnSpc>
                        <a:defRPr/>
                      </a:pPr>
                      <a:r>
                        <a:rPr lang="en-US" sz="2600">
                          <a:solidFill>
                            <a:srgbClr val="161C4D"/>
                          </a:solidFill>
                          <a:latin typeface="Arimo"/>
                          <a:ea typeface="Arimo"/>
                          <a:cs typeface="Arimo"/>
                          <a:sym typeface="Arimo"/>
                        </a:rPr>
                        <a:t>name, email, password, role, hospitalId, contactInfo</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r>
              <a:tr h="819150">
                <a:tc>
                  <a:txBody>
                    <a:bodyPr anchor="t" rtlCol="false"/>
                    <a:lstStyle/>
                    <a:p>
                      <a:pPr algn="l">
                        <a:lnSpc>
                          <a:spcPts val="3120"/>
                        </a:lnSpc>
                        <a:defRPr/>
                      </a:pPr>
                      <a:r>
                        <a:rPr lang="en-US" sz="2600" b="true">
                          <a:solidFill>
                            <a:srgbClr val="161C4D"/>
                          </a:solidFill>
                          <a:latin typeface="Arimo Bold"/>
                          <a:ea typeface="Arimo Bold"/>
                          <a:cs typeface="Arimo Bold"/>
                          <a:sym typeface="Arimo Bold"/>
                        </a:rPr>
                        <a:t>Appointment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c>
                  <a:txBody>
                    <a:bodyPr anchor="t" rtlCol="false"/>
                    <a:lstStyle/>
                    <a:p>
                      <a:pPr algn="l">
                        <a:lnSpc>
                          <a:spcPts val="3120"/>
                        </a:lnSpc>
                        <a:defRPr/>
                      </a:pPr>
                      <a:r>
                        <a:rPr lang="en-US" sz="2600">
                          <a:solidFill>
                            <a:srgbClr val="161C4D"/>
                          </a:solidFill>
                          <a:latin typeface="Arimo"/>
                          <a:ea typeface="Arimo"/>
                          <a:cs typeface="Arimo"/>
                          <a:sym typeface="Arimo"/>
                        </a:rPr>
                        <a:t>patientId, doctorId, hospitalId, date, time, type, status, notes</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r>
              <a:tr h="819150">
                <a:tc>
                  <a:txBody>
                    <a:bodyPr anchor="t" rtlCol="false"/>
                    <a:lstStyle/>
                    <a:p>
                      <a:pPr algn="l">
                        <a:lnSpc>
                          <a:spcPts val="3120"/>
                        </a:lnSpc>
                        <a:defRPr/>
                      </a:pPr>
                      <a:r>
                        <a:rPr lang="en-US" sz="2600" b="true">
                          <a:solidFill>
                            <a:srgbClr val="161C4D"/>
                          </a:solidFill>
                          <a:latin typeface="Arimo Bold"/>
                          <a:ea typeface="Arimo Bold"/>
                          <a:cs typeface="Arimo Bold"/>
                          <a:sym typeface="Arimo Bold"/>
                        </a:rPr>
                        <a:t>MaternalRecord</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c>
                  <a:txBody>
                    <a:bodyPr anchor="t" rtlCol="false"/>
                    <a:lstStyle/>
                    <a:p>
                      <a:pPr algn="l">
                        <a:lnSpc>
                          <a:spcPts val="3120"/>
                        </a:lnSpc>
                        <a:defRPr/>
                      </a:pPr>
                      <a:r>
                        <a:rPr lang="en-US" sz="2600">
                          <a:solidFill>
                            <a:srgbClr val="161C4D"/>
                          </a:solidFill>
                          <a:latin typeface="Arimo"/>
                          <a:ea typeface="Arimo"/>
                          <a:cs typeface="Arimo"/>
                          <a:sym typeface="Arimo"/>
                        </a:rPr>
                        <a:t>govtM</a:t>
                      </a:r>
                      <a:r>
                        <a:rPr lang="en-US" sz="2600">
                          <a:solidFill>
                            <a:srgbClr val="161C4D"/>
                          </a:solidFill>
                          <a:latin typeface="Arimo"/>
                          <a:ea typeface="Arimo"/>
                          <a:cs typeface="Arimo"/>
                          <a:sym typeface="Arimo"/>
                        </a:rPr>
                        <a:t>aternalId, patientId, antenatalVisits[], deliveryDetails, immunizationLinks</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r>
              <a:tr h="819150">
                <a:tc>
                  <a:txBody>
                    <a:bodyPr anchor="t" rtlCol="false"/>
                    <a:lstStyle/>
                    <a:p>
                      <a:pPr algn="l">
                        <a:lnSpc>
                          <a:spcPts val="3120"/>
                        </a:lnSpc>
                        <a:defRPr/>
                      </a:pPr>
                      <a:r>
                        <a:rPr lang="en-US" sz="2600" b="true">
                          <a:solidFill>
                            <a:srgbClr val="161C4D"/>
                          </a:solidFill>
                          <a:latin typeface="Arimo Bold"/>
                          <a:ea typeface="Arimo Bold"/>
                          <a:cs typeface="Arimo Bold"/>
                          <a:sym typeface="Arimo Bold"/>
                        </a:rPr>
                        <a:t>Slot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c>
                  <a:txBody>
                    <a:bodyPr anchor="t" rtlCol="false"/>
                    <a:lstStyle/>
                    <a:p>
                      <a:pPr algn="l">
                        <a:lnSpc>
                          <a:spcPts val="3120"/>
                        </a:lnSpc>
                        <a:defRPr/>
                      </a:pPr>
                      <a:r>
                        <a:rPr lang="en-US" sz="2600">
                          <a:solidFill>
                            <a:srgbClr val="161C4D"/>
                          </a:solidFill>
                          <a:latin typeface="Arimo"/>
                          <a:ea typeface="Arimo"/>
                          <a:cs typeface="Arimo"/>
                          <a:sym typeface="Arimo"/>
                        </a:rPr>
                        <a:t>hos</a:t>
                      </a:r>
                      <a:r>
                        <a:rPr lang="en-US" sz="2600">
                          <a:solidFill>
                            <a:srgbClr val="161C4D"/>
                          </a:solidFill>
                          <a:latin typeface="Arimo"/>
                          <a:ea typeface="Arimo"/>
                          <a:cs typeface="Arimo"/>
                          <a:sym typeface="Arimo"/>
                        </a:rPr>
                        <a:t>pitalId, doctorId, date, time, isBooked</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r>
              <a:tr h="819150">
                <a:tc>
                  <a:txBody>
                    <a:bodyPr anchor="t" rtlCol="false"/>
                    <a:lstStyle/>
                    <a:p>
                      <a:pPr algn="l">
                        <a:lnSpc>
                          <a:spcPts val="3120"/>
                        </a:lnSpc>
                        <a:defRPr/>
                      </a:pPr>
                      <a:r>
                        <a:rPr lang="en-US" sz="2600" b="true">
                          <a:solidFill>
                            <a:srgbClr val="161C4D"/>
                          </a:solidFill>
                          <a:latin typeface="Arimo Bold"/>
                          <a:ea typeface="Arimo Bold"/>
                          <a:cs typeface="Arimo Bold"/>
                          <a:sym typeface="Arimo Bold"/>
                        </a:rPr>
                        <a:t>Vaccination</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c>
                  <a:txBody>
                    <a:bodyPr anchor="t" rtlCol="false"/>
                    <a:lstStyle/>
                    <a:p>
                      <a:pPr algn="l">
                        <a:lnSpc>
                          <a:spcPts val="3120"/>
                        </a:lnSpc>
                        <a:defRPr/>
                      </a:pPr>
                      <a:r>
                        <a:rPr lang="en-US" sz="2600">
                          <a:solidFill>
                            <a:srgbClr val="161C4D"/>
                          </a:solidFill>
                          <a:latin typeface="Arimo"/>
                          <a:ea typeface="Arimo"/>
                          <a:cs typeface="Arimo"/>
                          <a:sym typeface="Arimo"/>
                        </a:rPr>
                        <a:t>patientId, vaccineName, date, status, administeredBy</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842010" y="7886700"/>
            <a:ext cx="15910560" cy="548640"/>
            <a:chOff x="0" y="0"/>
            <a:chExt cx="21214080" cy="731520"/>
          </a:xfrm>
        </p:grpSpPr>
        <p:sp>
          <p:nvSpPr>
            <p:cNvPr name="Freeform 10" id="10"/>
            <p:cNvSpPr/>
            <p:nvPr/>
          </p:nvSpPr>
          <p:spPr>
            <a:xfrm flipH="false" flipV="false" rot="0">
              <a:off x="0" y="0"/>
              <a:ext cx="21214080" cy="731520"/>
            </a:xfrm>
            <a:custGeom>
              <a:avLst/>
              <a:gdLst/>
              <a:ahLst/>
              <a:cxnLst/>
              <a:rect r="r" b="b" t="t" l="l"/>
              <a:pathLst>
                <a:path h="731520" w="21214080">
                  <a:moveTo>
                    <a:pt x="0" y="0"/>
                  </a:moveTo>
                  <a:lnTo>
                    <a:pt x="21214080" y="0"/>
                  </a:lnTo>
                  <a:lnTo>
                    <a:pt x="21214080" y="731520"/>
                  </a:lnTo>
                  <a:lnTo>
                    <a:pt x="0" y="731520"/>
                  </a:lnTo>
                  <a:close/>
                </a:path>
              </a:pathLst>
            </a:custGeom>
            <a:blipFill>
              <a:blip r:embed="rId3">
                <a:alphaModFix amt="0"/>
              </a:blip>
              <a:stretch>
                <a:fillRect l="0" t="-515066" r="0" b="-515066"/>
              </a:stretch>
            </a:blipFill>
          </p:spPr>
        </p:sp>
        <p:sp>
          <p:nvSpPr>
            <p:cNvPr name="TextBox 11" id="11"/>
            <p:cNvSpPr txBox="true"/>
            <p:nvPr/>
          </p:nvSpPr>
          <p:spPr>
            <a:xfrm>
              <a:off x="0" y="-19050"/>
              <a:ext cx="21214080" cy="750570"/>
            </a:xfrm>
            <a:prstGeom prst="rect">
              <a:avLst/>
            </a:prstGeom>
          </p:spPr>
          <p:txBody>
            <a:bodyPr anchor="ctr" rtlCol="false" tIns="0" lIns="0" bIns="0" rIns="0"/>
            <a:lstStyle/>
            <a:p>
              <a:pPr algn="l">
                <a:lnSpc>
                  <a:spcPts val="2160"/>
                </a:lnSpc>
              </a:pPr>
              <a:r>
                <a:rPr lang="en-US" sz="1800" i="true">
                  <a:solidFill>
                    <a:srgbClr val="5B6485"/>
                  </a:solidFill>
                  <a:latin typeface="Arimo Italics"/>
                  <a:ea typeface="Arimo Italics"/>
                  <a:cs typeface="Arimo Italics"/>
                  <a:sym typeface="Arimo Italics"/>
                </a:rPr>
                <a:t>Draft schema based on modules proposed at the Zeroth Review — to be aligned with the actual implementation.</a:t>
              </a:r>
            </a:p>
          </p:txBody>
        </p:sp>
      </p:grpSp>
      <p:grpSp>
        <p:nvGrpSpPr>
          <p:cNvPr name="Group 12" id="12"/>
          <p:cNvGrpSpPr/>
          <p:nvPr/>
        </p:nvGrpSpPr>
        <p:grpSpPr>
          <a:xfrm rot="0">
            <a:off x="822960" y="9820656"/>
            <a:ext cx="12344400" cy="411480"/>
            <a:chOff x="0" y="0"/>
            <a:chExt cx="16459200" cy="548640"/>
          </a:xfrm>
        </p:grpSpPr>
        <p:sp>
          <p:nvSpPr>
            <p:cNvPr name="Freeform 13" id="1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4" id="14"/>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15" id="15"/>
          <p:cNvGrpSpPr/>
          <p:nvPr/>
        </p:nvGrpSpPr>
        <p:grpSpPr>
          <a:xfrm rot="0">
            <a:off x="16915943" y="9820656"/>
            <a:ext cx="548640" cy="411480"/>
            <a:chOff x="0" y="0"/>
            <a:chExt cx="731520" cy="548640"/>
          </a:xfrm>
        </p:grpSpPr>
        <p:sp>
          <p:nvSpPr>
            <p:cNvPr name="Freeform 16" id="16"/>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7" id="17"/>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8</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IMPLEMENTATION</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API Endpoints — Completed Modules</a:t>
              </a:r>
            </a:p>
          </p:txBody>
        </p:sp>
      </p:grpSp>
      <p:graphicFrame>
        <p:nvGraphicFramePr>
          <p:cNvPr name="Table 8" id="8"/>
          <p:cNvGraphicFramePr>
            <a:graphicFrameLocks noGrp="true"/>
          </p:cNvGraphicFramePr>
          <p:nvPr/>
        </p:nvGraphicFramePr>
        <p:xfrm>
          <a:off x="822960" y="2606040"/>
          <a:ext cx="15906750" cy="6254750"/>
        </p:xfrm>
        <a:graphic>
          <a:graphicData uri="http://schemas.openxmlformats.org/drawingml/2006/table">
            <a:tbl>
              <a:tblPr/>
              <a:tblGrid>
                <a:gridCol w="2102875"/>
                <a:gridCol w="5617681"/>
                <a:gridCol w="8186193"/>
              </a:tblGrid>
              <a:tr h="745979">
                <a:tc>
                  <a:txBody>
                    <a:bodyPr anchor="t" rtlCol="false"/>
                    <a:lstStyle/>
                    <a:p>
                      <a:pPr algn="l">
                        <a:lnSpc>
                          <a:spcPts val="3120"/>
                        </a:lnSpc>
                        <a:defRPr/>
                      </a:pPr>
                      <a:r>
                        <a:rPr lang="en-US" sz="2600" b="true">
                          <a:solidFill>
                            <a:srgbClr val="FFFFFF"/>
                          </a:solidFill>
                          <a:latin typeface="Arimo Bold"/>
                          <a:ea typeface="Arimo Bold"/>
                          <a:cs typeface="Arimo Bold"/>
                          <a:sym typeface="Arimo Bold"/>
                        </a:rPr>
                        <a:t>Method</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1E2761"/>
                    </a:solidFill>
                  </a:tcPr>
                </a:tc>
                <a:tc>
                  <a:txBody>
                    <a:bodyPr anchor="t" rtlCol="false"/>
                    <a:lstStyle/>
                    <a:p>
                      <a:pPr algn="l">
                        <a:lnSpc>
                          <a:spcPts val="3120"/>
                        </a:lnSpc>
                        <a:defRPr/>
                      </a:pPr>
                      <a:r>
                        <a:rPr lang="en-US" sz="2600" b="true">
                          <a:solidFill>
                            <a:srgbClr val="FFFFFF"/>
                          </a:solidFill>
                          <a:latin typeface="Arimo Bold"/>
                          <a:ea typeface="Arimo Bold"/>
                          <a:cs typeface="Arimo Bold"/>
                          <a:sym typeface="Arimo Bold"/>
                        </a:rPr>
                        <a:t>Route</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1E2761"/>
                    </a:solidFill>
                  </a:tcPr>
                </a:tc>
                <a:tc>
                  <a:txBody>
                    <a:bodyPr anchor="t" rtlCol="false"/>
                    <a:lstStyle/>
                    <a:p>
                      <a:pPr algn="l">
                        <a:lnSpc>
                          <a:spcPts val="3120"/>
                        </a:lnSpc>
                        <a:defRPr/>
                      </a:pPr>
                      <a:r>
                        <a:rPr lang="en-US" sz="2600" b="true">
                          <a:solidFill>
                            <a:srgbClr val="FFFFFF"/>
                          </a:solidFill>
                          <a:latin typeface="Arimo Bold"/>
                          <a:ea typeface="Arimo Bold"/>
                          <a:cs typeface="Arimo Bold"/>
                          <a:sym typeface="Arimo Bold"/>
                        </a:rPr>
                        <a:t>Purpose</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1E2761"/>
                    </a:solidFill>
                  </a:tcPr>
                </a:tc>
              </a:tr>
              <a:tr h="918128">
                <a:tc>
                  <a:txBody>
                    <a:bodyPr anchor="t" rtlCol="false"/>
                    <a:lstStyle/>
                    <a:p>
                      <a:pPr algn="l">
                        <a:lnSpc>
                          <a:spcPts val="3120"/>
                        </a:lnSpc>
                        <a:defRPr/>
                      </a:pPr>
                      <a:r>
                        <a:rPr lang="en-US" sz="2600">
                          <a:solidFill>
                            <a:srgbClr val="161C4D"/>
                          </a:solidFill>
                          <a:latin typeface="Courier New"/>
                          <a:ea typeface="Courier New"/>
                          <a:cs typeface="Courier New"/>
                          <a:sym typeface="Courier New"/>
                        </a:rPr>
                        <a:t>GET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c>
                  <a:txBody>
                    <a:bodyPr anchor="t" rtlCol="false"/>
                    <a:lstStyle/>
                    <a:p>
                      <a:pPr algn="l">
                        <a:lnSpc>
                          <a:spcPts val="3120"/>
                        </a:lnSpc>
                        <a:defRPr/>
                      </a:pPr>
                      <a:r>
                        <a:rPr lang="en-US" sz="2600">
                          <a:solidFill>
                            <a:srgbClr val="161C4D"/>
                          </a:solidFill>
                          <a:latin typeface="Arimo"/>
                          <a:ea typeface="Arimo"/>
                          <a:cs typeface="Arimo"/>
                          <a:sym typeface="Arimo"/>
                        </a:rPr>
                        <a:t>/api/appointments/search</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c>
                  <a:txBody>
                    <a:bodyPr anchor="t" rtlCol="false"/>
                    <a:lstStyle/>
                    <a:p>
                      <a:pPr algn="l">
                        <a:lnSpc>
                          <a:spcPts val="3120"/>
                        </a:lnSpc>
                        <a:defRPr/>
                      </a:pPr>
                      <a:r>
                        <a:rPr lang="en-US" sz="2600">
                          <a:solidFill>
                            <a:srgbClr val="161C4D"/>
                          </a:solidFill>
                          <a:latin typeface="Arimo"/>
                          <a:ea typeface="Arimo"/>
                          <a:cs typeface="Arimo"/>
                          <a:sym typeface="Arimo"/>
                        </a:rPr>
                        <a:t>Search nearby healthcare providers</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r>
              <a:tr h="918128">
                <a:tc>
                  <a:txBody>
                    <a:bodyPr anchor="t" rtlCol="false"/>
                    <a:lstStyle/>
                    <a:p>
                      <a:pPr algn="l">
                        <a:lnSpc>
                          <a:spcPts val="3120"/>
                        </a:lnSpc>
                        <a:defRPr/>
                      </a:pPr>
                      <a:r>
                        <a:rPr lang="en-US" sz="2600">
                          <a:solidFill>
                            <a:srgbClr val="161C4D"/>
                          </a:solidFill>
                          <a:latin typeface="Courier New"/>
                          <a:ea typeface="Courier New"/>
                          <a:cs typeface="Courier New"/>
                          <a:sym typeface="Courier New"/>
                        </a:rPr>
                        <a:t>POST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c>
                  <a:txBody>
                    <a:bodyPr anchor="t" rtlCol="false"/>
                    <a:lstStyle/>
                    <a:p>
                      <a:pPr algn="l">
                        <a:lnSpc>
                          <a:spcPts val="3120"/>
                        </a:lnSpc>
                        <a:defRPr/>
                      </a:pPr>
                      <a:r>
                        <a:rPr lang="en-US" sz="2600">
                          <a:solidFill>
                            <a:srgbClr val="161C4D"/>
                          </a:solidFill>
                          <a:latin typeface="Arimo"/>
                          <a:ea typeface="Arimo"/>
                          <a:cs typeface="Arimo"/>
                          <a:sym typeface="Arimo"/>
                        </a:rPr>
                        <a:t>/api/appointments</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c>
                  <a:txBody>
                    <a:bodyPr anchor="t" rtlCol="false"/>
                    <a:lstStyle/>
                    <a:p>
                      <a:pPr algn="l">
                        <a:lnSpc>
                          <a:spcPts val="3120"/>
                        </a:lnSpc>
                        <a:defRPr/>
                      </a:pPr>
                      <a:r>
                        <a:rPr lang="en-US" sz="2600">
                          <a:solidFill>
                            <a:srgbClr val="161C4D"/>
                          </a:solidFill>
                          <a:latin typeface="Arimo"/>
                          <a:ea typeface="Arimo"/>
                          <a:cs typeface="Arimo"/>
                          <a:sym typeface="Arimo"/>
                        </a:rPr>
                        <a:t>Book an appointment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r>
              <a:tr h="918128">
                <a:tc>
                  <a:txBody>
                    <a:bodyPr anchor="t" rtlCol="false"/>
                    <a:lstStyle/>
                    <a:p>
                      <a:pPr algn="l">
                        <a:lnSpc>
                          <a:spcPts val="3120"/>
                        </a:lnSpc>
                        <a:defRPr/>
                      </a:pPr>
                      <a:r>
                        <a:rPr lang="en-US" sz="2600">
                          <a:solidFill>
                            <a:srgbClr val="161C4D"/>
                          </a:solidFill>
                          <a:latin typeface="Courier New"/>
                          <a:ea typeface="Courier New"/>
                          <a:cs typeface="Courier New"/>
                          <a:sym typeface="Courier New"/>
                        </a:rPr>
                        <a:t>GET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c>
                  <a:txBody>
                    <a:bodyPr anchor="t" rtlCol="false"/>
                    <a:lstStyle/>
                    <a:p>
                      <a:pPr algn="l">
                        <a:lnSpc>
                          <a:spcPts val="3120"/>
                        </a:lnSpc>
                        <a:defRPr/>
                      </a:pPr>
                      <a:r>
                        <a:rPr lang="en-US" sz="2600">
                          <a:solidFill>
                            <a:srgbClr val="161C4D"/>
                          </a:solidFill>
                          <a:latin typeface="Arimo"/>
                          <a:ea typeface="Arimo"/>
                          <a:cs typeface="Arimo"/>
                          <a:sym typeface="Arimo"/>
                        </a:rPr>
                        <a:t>/api/maternal/:govtId</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c>
                  <a:txBody>
                    <a:bodyPr anchor="t" rtlCol="false"/>
                    <a:lstStyle/>
                    <a:p>
                      <a:pPr algn="l">
                        <a:lnSpc>
                          <a:spcPts val="3120"/>
                        </a:lnSpc>
                        <a:defRPr/>
                      </a:pPr>
                      <a:r>
                        <a:rPr lang="en-US" sz="2600">
                          <a:solidFill>
                            <a:srgbClr val="161C4D"/>
                          </a:solidFill>
                          <a:latin typeface="Arimo"/>
                          <a:ea typeface="Arimo"/>
                          <a:cs typeface="Arimo"/>
                          <a:sym typeface="Arimo"/>
                        </a:rPr>
                        <a:t>Look up a maternal record by government ID</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r>
              <a:tr h="918128">
                <a:tc>
                  <a:txBody>
                    <a:bodyPr anchor="t" rtlCol="false"/>
                    <a:lstStyle/>
                    <a:p>
                      <a:pPr algn="l">
                        <a:lnSpc>
                          <a:spcPts val="3120"/>
                        </a:lnSpc>
                        <a:defRPr/>
                      </a:pPr>
                      <a:r>
                        <a:rPr lang="en-US" sz="2600">
                          <a:solidFill>
                            <a:srgbClr val="161C4D"/>
                          </a:solidFill>
                          <a:latin typeface="Courier New"/>
                          <a:ea typeface="Courier New"/>
                          <a:cs typeface="Courier New"/>
                          <a:sym typeface="Courier New"/>
                        </a:rPr>
                        <a:t>POST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c>
                  <a:txBody>
                    <a:bodyPr anchor="t" rtlCol="false"/>
                    <a:lstStyle/>
                    <a:p>
                      <a:pPr algn="l">
                        <a:lnSpc>
                          <a:spcPts val="3120"/>
                        </a:lnSpc>
                        <a:defRPr/>
                      </a:pPr>
                      <a:r>
                        <a:rPr lang="en-US" sz="2600">
                          <a:solidFill>
                            <a:srgbClr val="161C4D"/>
                          </a:solidFill>
                          <a:latin typeface="Arimo"/>
                          <a:ea typeface="Arimo"/>
                          <a:cs typeface="Arimo"/>
                          <a:sym typeface="Arimo"/>
                        </a:rPr>
                        <a:t>/api/maternal</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c>
                  <a:txBody>
                    <a:bodyPr anchor="t" rtlCol="false"/>
                    <a:lstStyle/>
                    <a:p>
                      <a:pPr algn="l">
                        <a:lnSpc>
                          <a:spcPts val="3120"/>
                        </a:lnSpc>
                        <a:defRPr/>
                      </a:pPr>
                      <a:r>
                        <a:rPr lang="en-US" sz="2600">
                          <a:solidFill>
                            <a:srgbClr val="161C4D"/>
                          </a:solidFill>
                          <a:latin typeface="Arimo"/>
                          <a:ea typeface="Arimo"/>
                          <a:cs typeface="Arimo"/>
                          <a:sym typeface="Arimo"/>
                        </a:rPr>
                        <a:t>Register a maternal record and link the government ID</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r>
              <a:tr h="918128">
                <a:tc>
                  <a:txBody>
                    <a:bodyPr anchor="t" rtlCol="false"/>
                    <a:lstStyle/>
                    <a:p>
                      <a:pPr algn="l">
                        <a:lnSpc>
                          <a:spcPts val="3120"/>
                        </a:lnSpc>
                        <a:defRPr/>
                      </a:pPr>
                      <a:r>
                        <a:rPr lang="en-US" sz="2600">
                          <a:solidFill>
                            <a:srgbClr val="161C4D"/>
                          </a:solidFill>
                          <a:latin typeface="Courier New"/>
                          <a:ea typeface="Courier New"/>
                          <a:cs typeface="Courier New"/>
                          <a:sym typeface="Courier New"/>
                        </a:rPr>
                        <a:t>POST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c>
                  <a:txBody>
                    <a:bodyPr anchor="t" rtlCol="false"/>
                    <a:lstStyle/>
                    <a:p>
                      <a:pPr algn="l">
                        <a:lnSpc>
                          <a:spcPts val="3120"/>
                        </a:lnSpc>
                        <a:defRPr/>
                      </a:pPr>
                      <a:r>
                        <a:rPr lang="en-US" sz="2600">
                          <a:solidFill>
                            <a:srgbClr val="161C4D"/>
                          </a:solidFill>
                          <a:latin typeface="Arimo"/>
                          <a:ea typeface="Arimo"/>
                          <a:cs typeface="Arimo"/>
                          <a:sym typeface="Arimo"/>
                        </a:rPr>
                        <a:t>/api/hospital/slots/:id</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c>
                  <a:txBody>
                    <a:bodyPr anchor="t" rtlCol="false"/>
                    <a:lstStyle/>
                    <a:p>
                      <a:pPr algn="l">
                        <a:lnSpc>
                          <a:spcPts val="3120"/>
                        </a:lnSpc>
                        <a:defRPr/>
                      </a:pPr>
                      <a:r>
                        <a:rPr lang="en-US" sz="2600">
                          <a:solidFill>
                            <a:srgbClr val="161C4D"/>
                          </a:solidFill>
                          <a:latin typeface="Arimo"/>
                          <a:ea typeface="Arimo"/>
                          <a:cs typeface="Arimo"/>
                          <a:sym typeface="Arimo"/>
                        </a:rPr>
                        <a:t>Update an appointment slot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FFFFF"/>
                    </a:solidFill>
                  </a:tcPr>
                </a:tc>
              </a:tr>
              <a:tr h="918128">
                <a:tc>
                  <a:txBody>
                    <a:bodyPr anchor="t" rtlCol="false"/>
                    <a:lstStyle/>
                    <a:p>
                      <a:pPr algn="l">
                        <a:lnSpc>
                          <a:spcPts val="3120"/>
                        </a:lnSpc>
                        <a:defRPr/>
                      </a:pPr>
                      <a:r>
                        <a:rPr lang="en-US" sz="2600">
                          <a:solidFill>
                            <a:srgbClr val="161C4D"/>
                          </a:solidFill>
                          <a:latin typeface="Courier New"/>
                          <a:ea typeface="Courier New"/>
                          <a:cs typeface="Courier New"/>
                          <a:sym typeface="Courier New"/>
                        </a:rPr>
                        <a:t>GET</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c>
                  <a:txBody>
                    <a:bodyPr anchor="t" rtlCol="false"/>
                    <a:lstStyle/>
                    <a:p>
                      <a:pPr algn="l">
                        <a:lnSpc>
                          <a:spcPts val="3120"/>
                        </a:lnSpc>
                        <a:defRPr/>
                      </a:pPr>
                      <a:r>
                        <a:rPr lang="en-US" sz="2600">
                          <a:solidFill>
                            <a:srgbClr val="161C4D"/>
                          </a:solidFill>
                          <a:latin typeface="Arimo"/>
                          <a:ea typeface="Arimo"/>
                          <a:cs typeface="Arimo"/>
                          <a:sym typeface="Arimo"/>
                        </a:rPr>
                        <a:t>/api/hospital/vaccinations</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c>
                  <a:txBody>
                    <a:bodyPr anchor="t" rtlCol="false"/>
                    <a:lstStyle/>
                    <a:p>
                      <a:pPr algn="l">
                        <a:lnSpc>
                          <a:spcPts val="3120"/>
                        </a:lnSpc>
                        <a:defRPr/>
                      </a:pPr>
                      <a:r>
                        <a:rPr lang="en-US" sz="2600">
                          <a:solidFill>
                            <a:srgbClr val="161C4D"/>
                          </a:solidFill>
                          <a:latin typeface="Arimo"/>
                          <a:ea typeface="Arimo"/>
                          <a:cs typeface="Arimo"/>
                          <a:sym typeface="Arimo"/>
                        </a:rPr>
                        <a:t>Log a vaccination entry</a:t>
                      </a:r>
                      <a:endParaRPr lang="en-US" sz="1100"/>
                    </a:p>
                  </a:txBody>
                  <a:tcPr marL="91440" marR="91440" marT="91440" marB="91440" anchor="ctr">
                    <a:lnL cmpd="sng" algn="ctr" cap="flat" w="25400">
                      <a:solidFill>
                        <a:srgbClr val="D9E4FB"/>
                      </a:solidFill>
                      <a:prstDash val="solid"/>
                      <a:round/>
                      <a:headEnd type="none" w="med" len="med"/>
                      <a:tailEnd type="none" w="med" len="med"/>
                    </a:lnL>
                    <a:lnR cmpd="sng" algn="ctr" cap="flat" w="25400">
                      <a:solidFill>
                        <a:srgbClr val="D9E4FB"/>
                      </a:solidFill>
                      <a:prstDash val="solid"/>
                      <a:round/>
                      <a:headEnd type="none" w="med" len="med"/>
                      <a:tailEnd type="none" w="med" len="med"/>
                    </a:lnR>
                    <a:lnT cmpd="sng" algn="ctr" cap="flat" w="25400">
                      <a:solidFill>
                        <a:srgbClr val="D9E4FB"/>
                      </a:solidFill>
                      <a:prstDash val="solid"/>
                      <a:round/>
                      <a:headEnd type="none" w="med" len="med"/>
                      <a:tailEnd type="none" w="med" len="med"/>
                    </a:lnT>
                    <a:lnB cmpd="sng" algn="ctr" cap="flat" w="25400">
                      <a:solidFill>
                        <a:srgbClr val="D9E4FB"/>
                      </a:solidFill>
                      <a:prstDash val="solid"/>
                      <a:round/>
                      <a:headEnd type="none" w="med" len="med"/>
                      <a:tailEnd type="none" w="med" len="med"/>
                    </a:lnB>
                    <a:solidFill>
                      <a:srgbClr val="F3F6FD"/>
                    </a:solidFill>
                  </a:tcPr>
                </a:tc>
              </a:tr>
            </a:tbl>
          </a:graphicData>
        </a:graphic>
      </p:graphicFrame>
      <p:grpSp>
        <p:nvGrpSpPr>
          <p:cNvPr name="Group 9" id="9"/>
          <p:cNvGrpSpPr/>
          <p:nvPr/>
        </p:nvGrpSpPr>
        <p:grpSpPr>
          <a:xfrm rot="0">
            <a:off x="822960" y="8983980"/>
            <a:ext cx="15910560" cy="548640"/>
            <a:chOff x="0" y="0"/>
            <a:chExt cx="21214080" cy="731520"/>
          </a:xfrm>
        </p:grpSpPr>
        <p:sp>
          <p:nvSpPr>
            <p:cNvPr name="Freeform 10" id="10"/>
            <p:cNvSpPr/>
            <p:nvPr/>
          </p:nvSpPr>
          <p:spPr>
            <a:xfrm flipH="false" flipV="false" rot="0">
              <a:off x="0" y="0"/>
              <a:ext cx="21214080" cy="731520"/>
            </a:xfrm>
            <a:custGeom>
              <a:avLst/>
              <a:gdLst/>
              <a:ahLst/>
              <a:cxnLst/>
              <a:rect r="r" b="b" t="t" l="l"/>
              <a:pathLst>
                <a:path h="731520" w="21214080">
                  <a:moveTo>
                    <a:pt x="0" y="0"/>
                  </a:moveTo>
                  <a:lnTo>
                    <a:pt x="21214080" y="0"/>
                  </a:lnTo>
                  <a:lnTo>
                    <a:pt x="21214080" y="731520"/>
                  </a:lnTo>
                  <a:lnTo>
                    <a:pt x="0" y="731520"/>
                  </a:lnTo>
                  <a:close/>
                </a:path>
              </a:pathLst>
            </a:custGeom>
            <a:blipFill>
              <a:blip r:embed="rId3">
                <a:alphaModFix amt="0"/>
              </a:blip>
              <a:stretch>
                <a:fillRect l="0" t="-515066" r="0" b="-515066"/>
              </a:stretch>
            </a:blipFill>
          </p:spPr>
        </p:sp>
        <p:sp>
          <p:nvSpPr>
            <p:cNvPr name="TextBox 11" id="11"/>
            <p:cNvSpPr txBox="true"/>
            <p:nvPr/>
          </p:nvSpPr>
          <p:spPr>
            <a:xfrm>
              <a:off x="0" y="-19050"/>
              <a:ext cx="21214080" cy="750570"/>
            </a:xfrm>
            <a:prstGeom prst="rect">
              <a:avLst/>
            </a:prstGeom>
          </p:spPr>
          <p:txBody>
            <a:bodyPr anchor="ctr" rtlCol="false" tIns="0" lIns="0" bIns="0" rIns="0"/>
            <a:lstStyle/>
            <a:p>
              <a:pPr algn="l">
                <a:lnSpc>
                  <a:spcPts val="2160"/>
                </a:lnSpc>
              </a:pPr>
              <a:r>
                <a:rPr lang="en-US" sz="1800" i="true">
                  <a:solidFill>
                    <a:srgbClr val="5B6485"/>
                  </a:solidFill>
                  <a:latin typeface="Arimo Italics"/>
                  <a:ea typeface="Arimo Italics"/>
                  <a:cs typeface="Arimo Italics"/>
                  <a:sym typeface="Arimo Italics"/>
                </a:rPr>
                <a:t>Sample route naming for the three completed modules — adjust to match your actual API.</a:t>
              </a:r>
            </a:p>
          </p:txBody>
        </p:sp>
      </p:grpSp>
      <p:grpSp>
        <p:nvGrpSpPr>
          <p:cNvPr name="Group 12" id="12"/>
          <p:cNvGrpSpPr/>
          <p:nvPr/>
        </p:nvGrpSpPr>
        <p:grpSpPr>
          <a:xfrm rot="0">
            <a:off x="822960" y="9820656"/>
            <a:ext cx="12344400" cy="411480"/>
            <a:chOff x="0" y="0"/>
            <a:chExt cx="16459200" cy="548640"/>
          </a:xfrm>
        </p:grpSpPr>
        <p:sp>
          <p:nvSpPr>
            <p:cNvPr name="Freeform 13" id="1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4" id="14"/>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15" id="15"/>
          <p:cNvGrpSpPr/>
          <p:nvPr/>
        </p:nvGrpSpPr>
        <p:grpSpPr>
          <a:xfrm rot="0">
            <a:off x="16915943" y="9820656"/>
            <a:ext cx="548640" cy="411480"/>
            <a:chOff x="0" y="0"/>
            <a:chExt cx="731520" cy="548640"/>
          </a:xfrm>
        </p:grpSpPr>
        <p:sp>
          <p:nvSpPr>
            <p:cNvPr name="Freeform 16" id="16"/>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7" id="17"/>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9</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9E4FB"/>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2160"/>
                </a:lnSpc>
              </a:pPr>
              <a:r>
                <a:rPr lang="en-US" b="true" sz="1800" spc="225">
                  <a:solidFill>
                    <a:srgbClr val="000000"/>
                  </a:solidFill>
                  <a:latin typeface="Arimo Bold"/>
                  <a:ea typeface="Arimo Bold"/>
                  <a:cs typeface="Arimo Bold"/>
                  <a:sym typeface="Arimo Bold"/>
                </a:rPr>
                <a:t>ROADMAP</a:t>
              </a:r>
            </a:p>
          </p:txBody>
        </p:sp>
      </p:grpSp>
      <p:grpSp>
        <p:nvGrpSpPr>
          <p:cNvPr name="Group 5" id="5"/>
          <p:cNvGrpSpPr/>
          <p:nvPr/>
        </p:nvGrpSpPr>
        <p:grpSpPr>
          <a:xfrm rot="0">
            <a:off x="82296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Remaining Work</a:t>
              </a:r>
            </a:p>
          </p:txBody>
        </p:sp>
      </p:grpSp>
      <p:grpSp>
        <p:nvGrpSpPr>
          <p:cNvPr name="Group 8" id="8"/>
          <p:cNvGrpSpPr/>
          <p:nvPr/>
        </p:nvGrpSpPr>
        <p:grpSpPr>
          <a:xfrm rot="0">
            <a:off x="822960" y="2674620"/>
            <a:ext cx="5006340" cy="4526280"/>
            <a:chOff x="0" y="0"/>
            <a:chExt cx="6675120" cy="6035040"/>
          </a:xfrm>
        </p:grpSpPr>
        <p:sp>
          <p:nvSpPr>
            <p:cNvPr name="Freeform 9" id="9"/>
            <p:cNvSpPr/>
            <p:nvPr/>
          </p:nvSpPr>
          <p:spPr>
            <a:xfrm flipH="false" flipV="false" rot="0">
              <a:off x="0" y="0"/>
              <a:ext cx="6675120" cy="6035040"/>
            </a:xfrm>
            <a:custGeom>
              <a:avLst/>
              <a:gdLst/>
              <a:ahLst/>
              <a:cxnLst/>
              <a:rect r="r" b="b" t="t" l="l"/>
              <a:pathLst>
                <a:path h="6035040" w="6675120">
                  <a:moveTo>
                    <a:pt x="0" y="164592"/>
                  </a:moveTo>
                  <a:cubicBezTo>
                    <a:pt x="0" y="73660"/>
                    <a:pt x="73660" y="0"/>
                    <a:pt x="164592" y="0"/>
                  </a:cubicBezTo>
                  <a:lnTo>
                    <a:pt x="6510528" y="0"/>
                  </a:lnTo>
                  <a:cubicBezTo>
                    <a:pt x="6601460" y="0"/>
                    <a:pt x="6675120" y="73660"/>
                    <a:pt x="6675120" y="164592"/>
                  </a:cubicBezTo>
                  <a:lnTo>
                    <a:pt x="6675120" y="5870448"/>
                  </a:lnTo>
                  <a:cubicBezTo>
                    <a:pt x="6675120" y="5961380"/>
                    <a:pt x="6601460" y="6035040"/>
                    <a:pt x="6510528" y="6035040"/>
                  </a:cubicBezTo>
                  <a:lnTo>
                    <a:pt x="164592" y="6035040"/>
                  </a:lnTo>
                  <a:cubicBezTo>
                    <a:pt x="73660" y="6035040"/>
                    <a:pt x="0" y="5961380"/>
                    <a:pt x="0" y="5870448"/>
                  </a:cubicBezTo>
                  <a:close/>
                </a:path>
              </a:pathLst>
            </a:custGeom>
            <a:solidFill>
              <a:srgbClr val="F3F6FD"/>
            </a:solidFill>
          </p:spPr>
        </p:sp>
      </p:grpSp>
      <p:grpSp>
        <p:nvGrpSpPr>
          <p:cNvPr name="Group 10" id="10"/>
          <p:cNvGrpSpPr/>
          <p:nvPr/>
        </p:nvGrpSpPr>
        <p:grpSpPr>
          <a:xfrm rot="0">
            <a:off x="1234440" y="3086100"/>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12" id="12"/>
          <p:cNvGrpSpPr/>
          <p:nvPr/>
        </p:nvGrpSpPr>
        <p:grpSpPr>
          <a:xfrm rot="0">
            <a:off x="1234440" y="3086100"/>
            <a:ext cx="685800" cy="685800"/>
            <a:chOff x="0" y="0"/>
            <a:chExt cx="914400" cy="914400"/>
          </a:xfrm>
        </p:grpSpPr>
        <p:sp>
          <p:nvSpPr>
            <p:cNvPr name="Freeform 13" id="1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4" id="14"/>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FFFFFF"/>
                  </a:solidFill>
                  <a:latin typeface="Arimo Bold"/>
                  <a:ea typeface="Arimo Bold"/>
                  <a:cs typeface="Arimo Bold"/>
                  <a:sym typeface="Arimo Bold"/>
                </a:rPr>
                <a:t>1</a:t>
              </a:r>
            </a:p>
          </p:txBody>
        </p:sp>
      </p:grpSp>
      <p:grpSp>
        <p:nvGrpSpPr>
          <p:cNvPr name="Group 15" id="15"/>
          <p:cNvGrpSpPr/>
          <p:nvPr/>
        </p:nvGrpSpPr>
        <p:grpSpPr>
          <a:xfrm rot="0">
            <a:off x="1234440" y="3313003"/>
            <a:ext cx="4183380" cy="2049214"/>
            <a:chOff x="0" y="0"/>
            <a:chExt cx="5577840" cy="2732285"/>
          </a:xfrm>
        </p:grpSpPr>
        <p:sp>
          <p:nvSpPr>
            <p:cNvPr name="Freeform 16" id="16"/>
            <p:cNvSpPr/>
            <p:nvPr/>
          </p:nvSpPr>
          <p:spPr>
            <a:xfrm flipH="false" flipV="false" rot="0">
              <a:off x="0" y="0"/>
              <a:ext cx="5577840" cy="2732285"/>
            </a:xfrm>
            <a:custGeom>
              <a:avLst/>
              <a:gdLst/>
              <a:ahLst/>
              <a:cxnLst/>
              <a:rect r="r" b="b" t="t" l="l"/>
              <a:pathLst>
                <a:path h="2732285" w="5577840">
                  <a:moveTo>
                    <a:pt x="0" y="0"/>
                  </a:moveTo>
                  <a:lnTo>
                    <a:pt x="5577840" y="0"/>
                  </a:lnTo>
                  <a:lnTo>
                    <a:pt x="5577840" y="2732285"/>
                  </a:lnTo>
                  <a:lnTo>
                    <a:pt x="0" y="2732285"/>
                  </a:lnTo>
                  <a:close/>
                </a:path>
              </a:pathLst>
            </a:custGeom>
            <a:blipFill>
              <a:blip r:embed="rId3">
                <a:alphaModFix amt="0"/>
              </a:blip>
              <a:stretch>
                <a:fillRect l="0" t="-16351" r="0" b="36795"/>
              </a:stretch>
            </a:blipFill>
          </p:spPr>
        </p:sp>
        <p:sp>
          <p:nvSpPr>
            <p:cNvPr name="TextBox 17" id="17"/>
            <p:cNvSpPr txBox="true"/>
            <p:nvPr/>
          </p:nvSpPr>
          <p:spPr>
            <a:xfrm>
              <a:off x="0" y="-19050"/>
              <a:ext cx="5577840" cy="2751335"/>
            </a:xfrm>
            <a:prstGeom prst="rect">
              <a:avLst/>
            </a:prstGeom>
          </p:spPr>
          <p:txBody>
            <a:bodyPr anchor="ctr" rtlCol="false" tIns="0" lIns="0" bIns="0" rIns="0"/>
            <a:lstStyle/>
            <a:p>
              <a:pPr algn="l">
                <a:lnSpc>
                  <a:spcPts val="3499"/>
                </a:lnSpc>
              </a:pPr>
              <a:r>
                <a:rPr lang="en-US" sz="2799" b="true">
                  <a:solidFill>
                    <a:srgbClr val="1E2761"/>
                  </a:solidFill>
                  <a:latin typeface="Cambria Bold"/>
                  <a:ea typeface="Cambria Bold"/>
                  <a:cs typeface="Cambria Bold"/>
                  <a:sym typeface="Cambria Bold"/>
                </a:rPr>
                <a:t>Automated Remainders</a:t>
              </a:r>
            </a:p>
          </p:txBody>
        </p:sp>
      </p:grpSp>
      <p:grpSp>
        <p:nvGrpSpPr>
          <p:cNvPr name="Group 18" id="18"/>
          <p:cNvGrpSpPr/>
          <p:nvPr/>
        </p:nvGrpSpPr>
        <p:grpSpPr>
          <a:xfrm rot="0">
            <a:off x="1230630" y="4772025"/>
            <a:ext cx="4183380" cy="2157449"/>
            <a:chOff x="0" y="0"/>
            <a:chExt cx="5577840" cy="2876599"/>
          </a:xfrm>
        </p:grpSpPr>
        <p:sp>
          <p:nvSpPr>
            <p:cNvPr name="Freeform 19" id="19"/>
            <p:cNvSpPr/>
            <p:nvPr/>
          </p:nvSpPr>
          <p:spPr>
            <a:xfrm flipH="false" flipV="false" rot="0">
              <a:off x="0" y="0"/>
              <a:ext cx="5577840" cy="2876599"/>
            </a:xfrm>
            <a:custGeom>
              <a:avLst/>
              <a:gdLst/>
              <a:ahLst/>
              <a:cxnLst/>
              <a:rect r="r" b="b" t="t" l="l"/>
              <a:pathLst>
                <a:path h="2876599" w="5577840">
                  <a:moveTo>
                    <a:pt x="0" y="0"/>
                  </a:moveTo>
                  <a:lnTo>
                    <a:pt x="5577840" y="0"/>
                  </a:lnTo>
                  <a:lnTo>
                    <a:pt x="5577840" y="2876599"/>
                  </a:lnTo>
                  <a:lnTo>
                    <a:pt x="0" y="2876599"/>
                  </a:lnTo>
                  <a:close/>
                </a:path>
              </a:pathLst>
            </a:custGeom>
            <a:blipFill>
              <a:blip r:embed="rId3">
                <a:alphaModFix amt="0"/>
              </a:blip>
              <a:stretch>
                <a:fillRect l="-13100" t="0" r="-13100" b="4637"/>
              </a:stretch>
            </a:blipFill>
          </p:spPr>
        </p:sp>
        <p:sp>
          <p:nvSpPr>
            <p:cNvPr name="TextBox 20" id="20"/>
            <p:cNvSpPr txBox="true"/>
            <p:nvPr/>
          </p:nvSpPr>
          <p:spPr>
            <a:xfrm>
              <a:off x="0" y="-76200"/>
              <a:ext cx="5577840" cy="2952799"/>
            </a:xfrm>
            <a:prstGeom prst="rect">
              <a:avLst/>
            </a:prstGeom>
          </p:spPr>
          <p:txBody>
            <a:bodyPr anchor="ctr" rtlCol="false" tIns="0" lIns="0" bIns="0" rIns="0"/>
            <a:lstStyle/>
            <a:p>
              <a:pPr algn="l">
                <a:lnSpc>
                  <a:spcPts val="4139"/>
                </a:lnSpc>
              </a:pPr>
              <a:r>
                <a:rPr lang="en-US" sz="2874">
                  <a:solidFill>
                    <a:srgbClr val="1B1B2F"/>
                  </a:solidFill>
                  <a:latin typeface="Arimo"/>
                  <a:ea typeface="Arimo"/>
                  <a:cs typeface="Arimo"/>
                  <a:sym typeface="Arimo"/>
                </a:rPr>
                <a:t>Al</a:t>
              </a:r>
              <a:r>
                <a:rPr lang="en-US" sz="2874">
                  <a:solidFill>
                    <a:srgbClr val="1B1B2F"/>
                  </a:solidFill>
                  <a:latin typeface="Arimo"/>
                  <a:ea typeface="Arimo"/>
                  <a:cs typeface="Arimo"/>
                  <a:sym typeface="Arimo"/>
                </a:rPr>
                <a:t>erts for check-ups, follow-ups, and medication schedules.</a:t>
              </a:r>
            </a:p>
            <a:p>
              <a:pPr algn="l">
                <a:lnSpc>
                  <a:spcPts val="4139"/>
                </a:lnSpc>
              </a:pPr>
            </a:p>
          </p:txBody>
        </p:sp>
      </p:grpSp>
      <p:grpSp>
        <p:nvGrpSpPr>
          <p:cNvPr name="Group 21" id="21"/>
          <p:cNvGrpSpPr/>
          <p:nvPr/>
        </p:nvGrpSpPr>
        <p:grpSpPr>
          <a:xfrm rot="0">
            <a:off x="6309360" y="2674620"/>
            <a:ext cx="5006340" cy="4526280"/>
            <a:chOff x="0" y="0"/>
            <a:chExt cx="6675120" cy="6035040"/>
          </a:xfrm>
        </p:grpSpPr>
        <p:sp>
          <p:nvSpPr>
            <p:cNvPr name="Freeform 22" id="22"/>
            <p:cNvSpPr/>
            <p:nvPr/>
          </p:nvSpPr>
          <p:spPr>
            <a:xfrm flipH="false" flipV="false" rot="0">
              <a:off x="0" y="0"/>
              <a:ext cx="6675120" cy="6035040"/>
            </a:xfrm>
            <a:custGeom>
              <a:avLst/>
              <a:gdLst/>
              <a:ahLst/>
              <a:cxnLst/>
              <a:rect r="r" b="b" t="t" l="l"/>
              <a:pathLst>
                <a:path h="6035040" w="6675120">
                  <a:moveTo>
                    <a:pt x="0" y="164592"/>
                  </a:moveTo>
                  <a:cubicBezTo>
                    <a:pt x="0" y="73660"/>
                    <a:pt x="73660" y="0"/>
                    <a:pt x="164592" y="0"/>
                  </a:cubicBezTo>
                  <a:lnTo>
                    <a:pt x="6510528" y="0"/>
                  </a:lnTo>
                  <a:cubicBezTo>
                    <a:pt x="6601460" y="0"/>
                    <a:pt x="6675120" y="73660"/>
                    <a:pt x="6675120" y="164592"/>
                  </a:cubicBezTo>
                  <a:lnTo>
                    <a:pt x="6675120" y="5870448"/>
                  </a:lnTo>
                  <a:cubicBezTo>
                    <a:pt x="6675120" y="5961380"/>
                    <a:pt x="6601460" y="6035040"/>
                    <a:pt x="6510528" y="6035040"/>
                  </a:cubicBezTo>
                  <a:lnTo>
                    <a:pt x="164592" y="6035040"/>
                  </a:lnTo>
                  <a:cubicBezTo>
                    <a:pt x="73660" y="6035040"/>
                    <a:pt x="0" y="5961380"/>
                    <a:pt x="0" y="5870448"/>
                  </a:cubicBezTo>
                  <a:close/>
                </a:path>
              </a:pathLst>
            </a:custGeom>
            <a:solidFill>
              <a:srgbClr val="F3F6FD"/>
            </a:solidFill>
          </p:spPr>
        </p:sp>
      </p:grpSp>
      <p:grpSp>
        <p:nvGrpSpPr>
          <p:cNvPr name="Group 23" id="23"/>
          <p:cNvGrpSpPr/>
          <p:nvPr/>
        </p:nvGrpSpPr>
        <p:grpSpPr>
          <a:xfrm rot="0">
            <a:off x="6720840" y="3086100"/>
            <a:ext cx="685800" cy="685800"/>
            <a:chOff x="0" y="0"/>
            <a:chExt cx="914400" cy="914400"/>
          </a:xfrm>
        </p:grpSpPr>
        <p:sp>
          <p:nvSpPr>
            <p:cNvPr name="Freeform 24" id="2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25" id="25"/>
          <p:cNvGrpSpPr/>
          <p:nvPr/>
        </p:nvGrpSpPr>
        <p:grpSpPr>
          <a:xfrm rot="0">
            <a:off x="6720840" y="3086100"/>
            <a:ext cx="685800" cy="685800"/>
            <a:chOff x="0" y="0"/>
            <a:chExt cx="914400" cy="914400"/>
          </a:xfrm>
        </p:grpSpPr>
        <p:sp>
          <p:nvSpPr>
            <p:cNvPr name="Freeform 26" id="2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7" id="27"/>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FFFFFF"/>
                  </a:solidFill>
                  <a:latin typeface="Arimo Bold"/>
                  <a:ea typeface="Arimo Bold"/>
                  <a:cs typeface="Arimo Bold"/>
                  <a:sym typeface="Arimo Bold"/>
                </a:rPr>
                <a:t>2</a:t>
              </a:r>
            </a:p>
          </p:txBody>
        </p:sp>
      </p:grpSp>
      <p:grpSp>
        <p:nvGrpSpPr>
          <p:cNvPr name="Group 28" id="28"/>
          <p:cNvGrpSpPr/>
          <p:nvPr/>
        </p:nvGrpSpPr>
        <p:grpSpPr>
          <a:xfrm rot="0">
            <a:off x="6720840" y="3313003"/>
            <a:ext cx="4183380" cy="2049214"/>
            <a:chOff x="0" y="0"/>
            <a:chExt cx="5577840" cy="2732285"/>
          </a:xfrm>
        </p:grpSpPr>
        <p:sp>
          <p:nvSpPr>
            <p:cNvPr name="Freeform 29" id="29"/>
            <p:cNvSpPr/>
            <p:nvPr/>
          </p:nvSpPr>
          <p:spPr>
            <a:xfrm flipH="false" flipV="false" rot="0">
              <a:off x="0" y="0"/>
              <a:ext cx="5577840" cy="2732285"/>
            </a:xfrm>
            <a:custGeom>
              <a:avLst/>
              <a:gdLst/>
              <a:ahLst/>
              <a:cxnLst/>
              <a:rect r="r" b="b" t="t" l="l"/>
              <a:pathLst>
                <a:path h="2732285" w="5577840">
                  <a:moveTo>
                    <a:pt x="0" y="0"/>
                  </a:moveTo>
                  <a:lnTo>
                    <a:pt x="5577840" y="0"/>
                  </a:lnTo>
                  <a:lnTo>
                    <a:pt x="5577840" y="2732285"/>
                  </a:lnTo>
                  <a:lnTo>
                    <a:pt x="0" y="2732285"/>
                  </a:lnTo>
                  <a:close/>
                </a:path>
              </a:pathLst>
            </a:custGeom>
            <a:blipFill>
              <a:blip r:embed="rId3">
                <a:alphaModFix amt="0"/>
              </a:blip>
              <a:stretch>
                <a:fillRect l="0" t="-16351" r="0" b="36795"/>
              </a:stretch>
            </a:blipFill>
          </p:spPr>
        </p:sp>
        <p:sp>
          <p:nvSpPr>
            <p:cNvPr name="TextBox 30" id="30"/>
            <p:cNvSpPr txBox="true"/>
            <p:nvPr/>
          </p:nvSpPr>
          <p:spPr>
            <a:xfrm>
              <a:off x="0" y="-19050"/>
              <a:ext cx="5577840" cy="2751335"/>
            </a:xfrm>
            <a:prstGeom prst="rect">
              <a:avLst/>
            </a:prstGeom>
          </p:spPr>
          <p:txBody>
            <a:bodyPr anchor="ctr" rtlCol="false" tIns="0" lIns="0" bIns="0" rIns="0"/>
            <a:lstStyle/>
            <a:p>
              <a:pPr algn="l">
                <a:lnSpc>
                  <a:spcPts val="3499"/>
                </a:lnSpc>
              </a:pPr>
              <a:r>
                <a:rPr lang="en-US" sz="2799" b="true">
                  <a:solidFill>
                    <a:srgbClr val="1E2761"/>
                  </a:solidFill>
                  <a:latin typeface="Cambria Bold"/>
                  <a:ea typeface="Cambria Bold"/>
                  <a:cs typeface="Cambria Bold"/>
                  <a:sym typeface="Cambria Bold"/>
                </a:rPr>
                <a:t>Unified Medical History</a:t>
              </a:r>
            </a:p>
          </p:txBody>
        </p:sp>
      </p:grpSp>
      <p:grpSp>
        <p:nvGrpSpPr>
          <p:cNvPr name="Group 31" id="31"/>
          <p:cNvGrpSpPr/>
          <p:nvPr/>
        </p:nvGrpSpPr>
        <p:grpSpPr>
          <a:xfrm rot="0">
            <a:off x="6720840" y="4575039"/>
            <a:ext cx="4183380" cy="2057400"/>
            <a:chOff x="0" y="0"/>
            <a:chExt cx="5577840" cy="2743200"/>
          </a:xfrm>
        </p:grpSpPr>
        <p:sp>
          <p:nvSpPr>
            <p:cNvPr name="Freeform 32" id="32"/>
            <p:cNvSpPr/>
            <p:nvPr/>
          </p:nvSpPr>
          <p:spPr>
            <a:xfrm flipH="false" flipV="false" rot="0">
              <a:off x="0" y="0"/>
              <a:ext cx="5577840" cy="2743200"/>
            </a:xfrm>
            <a:custGeom>
              <a:avLst/>
              <a:gdLst/>
              <a:ahLst/>
              <a:cxnLst/>
              <a:rect r="r" b="b" t="t" l="l"/>
              <a:pathLst>
                <a:path h="2743200" w="5577840">
                  <a:moveTo>
                    <a:pt x="0" y="0"/>
                  </a:moveTo>
                  <a:lnTo>
                    <a:pt x="5577840" y="0"/>
                  </a:lnTo>
                  <a:lnTo>
                    <a:pt x="5577840" y="2743200"/>
                  </a:lnTo>
                  <a:lnTo>
                    <a:pt x="0" y="2743200"/>
                  </a:lnTo>
                  <a:close/>
                </a:path>
              </a:pathLst>
            </a:custGeom>
            <a:blipFill>
              <a:blip r:embed="rId3">
                <a:alphaModFix amt="0"/>
              </a:blip>
              <a:stretch>
                <a:fillRect l="-13100" t="0" r="-13100" b="0"/>
              </a:stretch>
            </a:blipFill>
          </p:spPr>
        </p:sp>
        <p:sp>
          <p:nvSpPr>
            <p:cNvPr name="TextBox 33" id="33"/>
            <p:cNvSpPr txBox="true"/>
            <p:nvPr/>
          </p:nvSpPr>
          <p:spPr>
            <a:xfrm>
              <a:off x="0" y="-76200"/>
              <a:ext cx="5577840" cy="2819400"/>
            </a:xfrm>
            <a:prstGeom prst="rect">
              <a:avLst/>
            </a:prstGeom>
          </p:spPr>
          <p:txBody>
            <a:bodyPr anchor="ctr" rtlCol="false" tIns="0" lIns="0" bIns="0" rIns="0"/>
            <a:lstStyle/>
            <a:p>
              <a:pPr algn="l">
                <a:lnSpc>
                  <a:spcPts val="4139"/>
                </a:lnSpc>
              </a:pPr>
              <a:r>
                <a:rPr lang="en-US" sz="2874">
                  <a:solidFill>
                    <a:srgbClr val="1B1B2F"/>
                  </a:solidFill>
                  <a:latin typeface="Arimo"/>
                  <a:ea typeface="Arimo"/>
                  <a:cs typeface="Arimo"/>
                  <a:sym typeface="Arimo"/>
                </a:rPr>
                <a:t>Consol</a:t>
              </a:r>
              <a:r>
                <a:rPr lang="en-US" sz="2874">
                  <a:solidFill>
                    <a:srgbClr val="1B1B2F"/>
                  </a:solidFill>
                  <a:latin typeface="Arimo"/>
                  <a:ea typeface="Arimo"/>
                  <a:cs typeface="Arimo"/>
                  <a:sym typeface="Arimo"/>
                </a:rPr>
                <a:t>idates diagnoses, treatment, and test records across hospitals.</a:t>
              </a:r>
            </a:p>
          </p:txBody>
        </p:sp>
      </p:grpSp>
      <p:grpSp>
        <p:nvGrpSpPr>
          <p:cNvPr name="Group 34" id="34"/>
          <p:cNvGrpSpPr/>
          <p:nvPr/>
        </p:nvGrpSpPr>
        <p:grpSpPr>
          <a:xfrm rot="0">
            <a:off x="11795760" y="2674620"/>
            <a:ext cx="5006340" cy="4526280"/>
            <a:chOff x="0" y="0"/>
            <a:chExt cx="6675120" cy="6035040"/>
          </a:xfrm>
        </p:grpSpPr>
        <p:sp>
          <p:nvSpPr>
            <p:cNvPr name="Freeform 35" id="35"/>
            <p:cNvSpPr/>
            <p:nvPr/>
          </p:nvSpPr>
          <p:spPr>
            <a:xfrm flipH="false" flipV="false" rot="0">
              <a:off x="0" y="0"/>
              <a:ext cx="6675120" cy="6035040"/>
            </a:xfrm>
            <a:custGeom>
              <a:avLst/>
              <a:gdLst/>
              <a:ahLst/>
              <a:cxnLst/>
              <a:rect r="r" b="b" t="t" l="l"/>
              <a:pathLst>
                <a:path h="6035040" w="6675120">
                  <a:moveTo>
                    <a:pt x="0" y="164592"/>
                  </a:moveTo>
                  <a:cubicBezTo>
                    <a:pt x="0" y="73660"/>
                    <a:pt x="73660" y="0"/>
                    <a:pt x="164592" y="0"/>
                  </a:cubicBezTo>
                  <a:lnTo>
                    <a:pt x="6510528" y="0"/>
                  </a:lnTo>
                  <a:cubicBezTo>
                    <a:pt x="6601460" y="0"/>
                    <a:pt x="6675120" y="73660"/>
                    <a:pt x="6675120" y="164592"/>
                  </a:cubicBezTo>
                  <a:lnTo>
                    <a:pt x="6675120" y="5870448"/>
                  </a:lnTo>
                  <a:cubicBezTo>
                    <a:pt x="6675120" y="5961380"/>
                    <a:pt x="6601460" y="6035040"/>
                    <a:pt x="6510528" y="6035040"/>
                  </a:cubicBezTo>
                  <a:lnTo>
                    <a:pt x="164592" y="6035040"/>
                  </a:lnTo>
                  <a:cubicBezTo>
                    <a:pt x="73660" y="6035040"/>
                    <a:pt x="0" y="5961380"/>
                    <a:pt x="0" y="5870448"/>
                  </a:cubicBezTo>
                  <a:close/>
                </a:path>
              </a:pathLst>
            </a:custGeom>
            <a:solidFill>
              <a:srgbClr val="F3F6FD"/>
            </a:solidFill>
          </p:spPr>
        </p:sp>
      </p:grpSp>
      <p:grpSp>
        <p:nvGrpSpPr>
          <p:cNvPr name="Group 36" id="36"/>
          <p:cNvGrpSpPr/>
          <p:nvPr/>
        </p:nvGrpSpPr>
        <p:grpSpPr>
          <a:xfrm rot="0">
            <a:off x="12207240" y="3086100"/>
            <a:ext cx="685800" cy="685800"/>
            <a:chOff x="0" y="0"/>
            <a:chExt cx="914400" cy="914400"/>
          </a:xfrm>
        </p:grpSpPr>
        <p:sp>
          <p:nvSpPr>
            <p:cNvPr name="Freeform 37" id="3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38" id="38"/>
          <p:cNvGrpSpPr/>
          <p:nvPr/>
        </p:nvGrpSpPr>
        <p:grpSpPr>
          <a:xfrm rot="0">
            <a:off x="12207240" y="3086100"/>
            <a:ext cx="685800" cy="685800"/>
            <a:chOff x="0" y="0"/>
            <a:chExt cx="914400" cy="914400"/>
          </a:xfrm>
        </p:grpSpPr>
        <p:sp>
          <p:nvSpPr>
            <p:cNvPr name="Freeform 39" id="3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40" id="40"/>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FFFFFF"/>
                  </a:solidFill>
                  <a:latin typeface="Arimo Bold"/>
                  <a:ea typeface="Arimo Bold"/>
                  <a:cs typeface="Arimo Bold"/>
                  <a:sym typeface="Arimo Bold"/>
                </a:rPr>
                <a:t>3</a:t>
              </a:r>
            </a:p>
          </p:txBody>
        </p:sp>
      </p:grpSp>
      <p:grpSp>
        <p:nvGrpSpPr>
          <p:cNvPr name="Group 41" id="41"/>
          <p:cNvGrpSpPr/>
          <p:nvPr/>
        </p:nvGrpSpPr>
        <p:grpSpPr>
          <a:xfrm rot="0">
            <a:off x="12065721" y="3313003"/>
            <a:ext cx="4183380" cy="2049214"/>
            <a:chOff x="0" y="0"/>
            <a:chExt cx="5577840" cy="2732285"/>
          </a:xfrm>
        </p:grpSpPr>
        <p:sp>
          <p:nvSpPr>
            <p:cNvPr name="Freeform 42" id="42"/>
            <p:cNvSpPr/>
            <p:nvPr/>
          </p:nvSpPr>
          <p:spPr>
            <a:xfrm flipH="false" flipV="false" rot="0">
              <a:off x="0" y="0"/>
              <a:ext cx="5577840" cy="2732285"/>
            </a:xfrm>
            <a:custGeom>
              <a:avLst/>
              <a:gdLst/>
              <a:ahLst/>
              <a:cxnLst/>
              <a:rect r="r" b="b" t="t" l="l"/>
              <a:pathLst>
                <a:path h="2732285" w="5577840">
                  <a:moveTo>
                    <a:pt x="0" y="0"/>
                  </a:moveTo>
                  <a:lnTo>
                    <a:pt x="5577840" y="0"/>
                  </a:lnTo>
                  <a:lnTo>
                    <a:pt x="5577840" y="2732285"/>
                  </a:lnTo>
                  <a:lnTo>
                    <a:pt x="0" y="2732285"/>
                  </a:lnTo>
                  <a:close/>
                </a:path>
              </a:pathLst>
            </a:custGeom>
            <a:blipFill>
              <a:blip r:embed="rId3">
                <a:alphaModFix amt="0"/>
              </a:blip>
              <a:stretch>
                <a:fillRect l="0" t="-16351" r="0" b="36795"/>
              </a:stretch>
            </a:blipFill>
          </p:spPr>
        </p:sp>
        <p:sp>
          <p:nvSpPr>
            <p:cNvPr name="TextBox 43" id="43"/>
            <p:cNvSpPr txBox="true"/>
            <p:nvPr/>
          </p:nvSpPr>
          <p:spPr>
            <a:xfrm>
              <a:off x="0" y="-19050"/>
              <a:ext cx="5577840" cy="2751335"/>
            </a:xfrm>
            <a:prstGeom prst="rect">
              <a:avLst/>
            </a:prstGeom>
          </p:spPr>
          <p:txBody>
            <a:bodyPr anchor="ctr" rtlCol="false" tIns="0" lIns="0" bIns="0" rIns="0"/>
            <a:lstStyle/>
            <a:p>
              <a:pPr algn="l">
                <a:lnSpc>
                  <a:spcPts val="3499"/>
                </a:lnSpc>
              </a:pPr>
              <a:r>
                <a:rPr lang="en-US" sz="2799" b="true">
                  <a:solidFill>
                    <a:srgbClr val="1E2761"/>
                  </a:solidFill>
                  <a:latin typeface="Cambria Bold"/>
                  <a:ea typeface="Cambria Bold"/>
                  <a:cs typeface="Cambria Bold"/>
                  <a:sym typeface="Cambria Bold"/>
                </a:rPr>
                <a:t>Emergency Data Transfer</a:t>
              </a:r>
            </a:p>
          </p:txBody>
        </p:sp>
      </p:grpSp>
      <p:grpSp>
        <p:nvGrpSpPr>
          <p:cNvPr name="Group 44" id="44"/>
          <p:cNvGrpSpPr/>
          <p:nvPr/>
        </p:nvGrpSpPr>
        <p:grpSpPr>
          <a:xfrm rot="0">
            <a:off x="12065721" y="4772025"/>
            <a:ext cx="4183380" cy="2157449"/>
            <a:chOff x="0" y="0"/>
            <a:chExt cx="5577840" cy="2876599"/>
          </a:xfrm>
        </p:grpSpPr>
        <p:sp>
          <p:nvSpPr>
            <p:cNvPr name="Freeform 45" id="45"/>
            <p:cNvSpPr/>
            <p:nvPr/>
          </p:nvSpPr>
          <p:spPr>
            <a:xfrm flipH="false" flipV="false" rot="0">
              <a:off x="0" y="0"/>
              <a:ext cx="5577840" cy="2876599"/>
            </a:xfrm>
            <a:custGeom>
              <a:avLst/>
              <a:gdLst/>
              <a:ahLst/>
              <a:cxnLst/>
              <a:rect r="r" b="b" t="t" l="l"/>
              <a:pathLst>
                <a:path h="2876599" w="5577840">
                  <a:moveTo>
                    <a:pt x="0" y="0"/>
                  </a:moveTo>
                  <a:lnTo>
                    <a:pt x="5577840" y="0"/>
                  </a:lnTo>
                  <a:lnTo>
                    <a:pt x="5577840" y="2876599"/>
                  </a:lnTo>
                  <a:lnTo>
                    <a:pt x="0" y="2876599"/>
                  </a:lnTo>
                  <a:close/>
                </a:path>
              </a:pathLst>
            </a:custGeom>
            <a:blipFill>
              <a:blip r:embed="rId3">
                <a:alphaModFix amt="0"/>
              </a:blip>
              <a:stretch>
                <a:fillRect l="-13100" t="0" r="-13100" b="4637"/>
              </a:stretch>
            </a:blipFill>
          </p:spPr>
        </p:sp>
        <p:sp>
          <p:nvSpPr>
            <p:cNvPr name="TextBox 46" id="46"/>
            <p:cNvSpPr txBox="true"/>
            <p:nvPr/>
          </p:nvSpPr>
          <p:spPr>
            <a:xfrm>
              <a:off x="0" y="-76200"/>
              <a:ext cx="5577840" cy="2952799"/>
            </a:xfrm>
            <a:prstGeom prst="rect">
              <a:avLst/>
            </a:prstGeom>
          </p:spPr>
          <p:txBody>
            <a:bodyPr anchor="ctr" rtlCol="false" tIns="0" lIns="0" bIns="0" rIns="0"/>
            <a:lstStyle/>
            <a:p>
              <a:pPr algn="l">
                <a:lnSpc>
                  <a:spcPts val="4139"/>
                </a:lnSpc>
              </a:pPr>
              <a:r>
                <a:rPr lang="en-US" sz="2874">
                  <a:solidFill>
                    <a:srgbClr val="1B1B2F"/>
                  </a:solidFill>
                  <a:latin typeface="Arimo"/>
                  <a:ea typeface="Arimo"/>
                  <a:cs typeface="Arimo"/>
                  <a:sym typeface="Arimo"/>
                </a:rPr>
                <a:t>Shar</a:t>
              </a:r>
              <a:r>
                <a:rPr lang="en-US" sz="2874">
                  <a:solidFill>
                    <a:srgbClr val="1B1B2F"/>
                  </a:solidFill>
                  <a:latin typeface="Arimo"/>
                  <a:ea typeface="Arimo"/>
                  <a:cs typeface="Arimo"/>
                  <a:sym typeface="Arimo"/>
                </a:rPr>
                <a:t>es patient history with a receiving hospital during referral.</a:t>
              </a:r>
            </a:p>
            <a:p>
              <a:pPr algn="l">
                <a:lnSpc>
                  <a:spcPts val="4139"/>
                </a:lnSpc>
              </a:pPr>
            </a:p>
          </p:txBody>
        </p:sp>
      </p:grpSp>
      <p:grpSp>
        <p:nvGrpSpPr>
          <p:cNvPr name="Group 47" id="47"/>
          <p:cNvGrpSpPr/>
          <p:nvPr/>
        </p:nvGrpSpPr>
        <p:grpSpPr>
          <a:xfrm rot="0">
            <a:off x="2332495" y="9820656"/>
            <a:ext cx="12344400" cy="411480"/>
            <a:chOff x="0" y="0"/>
            <a:chExt cx="16459200" cy="548640"/>
          </a:xfrm>
        </p:grpSpPr>
        <p:sp>
          <p:nvSpPr>
            <p:cNvPr name="Freeform 48" id="48"/>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49" id="49"/>
            <p:cNvSpPr txBox="true"/>
            <p:nvPr/>
          </p:nvSpPr>
          <p:spPr>
            <a:xfrm>
              <a:off x="0" y="-19050"/>
              <a:ext cx="16459200" cy="567690"/>
            </a:xfrm>
            <a:prstGeom prst="rect">
              <a:avLst/>
            </a:prstGeom>
          </p:spPr>
          <p:txBody>
            <a:bodyPr anchor="ctr" rtlCol="false" tIns="0" lIns="0" bIns="0" rIns="0"/>
            <a:lstStyle/>
            <a:p>
              <a:pPr algn="l">
                <a:lnSpc>
                  <a:spcPts val="1800"/>
                </a:lnSpc>
              </a:pPr>
              <a:r>
                <a:rPr lang="en-US" sz="1500">
                  <a:solidFill>
                    <a:srgbClr val="5B6485"/>
                  </a:solidFill>
                  <a:latin typeface="Arimo"/>
                  <a:ea typeface="Arimo"/>
                  <a:cs typeface="Arimo"/>
                  <a:sym typeface="Arimo"/>
                </a:rPr>
                <a:t>Unified Healthcare Appointment and Immunization Tracking System</a:t>
              </a:r>
            </a:p>
          </p:txBody>
        </p:sp>
      </p:grpSp>
      <p:grpSp>
        <p:nvGrpSpPr>
          <p:cNvPr name="Group 50" id="50"/>
          <p:cNvGrpSpPr/>
          <p:nvPr/>
        </p:nvGrpSpPr>
        <p:grpSpPr>
          <a:xfrm rot="0">
            <a:off x="16915943" y="9820656"/>
            <a:ext cx="548640" cy="411480"/>
            <a:chOff x="0" y="0"/>
            <a:chExt cx="731520" cy="548640"/>
          </a:xfrm>
        </p:grpSpPr>
        <p:sp>
          <p:nvSpPr>
            <p:cNvPr name="Freeform 51" id="51"/>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52" id="52"/>
            <p:cNvSpPr txBox="true"/>
            <p:nvPr/>
          </p:nvSpPr>
          <p:spPr>
            <a:xfrm>
              <a:off x="0" y="-19050"/>
              <a:ext cx="731520" cy="567690"/>
            </a:xfrm>
            <a:prstGeom prst="rect">
              <a:avLst/>
            </a:prstGeom>
          </p:spPr>
          <p:txBody>
            <a:bodyPr anchor="ctr" rtlCol="false" tIns="0" lIns="0" bIns="0" rIns="0"/>
            <a:lstStyle/>
            <a:p>
              <a:pPr algn="r">
                <a:lnSpc>
                  <a:spcPts val="1800"/>
                </a:lnSpc>
              </a:pPr>
              <a:r>
                <a:rPr lang="en-US" sz="1500">
                  <a:solidFill>
                    <a:srgbClr val="5B6485"/>
                  </a:solidFill>
                  <a:latin typeface="Arimo"/>
                  <a:ea typeface="Arimo"/>
                  <a:cs typeface="Arimo"/>
                  <a:sym typeface="Arimo"/>
                </a:rPr>
                <a:t>10</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566160" y="-219456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61C4D"/>
            </a:solidFill>
          </p:spPr>
        </p:sp>
      </p:grpSp>
      <p:grpSp>
        <p:nvGrpSpPr>
          <p:cNvPr name="Group 4" id="4"/>
          <p:cNvGrpSpPr/>
          <p:nvPr/>
        </p:nvGrpSpPr>
        <p:grpSpPr>
          <a:xfrm rot="0">
            <a:off x="-1920240" y="6583680"/>
            <a:ext cx="5212080" cy="5212080"/>
            <a:chOff x="0" y="0"/>
            <a:chExt cx="6949440" cy="6949440"/>
          </a:xfrm>
        </p:grpSpPr>
        <p:sp>
          <p:nvSpPr>
            <p:cNvPr name="Freeform 5" id="5"/>
            <p:cNvSpPr/>
            <p:nvPr/>
          </p:nvSpPr>
          <p:spPr>
            <a:xfrm flipH="false" flipV="false" rot="0">
              <a:off x="0" y="0"/>
              <a:ext cx="6949440" cy="6949440"/>
            </a:xfrm>
            <a:custGeom>
              <a:avLst/>
              <a:gdLst/>
              <a:ahLst/>
              <a:cxnLst/>
              <a:rect r="r" b="b" t="t" l="l"/>
              <a:pathLst>
                <a:path h="6949440" w="6949440">
                  <a:moveTo>
                    <a:pt x="0" y="3474720"/>
                  </a:moveTo>
                  <a:cubicBezTo>
                    <a:pt x="0" y="1555623"/>
                    <a:pt x="1555623" y="0"/>
                    <a:pt x="3474720" y="0"/>
                  </a:cubicBezTo>
                  <a:cubicBezTo>
                    <a:pt x="5393817" y="0"/>
                    <a:pt x="6949440" y="1555623"/>
                    <a:pt x="6949440" y="3474720"/>
                  </a:cubicBezTo>
                  <a:cubicBezTo>
                    <a:pt x="6949440" y="5393817"/>
                    <a:pt x="5393817" y="6949440"/>
                    <a:pt x="3474720" y="6949440"/>
                  </a:cubicBezTo>
                  <a:cubicBezTo>
                    <a:pt x="1555623" y="6949440"/>
                    <a:pt x="0" y="5393817"/>
                    <a:pt x="0" y="3474720"/>
                  </a:cubicBezTo>
                  <a:close/>
                </a:path>
              </a:pathLst>
            </a:custGeom>
            <a:solidFill>
              <a:srgbClr val="161C4D"/>
            </a:solidFill>
          </p:spPr>
        </p:sp>
      </p:grpSp>
      <p:sp>
        <p:nvSpPr>
          <p:cNvPr name="Freeform 6" id="6"/>
          <p:cNvSpPr/>
          <p:nvPr/>
        </p:nvSpPr>
        <p:spPr>
          <a:xfrm flipH="false" flipV="false" rot="0">
            <a:off x="2016328" y="946325"/>
            <a:ext cx="14255344" cy="8394350"/>
          </a:xfrm>
          <a:custGeom>
            <a:avLst/>
            <a:gdLst/>
            <a:ahLst/>
            <a:cxnLst/>
            <a:rect r="r" b="b" t="t" l="l"/>
            <a:pathLst>
              <a:path h="8394350" w="14255344">
                <a:moveTo>
                  <a:pt x="0" y="0"/>
                </a:moveTo>
                <a:lnTo>
                  <a:pt x="14255344" y="0"/>
                </a:lnTo>
                <a:lnTo>
                  <a:pt x="14255344" y="8394350"/>
                </a:lnTo>
                <a:lnTo>
                  <a:pt x="0" y="8394350"/>
                </a:lnTo>
                <a:lnTo>
                  <a:pt x="0" y="0"/>
                </a:lnTo>
                <a:close/>
              </a:path>
            </a:pathLst>
          </a:custGeom>
          <a:blipFill>
            <a:blip r:embed="rId3"/>
            <a:stretch>
              <a:fillRect l="0" t="0" r="0" b="-6137"/>
            </a:stretch>
          </a:blipFill>
        </p:spPr>
      </p:sp>
      <p:grpSp>
        <p:nvGrpSpPr>
          <p:cNvPr name="Group 7" id="7"/>
          <p:cNvGrpSpPr/>
          <p:nvPr/>
        </p:nvGrpSpPr>
        <p:grpSpPr>
          <a:xfrm rot="0">
            <a:off x="482651" y="-777565"/>
            <a:ext cx="4183380" cy="2470055"/>
            <a:chOff x="0" y="0"/>
            <a:chExt cx="5577840" cy="3293406"/>
          </a:xfrm>
        </p:grpSpPr>
        <p:sp>
          <p:nvSpPr>
            <p:cNvPr name="Freeform 8" id="8"/>
            <p:cNvSpPr/>
            <p:nvPr/>
          </p:nvSpPr>
          <p:spPr>
            <a:xfrm flipH="false" flipV="false" rot="0">
              <a:off x="0" y="0"/>
              <a:ext cx="5577840" cy="3293406"/>
            </a:xfrm>
            <a:custGeom>
              <a:avLst/>
              <a:gdLst/>
              <a:ahLst/>
              <a:cxnLst/>
              <a:rect r="r" b="b" t="t" l="l"/>
              <a:pathLst>
                <a:path h="3293406" w="5577840">
                  <a:moveTo>
                    <a:pt x="0" y="0"/>
                  </a:moveTo>
                  <a:lnTo>
                    <a:pt x="5577840" y="0"/>
                  </a:lnTo>
                  <a:lnTo>
                    <a:pt x="5577840" y="3293406"/>
                  </a:lnTo>
                  <a:lnTo>
                    <a:pt x="0" y="3293406"/>
                  </a:lnTo>
                  <a:close/>
                </a:path>
              </a:pathLst>
            </a:custGeom>
            <a:blipFill>
              <a:blip r:embed="rId4">
                <a:alphaModFix amt="0"/>
              </a:blip>
              <a:stretch>
                <a:fillRect l="-13100" t="0" r="-13100" b="16706"/>
              </a:stretch>
            </a:blipFill>
          </p:spPr>
        </p:sp>
        <p:sp>
          <p:nvSpPr>
            <p:cNvPr name="TextBox 9" id="9"/>
            <p:cNvSpPr txBox="true"/>
            <p:nvPr/>
          </p:nvSpPr>
          <p:spPr>
            <a:xfrm>
              <a:off x="0" y="-85725"/>
              <a:ext cx="5577840" cy="3379131"/>
            </a:xfrm>
            <a:prstGeom prst="rect">
              <a:avLst/>
            </a:prstGeom>
          </p:spPr>
          <p:txBody>
            <a:bodyPr anchor="ctr" rtlCol="false" tIns="0" lIns="0" bIns="0" rIns="0"/>
            <a:lstStyle/>
            <a:p>
              <a:pPr algn="l">
                <a:lnSpc>
                  <a:spcPts val="4859"/>
                </a:lnSpc>
              </a:pPr>
              <a:r>
                <a:rPr lang="en-US" sz="3374">
                  <a:solidFill>
                    <a:srgbClr val="FFFFFF"/>
                  </a:solidFill>
                  <a:latin typeface="Cambria"/>
                  <a:ea typeface="Cambria"/>
                  <a:cs typeface="Cambria"/>
                  <a:sym typeface="Cambria"/>
                </a:rPr>
                <a:t>Login Page</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566160" y="-219456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61C4D"/>
            </a:solidFill>
          </p:spPr>
        </p:sp>
      </p:grpSp>
      <p:grpSp>
        <p:nvGrpSpPr>
          <p:cNvPr name="Group 4" id="4"/>
          <p:cNvGrpSpPr/>
          <p:nvPr/>
        </p:nvGrpSpPr>
        <p:grpSpPr>
          <a:xfrm rot="0">
            <a:off x="-1920240" y="6583680"/>
            <a:ext cx="5212080" cy="5212080"/>
            <a:chOff x="0" y="0"/>
            <a:chExt cx="6949440" cy="6949440"/>
          </a:xfrm>
        </p:grpSpPr>
        <p:sp>
          <p:nvSpPr>
            <p:cNvPr name="Freeform 5" id="5"/>
            <p:cNvSpPr/>
            <p:nvPr/>
          </p:nvSpPr>
          <p:spPr>
            <a:xfrm flipH="false" flipV="false" rot="0">
              <a:off x="0" y="0"/>
              <a:ext cx="6949440" cy="6949440"/>
            </a:xfrm>
            <a:custGeom>
              <a:avLst/>
              <a:gdLst/>
              <a:ahLst/>
              <a:cxnLst/>
              <a:rect r="r" b="b" t="t" l="l"/>
              <a:pathLst>
                <a:path h="6949440" w="6949440">
                  <a:moveTo>
                    <a:pt x="0" y="3474720"/>
                  </a:moveTo>
                  <a:cubicBezTo>
                    <a:pt x="0" y="1555623"/>
                    <a:pt x="1555623" y="0"/>
                    <a:pt x="3474720" y="0"/>
                  </a:cubicBezTo>
                  <a:cubicBezTo>
                    <a:pt x="5393817" y="0"/>
                    <a:pt x="6949440" y="1555623"/>
                    <a:pt x="6949440" y="3474720"/>
                  </a:cubicBezTo>
                  <a:cubicBezTo>
                    <a:pt x="6949440" y="5393817"/>
                    <a:pt x="5393817" y="6949440"/>
                    <a:pt x="3474720" y="6949440"/>
                  </a:cubicBezTo>
                  <a:cubicBezTo>
                    <a:pt x="1555623" y="6949440"/>
                    <a:pt x="0" y="5393817"/>
                    <a:pt x="0" y="3474720"/>
                  </a:cubicBezTo>
                  <a:close/>
                </a:path>
              </a:pathLst>
            </a:custGeom>
            <a:solidFill>
              <a:srgbClr val="161C4D"/>
            </a:solidFill>
          </p:spPr>
        </p:sp>
      </p:grpSp>
      <p:sp>
        <p:nvSpPr>
          <p:cNvPr name="Freeform 6" id="6"/>
          <p:cNvSpPr/>
          <p:nvPr/>
        </p:nvSpPr>
        <p:spPr>
          <a:xfrm flipH="false" flipV="false" rot="0">
            <a:off x="2198099" y="1416886"/>
            <a:ext cx="13891803" cy="7841414"/>
          </a:xfrm>
          <a:custGeom>
            <a:avLst/>
            <a:gdLst/>
            <a:ahLst/>
            <a:cxnLst/>
            <a:rect r="r" b="b" t="t" l="l"/>
            <a:pathLst>
              <a:path h="7841414" w="13891803">
                <a:moveTo>
                  <a:pt x="0" y="0"/>
                </a:moveTo>
                <a:lnTo>
                  <a:pt x="13891802" y="0"/>
                </a:lnTo>
                <a:lnTo>
                  <a:pt x="13891802" y="7841414"/>
                </a:lnTo>
                <a:lnTo>
                  <a:pt x="0" y="7841414"/>
                </a:lnTo>
                <a:lnTo>
                  <a:pt x="0" y="0"/>
                </a:lnTo>
                <a:close/>
              </a:path>
            </a:pathLst>
          </a:custGeom>
          <a:blipFill>
            <a:blip r:embed="rId3"/>
            <a:stretch>
              <a:fillRect l="0" t="-4239" r="0" b="-6484"/>
            </a:stretch>
          </a:blipFill>
        </p:spPr>
      </p:sp>
      <p:grpSp>
        <p:nvGrpSpPr>
          <p:cNvPr name="Group 7" id="7"/>
          <p:cNvGrpSpPr/>
          <p:nvPr/>
        </p:nvGrpSpPr>
        <p:grpSpPr>
          <a:xfrm rot="0">
            <a:off x="482651" y="-542878"/>
            <a:ext cx="4183380" cy="2470055"/>
            <a:chOff x="0" y="0"/>
            <a:chExt cx="5577840" cy="3293406"/>
          </a:xfrm>
        </p:grpSpPr>
        <p:sp>
          <p:nvSpPr>
            <p:cNvPr name="Freeform 8" id="8"/>
            <p:cNvSpPr/>
            <p:nvPr/>
          </p:nvSpPr>
          <p:spPr>
            <a:xfrm flipH="false" flipV="false" rot="0">
              <a:off x="0" y="0"/>
              <a:ext cx="5577840" cy="3293406"/>
            </a:xfrm>
            <a:custGeom>
              <a:avLst/>
              <a:gdLst/>
              <a:ahLst/>
              <a:cxnLst/>
              <a:rect r="r" b="b" t="t" l="l"/>
              <a:pathLst>
                <a:path h="3293406" w="5577840">
                  <a:moveTo>
                    <a:pt x="0" y="0"/>
                  </a:moveTo>
                  <a:lnTo>
                    <a:pt x="5577840" y="0"/>
                  </a:lnTo>
                  <a:lnTo>
                    <a:pt x="5577840" y="3293406"/>
                  </a:lnTo>
                  <a:lnTo>
                    <a:pt x="0" y="3293406"/>
                  </a:lnTo>
                  <a:close/>
                </a:path>
              </a:pathLst>
            </a:custGeom>
            <a:blipFill>
              <a:blip r:embed="rId4">
                <a:alphaModFix amt="0"/>
              </a:blip>
              <a:stretch>
                <a:fillRect l="-13100" t="0" r="-13100" b="16706"/>
              </a:stretch>
            </a:blipFill>
          </p:spPr>
        </p:sp>
        <p:sp>
          <p:nvSpPr>
            <p:cNvPr name="TextBox 9" id="9"/>
            <p:cNvSpPr txBox="true"/>
            <p:nvPr/>
          </p:nvSpPr>
          <p:spPr>
            <a:xfrm>
              <a:off x="0" y="-85725"/>
              <a:ext cx="5577840" cy="3379131"/>
            </a:xfrm>
            <a:prstGeom prst="rect">
              <a:avLst/>
            </a:prstGeom>
          </p:spPr>
          <p:txBody>
            <a:bodyPr anchor="ctr" rtlCol="false" tIns="0" lIns="0" bIns="0" rIns="0"/>
            <a:lstStyle/>
            <a:p>
              <a:pPr algn="l">
                <a:lnSpc>
                  <a:spcPts val="4859"/>
                </a:lnSpc>
              </a:pPr>
              <a:r>
                <a:rPr lang="en-US" sz="3374">
                  <a:solidFill>
                    <a:srgbClr val="FFFFFF"/>
                  </a:solidFill>
                  <a:latin typeface="Cambria"/>
                  <a:ea typeface="Cambria"/>
                  <a:cs typeface="Cambria"/>
                  <a:sym typeface="Cambria"/>
                </a:rPr>
                <a:t>Dashboard</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566160" y="-219456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61C4D"/>
            </a:solidFill>
          </p:spPr>
        </p:sp>
      </p:grpSp>
      <p:grpSp>
        <p:nvGrpSpPr>
          <p:cNvPr name="Group 4" id="4"/>
          <p:cNvGrpSpPr/>
          <p:nvPr/>
        </p:nvGrpSpPr>
        <p:grpSpPr>
          <a:xfrm rot="0">
            <a:off x="-1920240" y="6583680"/>
            <a:ext cx="5212080" cy="5212080"/>
            <a:chOff x="0" y="0"/>
            <a:chExt cx="6949440" cy="6949440"/>
          </a:xfrm>
        </p:grpSpPr>
        <p:sp>
          <p:nvSpPr>
            <p:cNvPr name="Freeform 5" id="5"/>
            <p:cNvSpPr/>
            <p:nvPr/>
          </p:nvSpPr>
          <p:spPr>
            <a:xfrm flipH="false" flipV="false" rot="0">
              <a:off x="0" y="0"/>
              <a:ext cx="6949440" cy="6949440"/>
            </a:xfrm>
            <a:custGeom>
              <a:avLst/>
              <a:gdLst/>
              <a:ahLst/>
              <a:cxnLst/>
              <a:rect r="r" b="b" t="t" l="l"/>
              <a:pathLst>
                <a:path h="6949440" w="6949440">
                  <a:moveTo>
                    <a:pt x="0" y="3474720"/>
                  </a:moveTo>
                  <a:cubicBezTo>
                    <a:pt x="0" y="1555623"/>
                    <a:pt x="1555623" y="0"/>
                    <a:pt x="3474720" y="0"/>
                  </a:cubicBezTo>
                  <a:cubicBezTo>
                    <a:pt x="5393817" y="0"/>
                    <a:pt x="6949440" y="1555623"/>
                    <a:pt x="6949440" y="3474720"/>
                  </a:cubicBezTo>
                  <a:cubicBezTo>
                    <a:pt x="6949440" y="5393817"/>
                    <a:pt x="5393817" y="6949440"/>
                    <a:pt x="3474720" y="6949440"/>
                  </a:cubicBezTo>
                  <a:cubicBezTo>
                    <a:pt x="1555623" y="6949440"/>
                    <a:pt x="0" y="5393817"/>
                    <a:pt x="0" y="3474720"/>
                  </a:cubicBezTo>
                  <a:close/>
                </a:path>
              </a:pathLst>
            </a:custGeom>
            <a:solidFill>
              <a:srgbClr val="161C4D"/>
            </a:solidFill>
          </p:spPr>
        </p:sp>
      </p:grpSp>
      <p:sp>
        <p:nvSpPr>
          <p:cNvPr name="Freeform 6" id="6"/>
          <p:cNvSpPr/>
          <p:nvPr/>
        </p:nvSpPr>
        <p:spPr>
          <a:xfrm flipH="false" flipV="false" rot="0">
            <a:off x="1541271" y="863849"/>
            <a:ext cx="15205001" cy="8696463"/>
          </a:xfrm>
          <a:custGeom>
            <a:avLst/>
            <a:gdLst/>
            <a:ahLst/>
            <a:cxnLst/>
            <a:rect r="r" b="b" t="t" l="l"/>
            <a:pathLst>
              <a:path h="8696463" w="15205001">
                <a:moveTo>
                  <a:pt x="0" y="0"/>
                </a:moveTo>
                <a:lnTo>
                  <a:pt x="15205001" y="0"/>
                </a:lnTo>
                <a:lnTo>
                  <a:pt x="15205001" y="8696462"/>
                </a:lnTo>
                <a:lnTo>
                  <a:pt x="0" y="8696462"/>
                </a:lnTo>
                <a:lnTo>
                  <a:pt x="0" y="0"/>
                </a:lnTo>
                <a:close/>
              </a:path>
            </a:pathLst>
          </a:custGeom>
          <a:blipFill>
            <a:blip r:embed="rId3"/>
            <a:stretch>
              <a:fillRect l="0" t="-3838" r="0" b="-5437"/>
            </a:stretch>
          </a:blipFill>
        </p:spPr>
      </p:sp>
      <p:grpSp>
        <p:nvGrpSpPr>
          <p:cNvPr name="Group 7" id="7"/>
          <p:cNvGrpSpPr/>
          <p:nvPr/>
        </p:nvGrpSpPr>
        <p:grpSpPr>
          <a:xfrm rot="0">
            <a:off x="482651" y="-777565"/>
            <a:ext cx="4183380" cy="2470055"/>
            <a:chOff x="0" y="0"/>
            <a:chExt cx="5577840" cy="3293406"/>
          </a:xfrm>
        </p:grpSpPr>
        <p:sp>
          <p:nvSpPr>
            <p:cNvPr name="Freeform 8" id="8"/>
            <p:cNvSpPr/>
            <p:nvPr/>
          </p:nvSpPr>
          <p:spPr>
            <a:xfrm flipH="false" flipV="false" rot="0">
              <a:off x="0" y="0"/>
              <a:ext cx="5577840" cy="3293406"/>
            </a:xfrm>
            <a:custGeom>
              <a:avLst/>
              <a:gdLst/>
              <a:ahLst/>
              <a:cxnLst/>
              <a:rect r="r" b="b" t="t" l="l"/>
              <a:pathLst>
                <a:path h="3293406" w="5577840">
                  <a:moveTo>
                    <a:pt x="0" y="0"/>
                  </a:moveTo>
                  <a:lnTo>
                    <a:pt x="5577840" y="0"/>
                  </a:lnTo>
                  <a:lnTo>
                    <a:pt x="5577840" y="3293406"/>
                  </a:lnTo>
                  <a:lnTo>
                    <a:pt x="0" y="3293406"/>
                  </a:lnTo>
                  <a:close/>
                </a:path>
              </a:pathLst>
            </a:custGeom>
            <a:blipFill>
              <a:blip r:embed="rId4">
                <a:alphaModFix amt="0"/>
              </a:blip>
              <a:stretch>
                <a:fillRect l="-13100" t="0" r="-13100" b="16706"/>
              </a:stretch>
            </a:blipFill>
          </p:spPr>
        </p:sp>
        <p:sp>
          <p:nvSpPr>
            <p:cNvPr name="TextBox 9" id="9"/>
            <p:cNvSpPr txBox="true"/>
            <p:nvPr/>
          </p:nvSpPr>
          <p:spPr>
            <a:xfrm>
              <a:off x="0" y="-85725"/>
              <a:ext cx="5577840" cy="3379131"/>
            </a:xfrm>
            <a:prstGeom prst="rect">
              <a:avLst/>
            </a:prstGeom>
          </p:spPr>
          <p:txBody>
            <a:bodyPr anchor="ctr" rtlCol="false" tIns="0" lIns="0" bIns="0" rIns="0"/>
            <a:lstStyle/>
            <a:p>
              <a:pPr algn="l">
                <a:lnSpc>
                  <a:spcPts val="4859"/>
                </a:lnSpc>
              </a:pPr>
              <a:r>
                <a:rPr lang="en-US" sz="3374">
                  <a:solidFill>
                    <a:srgbClr val="FFFFFF"/>
                  </a:solidFill>
                  <a:latin typeface="Cambria"/>
                  <a:ea typeface="Cambria"/>
                  <a:cs typeface="Cambria"/>
                  <a:sym typeface="Cambria"/>
                </a:rPr>
                <a:t>Appointments</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1906278" y="1165601"/>
            <a:ext cx="14475444" cy="8229600"/>
          </a:xfrm>
          <a:custGeom>
            <a:avLst/>
            <a:gdLst/>
            <a:ahLst/>
            <a:cxnLst/>
            <a:rect r="r" b="b" t="t" l="l"/>
            <a:pathLst>
              <a:path h="8229600" w="14475444">
                <a:moveTo>
                  <a:pt x="0" y="0"/>
                </a:moveTo>
                <a:lnTo>
                  <a:pt x="14475444" y="0"/>
                </a:lnTo>
                <a:lnTo>
                  <a:pt x="14475444" y="8229600"/>
                </a:lnTo>
                <a:lnTo>
                  <a:pt x="0" y="8229600"/>
                </a:lnTo>
                <a:lnTo>
                  <a:pt x="0" y="0"/>
                </a:lnTo>
                <a:close/>
              </a:path>
            </a:pathLst>
          </a:custGeom>
          <a:blipFill>
            <a:blip r:embed="rId2"/>
            <a:stretch>
              <a:fillRect l="0" t="-4967" r="0" b="-4967"/>
            </a:stretch>
          </a:blipFill>
        </p:spPr>
      </p:sp>
      <p:grpSp>
        <p:nvGrpSpPr>
          <p:cNvPr name="Group 3" id="3"/>
          <p:cNvGrpSpPr/>
          <p:nvPr/>
        </p:nvGrpSpPr>
        <p:grpSpPr>
          <a:xfrm rot="0">
            <a:off x="482651" y="-687895"/>
            <a:ext cx="5083014" cy="2470055"/>
            <a:chOff x="0" y="0"/>
            <a:chExt cx="6777352" cy="3293406"/>
          </a:xfrm>
        </p:grpSpPr>
        <p:sp>
          <p:nvSpPr>
            <p:cNvPr name="Freeform 4" id="4"/>
            <p:cNvSpPr/>
            <p:nvPr/>
          </p:nvSpPr>
          <p:spPr>
            <a:xfrm flipH="false" flipV="false" rot="0">
              <a:off x="0" y="0"/>
              <a:ext cx="6777352" cy="3293406"/>
            </a:xfrm>
            <a:custGeom>
              <a:avLst/>
              <a:gdLst/>
              <a:ahLst/>
              <a:cxnLst/>
              <a:rect r="r" b="b" t="t" l="l"/>
              <a:pathLst>
                <a:path h="3293406" w="6777352">
                  <a:moveTo>
                    <a:pt x="0" y="0"/>
                  </a:moveTo>
                  <a:lnTo>
                    <a:pt x="6777352" y="0"/>
                  </a:lnTo>
                  <a:lnTo>
                    <a:pt x="6777352" y="3293406"/>
                  </a:lnTo>
                  <a:lnTo>
                    <a:pt x="0" y="3293406"/>
                  </a:lnTo>
                  <a:close/>
                </a:path>
              </a:pathLst>
            </a:custGeom>
            <a:blipFill>
              <a:blip r:embed="rId3">
                <a:alphaModFix amt="0"/>
              </a:blip>
              <a:stretch>
                <a:fillRect l="-10781" t="0" r="6917" b="16706"/>
              </a:stretch>
            </a:blipFill>
          </p:spPr>
        </p:sp>
        <p:sp>
          <p:nvSpPr>
            <p:cNvPr name="TextBox 5" id="5"/>
            <p:cNvSpPr txBox="true"/>
            <p:nvPr/>
          </p:nvSpPr>
          <p:spPr>
            <a:xfrm>
              <a:off x="0" y="-85725"/>
              <a:ext cx="6777352" cy="3379131"/>
            </a:xfrm>
            <a:prstGeom prst="rect">
              <a:avLst/>
            </a:prstGeom>
          </p:spPr>
          <p:txBody>
            <a:bodyPr anchor="ctr" rtlCol="false" tIns="0" lIns="0" bIns="0" rIns="0"/>
            <a:lstStyle/>
            <a:p>
              <a:pPr algn="l">
                <a:lnSpc>
                  <a:spcPts val="4859"/>
                </a:lnSpc>
              </a:pPr>
              <a:r>
                <a:rPr lang="en-US" sz="3374">
                  <a:solidFill>
                    <a:srgbClr val="FFFFFF"/>
                  </a:solidFill>
                  <a:latin typeface="Cambria"/>
                  <a:ea typeface="Cambria"/>
                  <a:cs typeface="Cambria"/>
                  <a:sym typeface="Cambria"/>
                </a:rPr>
                <a:t>Appointment suggestions</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566160" y="-219456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61C4D"/>
            </a:solidFill>
          </p:spPr>
        </p:sp>
      </p:grpSp>
      <p:grpSp>
        <p:nvGrpSpPr>
          <p:cNvPr name="Group 4" id="4"/>
          <p:cNvGrpSpPr/>
          <p:nvPr/>
        </p:nvGrpSpPr>
        <p:grpSpPr>
          <a:xfrm rot="0">
            <a:off x="-1920240" y="6583680"/>
            <a:ext cx="5212080" cy="5212080"/>
            <a:chOff x="0" y="0"/>
            <a:chExt cx="6949440" cy="6949440"/>
          </a:xfrm>
        </p:grpSpPr>
        <p:sp>
          <p:nvSpPr>
            <p:cNvPr name="Freeform 5" id="5"/>
            <p:cNvSpPr/>
            <p:nvPr/>
          </p:nvSpPr>
          <p:spPr>
            <a:xfrm flipH="false" flipV="false" rot="0">
              <a:off x="0" y="0"/>
              <a:ext cx="6949440" cy="6949440"/>
            </a:xfrm>
            <a:custGeom>
              <a:avLst/>
              <a:gdLst/>
              <a:ahLst/>
              <a:cxnLst/>
              <a:rect r="r" b="b" t="t" l="l"/>
              <a:pathLst>
                <a:path h="6949440" w="6949440">
                  <a:moveTo>
                    <a:pt x="0" y="3474720"/>
                  </a:moveTo>
                  <a:cubicBezTo>
                    <a:pt x="0" y="1555623"/>
                    <a:pt x="1555623" y="0"/>
                    <a:pt x="3474720" y="0"/>
                  </a:cubicBezTo>
                  <a:cubicBezTo>
                    <a:pt x="5393817" y="0"/>
                    <a:pt x="6949440" y="1555623"/>
                    <a:pt x="6949440" y="3474720"/>
                  </a:cubicBezTo>
                  <a:cubicBezTo>
                    <a:pt x="6949440" y="5393817"/>
                    <a:pt x="5393817" y="6949440"/>
                    <a:pt x="3474720" y="6949440"/>
                  </a:cubicBezTo>
                  <a:cubicBezTo>
                    <a:pt x="1555623" y="6949440"/>
                    <a:pt x="0" y="5393817"/>
                    <a:pt x="0" y="3474720"/>
                  </a:cubicBezTo>
                  <a:close/>
                </a:path>
              </a:pathLst>
            </a:custGeom>
            <a:solidFill>
              <a:srgbClr val="161C4D"/>
            </a:solidFill>
          </p:spPr>
        </p:sp>
      </p:grpSp>
      <p:sp>
        <p:nvSpPr>
          <p:cNvPr name="Freeform 6" id="6"/>
          <p:cNvSpPr/>
          <p:nvPr/>
        </p:nvSpPr>
        <p:spPr>
          <a:xfrm flipH="false" flipV="false" rot="0">
            <a:off x="1704763" y="1028700"/>
            <a:ext cx="14878016" cy="8516470"/>
          </a:xfrm>
          <a:custGeom>
            <a:avLst/>
            <a:gdLst/>
            <a:ahLst/>
            <a:cxnLst/>
            <a:rect r="r" b="b" t="t" l="l"/>
            <a:pathLst>
              <a:path h="8516470" w="14878016">
                <a:moveTo>
                  <a:pt x="0" y="0"/>
                </a:moveTo>
                <a:lnTo>
                  <a:pt x="14878017" y="0"/>
                </a:lnTo>
                <a:lnTo>
                  <a:pt x="14878017" y="8516470"/>
                </a:lnTo>
                <a:lnTo>
                  <a:pt x="0" y="8516470"/>
                </a:lnTo>
                <a:lnTo>
                  <a:pt x="0" y="0"/>
                </a:lnTo>
                <a:close/>
              </a:path>
            </a:pathLst>
          </a:custGeom>
          <a:blipFill>
            <a:blip r:embed="rId3"/>
            <a:stretch>
              <a:fillRect l="0" t="-3674" r="0" b="-5511"/>
            </a:stretch>
          </a:blipFill>
        </p:spPr>
      </p:sp>
      <p:grpSp>
        <p:nvGrpSpPr>
          <p:cNvPr name="Group 7" id="7"/>
          <p:cNvGrpSpPr/>
          <p:nvPr/>
        </p:nvGrpSpPr>
        <p:grpSpPr>
          <a:xfrm rot="0">
            <a:off x="482651" y="-687895"/>
            <a:ext cx="5083014" cy="2470055"/>
            <a:chOff x="0" y="0"/>
            <a:chExt cx="6777352" cy="3293406"/>
          </a:xfrm>
        </p:grpSpPr>
        <p:sp>
          <p:nvSpPr>
            <p:cNvPr name="Freeform 8" id="8"/>
            <p:cNvSpPr/>
            <p:nvPr/>
          </p:nvSpPr>
          <p:spPr>
            <a:xfrm flipH="false" flipV="false" rot="0">
              <a:off x="0" y="0"/>
              <a:ext cx="6777352" cy="3293406"/>
            </a:xfrm>
            <a:custGeom>
              <a:avLst/>
              <a:gdLst/>
              <a:ahLst/>
              <a:cxnLst/>
              <a:rect r="r" b="b" t="t" l="l"/>
              <a:pathLst>
                <a:path h="3293406" w="6777352">
                  <a:moveTo>
                    <a:pt x="0" y="0"/>
                  </a:moveTo>
                  <a:lnTo>
                    <a:pt x="6777352" y="0"/>
                  </a:lnTo>
                  <a:lnTo>
                    <a:pt x="6777352" y="3293406"/>
                  </a:lnTo>
                  <a:lnTo>
                    <a:pt x="0" y="3293406"/>
                  </a:lnTo>
                  <a:close/>
                </a:path>
              </a:pathLst>
            </a:custGeom>
            <a:blipFill>
              <a:blip r:embed="rId4">
                <a:alphaModFix amt="0"/>
              </a:blip>
              <a:stretch>
                <a:fillRect l="-10781" t="0" r="6917" b="16706"/>
              </a:stretch>
            </a:blipFill>
          </p:spPr>
        </p:sp>
        <p:sp>
          <p:nvSpPr>
            <p:cNvPr name="TextBox 9" id="9"/>
            <p:cNvSpPr txBox="true"/>
            <p:nvPr/>
          </p:nvSpPr>
          <p:spPr>
            <a:xfrm>
              <a:off x="0" y="-85725"/>
              <a:ext cx="6777352" cy="3379131"/>
            </a:xfrm>
            <a:prstGeom prst="rect">
              <a:avLst/>
            </a:prstGeom>
          </p:spPr>
          <p:txBody>
            <a:bodyPr anchor="ctr" rtlCol="false" tIns="0" lIns="0" bIns="0" rIns="0"/>
            <a:lstStyle/>
            <a:p>
              <a:pPr algn="l">
                <a:lnSpc>
                  <a:spcPts val="4859"/>
                </a:lnSpc>
              </a:pPr>
              <a:r>
                <a:rPr lang="en-US" sz="3374">
                  <a:solidFill>
                    <a:srgbClr val="FFFFFF"/>
                  </a:solidFill>
                  <a:latin typeface="Cambria"/>
                  <a:ea typeface="Cambria"/>
                  <a:cs typeface="Cambria"/>
                  <a:sym typeface="Cambria"/>
                </a:rPr>
                <a:t>Immunization Records</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566160" y="-219456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61C4D"/>
            </a:solidFill>
          </p:spPr>
        </p:sp>
      </p:grpSp>
      <p:grpSp>
        <p:nvGrpSpPr>
          <p:cNvPr name="Group 4" id="4"/>
          <p:cNvGrpSpPr/>
          <p:nvPr/>
        </p:nvGrpSpPr>
        <p:grpSpPr>
          <a:xfrm rot="0">
            <a:off x="-1920240" y="6583680"/>
            <a:ext cx="5212080" cy="5212080"/>
            <a:chOff x="0" y="0"/>
            <a:chExt cx="6949440" cy="6949440"/>
          </a:xfrm>
        </p:grpSpPr>
        <p:sp>
          <p:nvSpPr>
            <p:cNvPr name="Freeform 5" id="5"/>
            <p:cNvSpPr/>
            <p:nvPr/>
          </p:nvSpPr>
          <p:spPr>
            <a:xfrm flipH="false" flipV="false" rot="0">
              <a:off x="0" y="0"/>
              <a:ext cx="6949440" cy="6949440"/>
            </a:xfrm>
            <a:custGeom>
              <a:avLst/>
              <a:gdLst/>
              <a:ahLst/>
              <a:cxnLst/>
              <a:rect r="r" b="b" t="t" l="l"/>
              <a:pathLst>
                <a:path h="6949440" w="6949440">
                  <a:moveTo>
                    <a:pt x="0" y="3474720"/>
                  </a:moveTo>
                  <a:cubicBezTo>
                    <a:pt x="0" y="1555623"/>
                    <a:pt x="1555623" y="0"/>
                    <a:pt x="3474720" y="0"/>
                  </a:cubicBezTo>
                  <a:cubicBezTo>
                    <a:pt x="5393817" y="0"/>
                    <a:pt x="6949440" y="1555623"/>
                    <a:pt x="6949440" y="3474720"/>
                  </a:cubicBezTo>
                  <a:cubicBezTo>
                    <a:pt x="6949440" y="5393817"/>
                    <a:pt x="5393817" y="6949440"/>
                    <a:pt x="3474720" y="6949440"/>
                  </a:cubicBezTo>
                  <a:cubicBezTo>
                    <a:pt x="1555623" y="6949440"/>
                    <a:pt x="0" y="5393817"/>
                    <a:pt x="0" y="3474720"/>
                  </a:cubicBezTo>
                  <a:close/>
                </a:path>
              </a:pathLst>
            </a:custGeom>
            <a:solidFill>
              <a:srgbClr val="161C4D"/>
            </a:solidFill>
          </p:spPr>
        </p:sp>
      </p:grpSp>
      <p:sp>
        <p:nvSpPr>
          <p:cNvPr name="Freeform 6" id="6"/>
          <p:cNvSpPr/>
          <p:nvPr/>
        </p:nvSpPr>
        <p:spPr>
          <a:xfrm flipH="false" flipV="false" rot="0">
            <a:off x="1819133" y="954060"/>
            <a:ext cx="14649734" cy="8378879"/>
          </a:xfrm>
          <a:custGeom>
            <a:avLst/>
            <a:gdLst/>
            <a:ahLst/>
            <a:cxnLst/>
            <a:rect r="r" b="b" t="t" l="l"/>
            <a:pathLst>
              <a:path h="8378879" w="14649734">
                <a:moveTo>
                  <a:pt x="0" y="0"/>
                </a:moveTo>
                <a:lnTo>
                  <a:pt x="14649734" y="0"/>
                </a:lnTo>
                <a:lnTo>
                  <a:pt x="14649734" y="8378880"/>
                </a:lnTo>
                <a:lnTo>
                  <a:pt x="0" y="8378880"/>
                </a:lnTo>
                <a:lnTo>
                  <a:pt x="0" y="0"/>
                </a:lnTo>
                <a:close/>
              </a:path>
            </a:pathLst>
          </a:custGeom>
          <a:blipFill>
            <a:blip r:embed="rId3"/>
            <a:stretch>
              <a:fillRect l="0" t="-3838" r="0" b="-5437"/>
            </a:stretch>
          </a:blipFill>
        </p:spPr>
      </p:sp>
      <p:grpSp>
        <p:nvGrpSpPr>
          <p:cNvPr name="Group 7" id="7"/>
          <p:cNvGrpSpPr/>
          <p:nvPr/>
        </p:nvGrpSpPr>
        <p:grpSpPr>
          <a:xfrm rot="0">
            <a:off x="482651" y="-687895"/>
            <a:ext cx="5083014" cy="2470055"/>
            <a:chOff x="0" y="0"/>
            <a:chExt cx="6777352" cy="3293406"/>
          </a:xfrm>
        </p:grpSpPr>
        <p:sp>
          <p:nvSpPr>
            <p:cNvPr name="Freeform 8" id="8"/>
            <p:cNvSpPr/>
            <p:nvPr/>
          </p:nvSpPr>
          <p:spPr>
            <a:xfrm flipH="false" flipV="false" rot="0">
              <a:off x="0" y="0"/>
              <a:ext cx="6777352" cy="3293406"/>
            </a:xfrm>
            <a:custGeom>
              <a:avLst/>
              <a:gdLst/>
              <a:ahLst/>
              <a:cxnLst/>
              <a:rect r="r" b="b" t="t" l="l"/>
              <a:pathLst>
                <a:path h="3293406" w="6777352">
                  <a:moveTo>
                    <a:pt x="0" y="0"/>
                  </a:moveTo>
                  <a:lnTo>
                    <a:pt x="6777352" y="0"/>
                  </a:lnTo>
                  <a:lnTo>
                    <a:pt x="6777352" y="3293406"/>
                  </a:lnTo>
                  <a:lnTo>
                    <a:pt x="0" y="3293406"/>
                  </a:lnTo>
                  <a:close/>
                </a:path>
              </a:pathLst>
            </a:custGeom>
            <a:blipFill>
              <a:blip r:embed="rId4">
                <a:alphaModFix amt="0"/>
              </a:blip>
              <a:stretch>
                <a:fillRect l="-10781" t="0" r="6917" b="16706"/>
              </a:stretch>
            </a:blipFill>
          </p:spPr>
        </p:sp>
        <p:sp>
          <p:nvSpPr>
            <p:cNvPr name="TextBox 9" id="9"/>
            <p:cNvSpPr txBox="true"/>
            <p:nvPr/>
          </p:nvSpPr>
          <p:spPr>
            <a:xfrm>
              <a:off x="0" y="-85725"/>
              <a:ext cx="6777352" cy="3379131"/>
            </a:xfrm>
            <a:prstGeom prst="rect">
              <a:avLst/>
            </a:prstGeom>
          </p:spPr>
          <p:txBody>
            <a:bodyPr anchor="ctr" rtlCol="false" tIns="0" lIns="0" bIns="0" rIns="0"/>
            <a:lstStyle/>
            <a:p>
              <a:pPr algn="l">
                <a:lnSpc>
                  <a:spcPts val="4859"/>
                </a:lnSpc>
              </a:pPr>
              <a:r>
                <a:rPr lang="en-US" sz="3374">
                  <a:solidFill>
                    <a:srgbClr val="FFFFFF"/>
                  </a:solidFill>
                  <a:latin typeface="Cambria"/>
                  <a:ea typeface="Cambria"/>
                  <a:cs typeface="Cambria"/>
                  <a:sym typeface="Cambria"/>
                </a:rPr>
                <a:t>ABHA ID</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566160" y="-219456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61C4D"/>
            </a:solidFill>
          </p:spPr>
        </p:sp>
      </p:grpSp>
      <p:grpSp>
        <p:nvGrpSpPr>
          <p:cNvPr name="Group 4" id="4"/>
          <p:cNvGrpSpPr/>
          <p:nvPr/>
        </p:nvGrpSpPr>
        <p:grpSpPr>
          <a:xfrm rot="0">
            <a:off x="-1920240" y="6583680"/>
            <a:ext cx="5212080" cy="5212080"/>
            <a:chOff x="0" y="0"/>
            <a:chExt cx="6949440" cy="6949440"/>
          </a:xfrm>
        </p:grpSpPr>
        <p:sp>
          <p:nvSpPr>
            <p:cNvPr name="Freeform 5" id="5"/>
            <p:cNvSpPr/>
            <p:nvPr/>
          </p:nvSpPr>
          <p:spPr>
            <a:xfrm flipH="false" flipV="false" rot="0">
              <a:off x="0" y="0"/>
              <a:ext cx="6949440" cy="6949440"/>
            </a:xfrm>
            <a:custGeom>
              <a:avLst/>
              <a:gdLst/>
              <a:ahLst/>
              <a:cxnLst/>
              <a:rect r="r" b="b" t="t" l="l"/>
              <a:pathLst>
                <a:path h="6949440" w="6949440">
                  <a:moveTo>
                    <a:pt x="0" y="3474720"/>
                  </a:moveTo>
                  <a:cubicBezTo>
                    <a:pt x="0" y="1555623"/>
                    <a:pt x="1555623" y="0"/>
                    <a:pt x="3474720" y="0"/>
                  </a:cubicBezTo>
                  <a:cubicBezTo>
                    <a:pt x="5393817" y="0"/>
                    <a:pt x="6949440" y="1555623"/>
                    <a:pt x="6949440" y="3474720"/>
                  </a:cubicBezTo>
                  <a:cubicBezTo>
                    <a:pt x="6949440" y="5393817"/>
                    <a:pt x="5393817" y="6949440"/>
                    <a:pt x="3474720" y="6949440"/>
                  </a:cubicBezTo>
                  <a:cubicBezTo>
                    <a:pt x="1555623" y="6949440"/>
                    <a:pt x="0" y="5393817"/>
                    <a:pt x="0" y="3474720"/>
                  </a:cubicBezTo>
                  <a:close/>
                </a:path>
              </a:pathLst>
            </a:custGeom>
            <a:solidFill>
              <a:srgbClr val="161C4D"/>
            </a:solidFill>
          </p:spPr>
        </p:sp>
      </p:grpSp>
      <p:grpSp>
        <p:nvGrpSpPr>
          <p:cNvPr name="Group 6" id="6"/>
          <p:cNvGrpSpPr/>
          <p:nvPr/>
        </p:nvGrpSpPr>
        <p:grpSpPr>
          <a:xfrm rot="0">
            <a:off x="5645852" y="2074511"/>
            <a:ext cx="6996297" cy="6137979"/>
            <a:chOff x="0" y="0"/>
            <a:chExt cx="9328396" cy="8183972"/>
          </a:xfrm>
        </p:grpSpPr>
        <p:sp>
          <p:nvSpPr>
            <p:cNvPr name="Freeform 7" id="7"/>
            <p:cNvSpPr/>
            <p:nvPr/>
          </p:nvSpPr>
          <p:spPr>
            <a:xfrm flipH="false" flipV="false" rot="0">
              <a:off x="0" y="0"/>
              <a:ext cx="9328396" cy="8183972"/>
            </a:xfrm>
            <a:custGeom>
              <a:avLst/>
              <a:gdLst/>
              <a:ahLst/>
              <a:cxnLst/>
              <a:rect r="r" b="b" t="t" l="l"/>
              <a:pathLst>
                <a:path h="8183972" w="9328396">
                  <a:moveTo>
                    <a:pt x="0" y="0"/>
                  </a:moveTo>
                  <a:lnTo>
                    <a:pt x="9328396" y="0"/>
                  </a:lnTo>
                  <a:lnTo>
                    <a:pt x="9328396" y="8183972"/>
                  </a:lnTo>
                  <a:lnTo>
                    <a:pt x="0" y="8183972"/>
                  </a:lnTo>
                  <a:close/>
                </a:path>
              </a:pathLst>
            </a:custGeom>
            <a:blipFill>
              <a:blip r:embed="rId3">
                <a:alphaModFix amt="0"/>
              </a:blip>
              <a:stretch>
                <a:fillRect l="-7833" t="0" r="32372" b="66480"/>
              </a:stretch>
            </a:blipFill>
          </p:spPr>
        </p:sp>
        <p:sp>
          <p:nvSpPr>
            <p:cNvPr name="TextBox 8" id="8"/>
            <p:cNvSpPr txBox="true"/>
            <p:nvPr/>
          </p:nvSpPr>
          <p:spPr>
            <a:xfrm>
              <a:off x="0" y="-200025"/>
              <a:ext cx="9328396" cy="8383997"/>
            </a:xfrm>
            <a:prstGeom prst="rect">
              <a:avLst/>
            </a:prstGeom>
          </p:spPr>
          <p:txBody>
            <a:bodyPr anchor="ctr" rtlCol="false" tIns="0" lIns="0" bIns="0" rIns="0"/>
            <a:lstStyle/>
            <a:p>
              <a:pPr algn="ctr">
                <a:lnSpc>
                  <a:spcPts val="12052"/>
                </a:lnSpc>
              </a:pPr>
              <a:r>
                <a:rPr lang="en-US" sz="8369">
                  <a:solidFill>
                    <a:srgbClr val="FFFFFF"/>
                  </a:solidFill>
                  <a:latin typeface="Cambria"/>
                  <a:ea typeface="Cambria"/>
                  <a:cs typeface="Cambria"/>
                  <a:sym typeface="Cambria"/>
                </a:rPr>
                <a:t> </a:t>
              </a:r>
              <a:r>
                <a:rPr lang="en-US" sz="8369" u="sng">
                  <a:solidFill>
                    <a:srgbClr val="FFFFFF"/>
                  </a:solidFill>
                  <a:latin typeface="Cambria"/>
                  <a:ea typeface="Cambria"/>
                  <a:cs typeface="Cambria"/>
                  <a:sym typeface="Cambria"/>
                  <a:hlinkClick r:id="rId4" tooltip="https://drive.google.com/file/d/1v5wCf9h858aARdiyNHQZ5LxbKdeelLou/view?usp=sharing"/>
                </a:rPr>
                <a:t>Demo Video</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169" r="0" b="169"/>
          <a:stretch>
            <a:fillRect/>
          </a:stretch>
        </p:blipFill>
        <p:spPr>
          <a:xfrm flipH="false" flipV="false" rot="0">
            <a:off x="450892" y="0"/>
            <a:ext cx="17445316" cy="102870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566160" y="-219456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61C4D"/>
            </a:solidFill>
          </p:spPr>
        </p:sp>
      </p:grpSp>
      <p:grpSp>
        <p:nvGrpSpPr>
          <p:cNvPr name="Group 4" id="4"/>
          <p:cNvGrpSpPr/>
          <p:nvPr/>
        </p:nvGrpSpPr>
        <p:grpSpPr>
          <a:xfrm rot="0">
            <a:off x="-1920240" y="6583680"/>
            <a:ext cx="5212080" cy="5212080"/>
            <a:chOff x="0" y="0"/>
            <a:chExt cx="6949440" cy="6949440"/>
          </a:xfrm>
        </p:grpSpPr>
        <p:sp>
          <p:nvSpPr>
            <p:cNvPr name="Freeform 5" id="5"/>
            <p:cNvSpPr/>
            <p:nvPr/>
          </p:nvSpPr>
          <p:spPr>
            <a:xfrm flipH="false" flipV="false" rot="0">
              <a:off x="0" y="0"/>
              <a:ext cx="6949440" cy="6949440"/>
            </a:xfrm>
            <a:custGeom>
              <a:avLst/>
              <a:gdLst/>
              <a:ahLst/>
              <a:cxnLst/>
              <a:rect r="r" b="b" t="t" l="l"/>
              <a:pathLst>
                <a:path h="6949440" w="6949440">
                  <a:moveTo>
                    <a:pt x="0" y="3474720"/>
                  </a:moveTo>
                  <a:cubicBezTo>
                    <a:pt x="0" y="1555623"/>
                    <a:pt x="1555623" y="0"/>
                    <a:pt x="3474720" y="0"/>
                  </a:cubicBezTo>
                  <a:cubicBezTo>
                    <a:pt x="5393817" y="0"/>
                    <a:pt x="6949440" y="1555623"/>
                    <a:pt x="6949440" y="3474720"/>
                  </a:cubicBezTo>
                  <a:cubicBezTo>
                    <a:pt x="6949440" y="5393817"/>
                    <a:pt x="5393817" y="6949440"/>
                    <a:pt x="3474720" y="6949440"/>
                  </a:cubicBezTo>
                  <a:cubicBezTo>
                    <a:pt x="1555623" y="6949440"/>
                    <a:pt x="0" y="5393817"/>
                    <a:pt x="0" y="3474720"/>
                  </a:cubicBezTo>
                  <a:close/>
                </a:path>
              </a:pathLst>
            </a:custGeom>
            <a:solidFill>
              <a:srgbClr val="161C4D"/>
            </a:solidFill>
          </p:spPr>
        </p:sp>
      </p:grpSp>
      <p:grpSp>
        <p:nvGrpSpPr>
          <p:cNvPr name="Group 6" id="6"/>
          <p:cNvGrpSpPr/>
          <p:nvPr/>
        </p:nvGrpSpPr>
        <p:grpSpPr>
          <a:xfrm rot="0">
            <a:off x="4060048" y="2073229"/>
            <a:ext cx="10167903" cy="6140542"/>
            <a:chOff x="0" y="0"/>
            <a:chExt cx="13557204" cy="8187389"/>
          </a:xfrm>
        </p:grpSpPr>
        <p:sp>
          <p:nvSpPr>
            <p:cNvPr name="Freeform 7" id="7"/>
            <p:cNvSpPr/>
            <p:nvPr/>
          </p:nvSpPr>
          <p:spPr>
            <a:xfrm flipH="false" flipV="false" rot="0">
              <a:off x="0" y="0"/>
              <a:ext cx="13557205" cy="8187389"/>
            </a:xfrm>
            <a:custGeom>
              <a:avLst/>
              <a:gdLst/>
              <a:ahLst/>
              <a:cxnLst/>
              <a:rect r="r" b="b" t="t" l="l"/>
              <a:pathLst>
                <a:path h="8187389" w="13557205">
                  <a:moveTo>
                    <a:pt x="0" y="0"/>
                  </a:moveTo>
                  <a:lnTo>
                    <a:pt x="13557205" y="0"/>
                  </a:lnTo>
                  <a:lnTo>
                    <a:pt x="13557205" y="8187389"/>
                  </a:lnTo>
                  <a:lnTo>
                    <a:pt x="0" y="8187389"/>
                  </a:lnTo>
                  <a:close/>
                </a:path>
              </a:pathLst>
            </a:custGeom>
            <a:blipFill>
              <a:blip r:embed="rId3">
                <a:alphaModFix amt="0"/>
              </a:blip>
              <a:stretch>
                <a:fillRect l="-5389" t="0" r="53467" b="66494"/>
              </a:stretch>
            </a:blipFill>
          </p:spPr>
        </p:sp>
        <p:sp>
          <p:nvSpPr>
            <p:cNvPr name="TextBox 8" id="8"/>
            <p:cNvSpPr txBox="true"/>
            <p:nvPr/>
          </p:nvSpPr>
          <p:spPr>
            <a:xfrm>
              <a:off x="0" y="-200025"/>
              <a:ext cx="13557204" cy="8387414"/>
            </a:xfrm>
            <a:prstGeom prst="rect">
              <a:avLst/>
            </a:prstGeom>
          </p:spPr>
          <p:txBody>
            <a:bodyPr anchor="ctr" rtlCol="false" tIns="0" lIns="0" bIns="0" rIns="0"/>
            <a:lstStyle/>
            <a:p>
              <a:pPr algn="l">
                <a:lnSpc>
                  <a:spcPts val="12059"/>
                </a:lnSpc>
              </a:pPr>
              <a:r>
                <a:rPr lang="en-US" sz="8374">
                  <a:solidFill>
                    <a:srgbClr val="FFFFFF"/>
                  </a:solidFill>
                  <a:latin typeface="Cambria"/>
                  <a:ea typeface="Cambria"/>
                  <a:cs typeface="Cambria"/>
                  <a:sym typeface="Cambria"/>
                </a:rPr>
                <a:t>Queries &amp; Suggestions</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566160" y="-219456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61C4D"/>
            </a:solidFill>
          </p:spPr>
        </p:sp>
      </p:grpSp>
      <p:grpSp>
        <p:nvGrpSpPr>
          <p:cNvPr name="Group 4" id="4"/>
          <p:cNvGrpSpPr/>
          <p:nvPr/>
        </p:nvGrpSpPr>
        <p:grpSpPr>
          <a:xfrm rot="0">
            <a:off x="-1920240" y="6583680"/>
            <a:ext cx="5212080" cy="5212080"/>
            <a:chOff x="0" y="0"/>
            <a:chExt cx="6949440" cy="6949440"/>
          </a:xfrm>
        </p:grpSpPr>
        <p:sp>
          <p:nvSpPr>
            <p:cNvPr name="Freeform 5" id="5"/>
            <p:cNvSpPr/>
            <p:nvPr/>
          </p:nvSpPr>
          <p:spPr>
            <a:xfrm flipH="false" flipV="false" rot="0">
              <a:off x="0" y="0"/>
              <a:ext cx="6949440" cy="6949440"/>
            </a:xfrm>
            <a:custGeom>
              <a:avLst/>
              <a:gdLst/>
              <a:ahLst/>
              <a:cxnLst/>
              <a:rect r="r" b="b" t="t" l="l"/>
              <a:pathLst>
                <a:path h="6949440" w="6949440">
                  <a:moveTo>
                    <a:pt x="0" y="3474720"/>
                  </a:moveTo>
                  <a:cubicBezTo>
                    <a:pt x="0" y="1555623"/>
                    <a:pt x="1555623" y="0"/>
                    <a:pt x="3474720" y="0"/>
                  </a:cubicBezTo>
                  <a:cubicBezTo>
                    <a:pt x="5393817" y="0"/>
                    <a:pt x="6949440" y="1555623"/>
                    <a:pt x="6949440" y="3474720"/>
                  </a:cubicBezTo>
                  <a:cubicBezTo>
                    <a:pt x="6949440" y="5393817"/>
                    <a:pt x="5393817" y="6949440"/>
                    <a:pt x="3474720" y="6949440"/>
                  </a:cubicBezTo>
                  <a:cubicBezTo>
                    <a:pt x="1555623" y="6949440"/>
                    <a:pt x="0" y="5393817"/>
                    <a:pt x="0" y="3474720"/>
                  </a:cubicBezTo>
                  <a:close/>
                </a:path>
              </a:pathLst>
            </a:custGeom>
            <a:solidFill>
              <a:srgbClr val="161C4D"/>
            </a:solidFill>
          </p:spPr>
        </p:sp>
      </p:grpSp>
      <p:grpSp>
        <p:nvGrpSpPr>
          <p:cNvPr name="Group 6" id="6"/>
          <p:cNvGrpSpPr/>
          <p:nvPr/>
        </p:nvGrpSpPr>
        <p:grpSpPr>
          <a:xfrm rot="0">
            <a:off x="6602493" y="2073229"/>
            <a:ext cx="5083014" cy="6140542"/>
            <a:chOff x="0" y="0"/>
            <a:chExt cx="6777352" cy="8187389"/>
          </a:xfrm>
        </p:grpSpPr>
        <p:sp>
          <p:nvSpPr>
            <p:cNvPr name="Freeform 7" id="7"/>
            <p:cNvSpPr/>
            <p:nvPr/>
          </p:nvSpPr>
          <p:spPr>
            <a:xfrm flipH="false" flipV="false" rot="0">
              <a:off x="0" y="0"/>
              <a:ext cx="6777352" cy="8187389"/>
            </a:xfrm>
            <a:custGeom>
              <a:avLst/>
              <a:gdLst/>
              <a:ahLst/>
              <a:cxnLst/>
              <a:rect r="r" b="b" t="t" l="l"/>
              <a:pathLst>
                <a:path h="8187389" w="6777352">
                  <a:moveTo>
                    <a:pt x="0" y="0"/>
                  </a:moveTo>
                  <a:lnTo>
                    <a:pt x="6777352" y="0"/>
                  </a:lnTo>
                  <a:lnTo>
                    <a:pt x="6777352" y="8187389"/>
                  </a:lnTo>
                  <a:lnTo>
                    <a:pt x="0" y="8187389"/>
                  </a:lnTo>
                  <a:close/>
                </a:path>
              </a:pathLst>
            </a:custGeom>
            <a:blipFill>
              <a:blip r:embed="rId3">
                <a:alphaModFix amt="0"/>
              </a:blip>
              <a:stretch>
                <a:fillRect l="-10781" t="0" r="6917" b="66494"/>
              </a:stretch>
            </a:blipFill>
          </p:spPr>
        </p:sp>
        <p:sp>
          <p:nvSpPr>
            <p:cNvPr name="TextBox 8" id="8"/>
            <p:cNvSpPr txBox="true"/>
            <p:nvPr/>
          </p:nvSpPr>
          <p:spPr>
            <a:xfrm>
              <a:off x="0" y="-200025"/>
              <a:ext cx="6777352" cy="8387414"/>
            </a:xfrm>
            <a:prstGeom prst="rect">
              <a:avLst/>
            </a:prstGeom>
          </p:spPr>
          <p:txBody>
            <a:bodyPr anchor="ctr" rtlCol="false" tIns="0" lIns="0" bIns="0" rIns="0"/>
            <a:lstStyle/>
            <a:p>
              <a:pPr algn="l">
                <a:lnSpc>
                  <a:spcPts val="12059"/>
                </a:lnSpc>
              </a:pPr>
              <a:r>
                <a:rPr lang="en-US" sz="8374">
                  <a:solidFill>
                    <a:srgbClr val="FFFFFF"/>
                  </a:solidFill>
                  <a:latin typeface="Cambria"/>
                  <a:ea typeface="Cambria"/>
                  <a:cs typeface="Cambria"/>
                  <a:sym typeface="Cambria"/>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DAHTYg77P8M</dc:identifier>
  <dcterms:modified xsi:type="dcterms:W3CDTF">2011-08-01T06:04:30Z</dcterms:modified>
  <cp:revision>1</cp:revision>
  <dc:title>Unified_Healthcare_First_Review.pptx</dc:title>
</cp:coreProperties>
</file>